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47bfa039334506" /><Relationship Type="http://schemas.openxmlformats.org/officeDocument/2006/relationships/extended-properties" Target="/docProps/app.xml" Id="R29ce35441146412d" /><Relationship Type="http://schemas.openxmlformats.org/officeDocument/2006/relationships/officeDocument" Target="/ppt/presentation.xml" Id="R9ee5296e01034f15" /></Relationships>
</file>

<file path=ppt/presentation.xml><?xml version="1.0" encoding="utf-8"?>
<p:presentation xmlns:p="http://schemas.openxmlformats.org/presentationml/2006/main">
  <p:sldMasterIdLst>
    <p:sldMasterId xmlns:r="http://schemas.openxmlformats.org/officeDocument/2006/relationships" id="2147483648" r:id="R505a1a71c87c4b7a"/>
  </p:sldMasterIdLst>
  <p:notesMasterIdLst>
    <p:notesMasterId xmlns:r="http://schemas.openxmlformats.org/officeDocument/2006/relationships" r:id="R587267ea887147e2"/>
  </p:notesMasterIdLst>
  <p:sldIdLst>
    <p:sldId xmlns:r="http://schemas.openxmlformats.org/officeDocument/2006/relationships" id="256" r:id="R42018f9103314dce"/>
    <p:sldId xmlns:r="http://schemas.openxmlformats.org/officeDocument/2006/relationships" id="257" r:id="R90db902f4a814053"/>
    <p:sldId xmlns:r="http://schemas.openxmlformats.org/officeDocument/2006/relationships" id="258" r:id="Rbb09efee3a1d4160"/>
    <p:sldId xmlns:r="http://schemas.openxmlformats.org/officeDocument/2006/relationships" id="259" r:id="R1dc33510fed8463b"/>
    <p:sldId xmlns:r="http://schemas.openxmlformats.org/officeDocument/2006/relationships" id="260" r:id="R4c4ac12c46634c9e"/>
    <p:sldId xmlns:r="http://schemas.openxmlformats.org/officeDocument/2006/relationships" id="261" r:id="R385655e658804fc5"/>
    <p:sldId xmlns:r="http://schemas.openxmlformats.org/officeDocument/2006/relationships" id="262" r:id="R82f6776a07be4ee1"/>
    <p:sldId xmlns:r="http://schemas.openxmlformats.org/officeDocument/2006/relationships" id="263" r:id="Rfdc7584bdc354de4"/>
    <p:sldId xmlns:r="http://schemas.openxmlformats.org/officeDocument/2006/relationships" id="264" r:id="R198b83d399864de9"/>
    <p:sldId xmlns:r="http://schemas.openxmlformats.org/officeDocument/2006/relationships" id="265" r:id="R05c4ce7c3521419e"/>
    <p:sldId xmlns:r="http://schemas.openxmlformats.org/officeDocument/2006/relationships" id="266" r:id="R572ebf2e5e28495b"/>
    <p:sldId xmlns:r="http://schemas.openxmlformats.org/officeDocument/2006/relationships" id="267" r:id="R9f270cf560fd41f8"/>
    <p:sldId xmlns:r="http://schemas.openxmlformats.org/officeDocument/2006/relationships" id="268" r:id="R60421e3206c24d56"/>
    <p:sldId xmlns:r="http://schemas.openxmlformats.org/officeDocument/2006/relationships" id="269" r:id="R71f7ac2c167f40db"/>
    <p:sldId xmlns:r="http://schemas.openxmlformats.org/officeDocument/2006/relationships" id="270" r:id="R4f02313d5b7643c0"/>
    <p:sldId xmlns:r="http://schemas.openxmlformats.org/officeDocument/2006/relationships" id="271" r:id="Rb89fa6e76c1944d9"/>
    <p:sldId xmlns:r="http://schemas.openxmlformats.org/officeDocument/2006/relationships" id="272" r:id="R4bce0b9c0f1f44eb"/>
    <p:sldId xmlns:r="http://schemas.openxmlformats.org/officeDocument/2006/relationships" id="273" r:id="R08ac522529e545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24bc4d639848dc" /><Relationship Type="http://schemas.openxmlformats.org/officeDocument/2006/relationships/slideMaster" Target="/ppt/slideMasters/slideMaster1.xml" Id="R505a1a71c87c4b7a" /><Relationship Type="http://schemas.openxmlformats.org/officeDocument/2006/relationships/notesMaster" Target="/ppt/notesMasters/notesMaster1.xml" Id="R587267ea887147e2" /><Relationship Type="http://schemas.openxmlformats.org/officeDocument/2006/relationships/presProps" Target="/ppt/presProps.xml" Id="Rced7a1fcc0d64774" /><Relationship Type="http://schemas.openxmlformats.org/officeDocument/2006/relationships/tableStyles" Target="/ppt/tableStyles.xml" Id="R9d25f8ba6ef04921" /><Relationship Type="http://schemas.openxmlformats.org/officeDocument/2006/relationships/slide" Target="/ppt/slides/slide1.xml" Id="R42018f9103314dce" /><Relationship Type="http://schemas.openxmlformats.org/officeDocument/2006/relationships/slide" Target="/ppt/slides/slide2.xml" Id="R90db902f4a814053" /><Relationship Type="http://schemas.openxmlformats.org/officeDocument/2006/relationships/slide" Target="/ppt/slides/slide3.xml" Id="Rbb09efee3a1d4160" /><Relationship Type="http://schemas.openxmlformats.org/officeDocument/2006/relationships/slide" Target="/ppt/slides/slide4.xml" Id="R1dc33510fed8463b" /><Relationship Type="http://schemas.openxmlformats.org/officeDocument/2006/relationships/slide" Target="/ppt/slides/slide5.xml" Id="R4c4ac12c46634c9e" /><Relationship Type="http://schemas.openxmlformats.org/officeDocument/2006/relationships/slide" Target="/ppt/slides/slide6.xml" Id="R385655e658804fc5" /><Relationship Type="http://schemas.openxmlformats.org/officeDocument/2006/relationships/slide" Target="/ppt/slides/slide7.xml" Id="R82f6776a07be4ee1" /><Relationship Type="http://schemas.openxmlformats.org/officeDocument/2006/relationships/slide" Target="/ppt/slides/slide8.xml" Id="Rfdc7584bdc354de4" /><Relationship Type="http://schemas.openxmlformats.org/officeDocument/2006/relationships/slide" Target="/ppt/slides/slide9.xml" Id="R198b83d399864de9" /><Relationship Type="http://schemas.openxmlformats.org/officeDocument/2006/relationships/slide" Target="/ppt/slides/slide10.xml" Id="R05c4ce7c3521419e" /><Relationship Type="http://schemas.openxmlformats.org/officeDocument/2006/relationships/slide" Target="/ppt/slides/slide11.xml" Id="R572ebf2e5e28495b" /><Relationship Type="http://schemas.openxmlformats.org/officeDocument/2006/relationships/slide" Target="/ppt/slides/slide12.xml" Id="R9f270cf560fd41f8" /><Relationship Type="http://schemas.openxmlformats.org/officeDocument/2006/relationships/slide" Target="/ppt/slides/slide13.xml" Id="R60421e3206c24d56" /><Relationship Type="http://schemas.openxmlformats.org/officeDocument/2006/relationships/slide" Target="/ppt/slides/slide14.xml" Id="R71f7ac2c167f40db" /><Relationship Type="http://schemas.openxmlformats.org/officeDocument/2006/relationships/slide" Target="/ppt/slides/slide15.xml" Id="R4f02313d5b7643c0" /><Relationship Type="http://schemas.openxmlformats.org/officeDocument/2006/relationships/slide" Target="/ppt/slides/slide16.xml" Id="Rb89fa6e76c1944d9" /><Relationship Type="http://schemas.openxmlformats.org/officeDocument/2006/relationships/slide" Target="/ppt/slides/slide17.xml" Id="R4bce0b9c0f1f44eb" /><Relationship Type="http://schemas.openxmlformats.org/officeDocument/2006/relationships/slide" Target="/ppt/slides/slide18.xml" Id="R08ac522529e545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14a414b07e40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7d1cb2dbfe45ec" /><Relationship Type="http://schemas.openxmlformats.org/officeDocument/2006/relationships/notesMaster" Target="/ppt/notesMasters/notesMaster1.xml" Id="Rcb2e9094b2c748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10cdb453a94fe8" /><Relationship Type="http://schemas.openxmlformats.org/officeDocument/2006/relationships/notesMaster" Target="/ppt/notesMasters/notesMaster1.xml" Id="R2d28c34f841844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fbb1d001e94b9a" /><Relationship Type="http://schemas.openxmlformats.org/officeDocument/2006/relationships/notesMaster" Target="/ppt/notesMasters/notesMaster1.xml" Id="Rc0cb1f7355f741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ab531a80da448c" /><Relationship Type="http://schemas.openxmlformats.org/officeDocument/2006/relationships/notesMaster" Target="/ppt/notesMasters/notesMaster1.xml" Id="Rfa7443b485174b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12b5c4062b4bd5" /><Relationship Type="http://schemas.openxmlformats.org/officeDocument/2006/relationships/notesMaster" Target="/ppt/notesMasters/notesMaster1.xml" Id="R13e8d1e8066e4e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97d0bda7354ba9" /><Relationship Type="http://schemas.openxmlformats.org/officeDocument/2006/relationships/notesMaster" Target="/ppt/notesMasters/notesMaster1.xml" Id="R5d095073602a45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eee76c2f8540bd" /><Relationship Type="http://schemas.openxmlformats.org/officeDocument/2006/relationships/notesMaster" Target="/ppt/notesMasters/notesMaster1.xml" Id="Rdd166636f16b4b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1e20305f3e4bfd" /><Relationship Type="http://schemas.openxmlformats.org/officeDocument/2006/relationships/notesMaster" Target="/ppt/notesMasters/notesMaster1.xml" Id="R77d561e6771c4d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2127ae4f1a412a" /><Relationship Type="http://schemas.openxmlformats.org/officeDocument/2006/relationships/notesMaster" Target="/ppt/notesMasters/notesMaster1.xml" Id="R080d7c96b3114b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08d10e5b344c21" /><Relationship Type="http://schemas.openxmlformats.org/officeDocument/2006/relationships/notesMaster" Target="/ppt/notesMasters/notesMaster1.xml" Id="R32520d7fddd242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5428258f0a4930" /><Relationship Type="http://schemas.openxmlformats.org/officeDocument/2006/relationships/notesMaster" Target="/ppt/notesMasters/notesMaster1.xml" Id="R54ce0ba3bdb849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f3202e883a421e" /><Relationship Type="http://schemas.openxmlformats.org/officeDocument/2006/relationships/notesMaster" Target="/ppt/notesMasters/notesMaster1.xml" Id="R0edb96f06db44d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b676e57b8343ad" /><Relationship Type="http://schemas.openxmlformats.org/officeDocument/2006/relationships/notesMaster" Target="/ppt/notesMasters/notesMaster1.xml" Id="R2fbbaaf2886940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fea61f06cf412e" /><Relationship Type="http://schemas.openxmlformats.org/officeDocument/2006/relationships/notesMaster" Target="/ppt/notesMasters/notesMaster1.xml" Id="R26a3f636705646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eedfb8d0d44acd" /><Relationship Type="http://schemas.openxmlformats.org/officeDocument/2006/relationships/notesMaster" Target="/ppt/notesMasters/notesMaster1.xml" Id="Rf3c4f5d1cfd843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87df9ac67174c2e" /><Relationship Type="http://schemas.openxmlformats.org/officeDocument/2006/relationships/notesMaster" Target="/ppt/notesMasters/notesMaster1.xml" Id="R5fd34e8573484bd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2d70fa69194d2b" /><Relationship Type="http://schemas.openxmlformats.org/officeDocument/2006/relationships/notesMaster" Target="/ppt/notesMasters/notesMaster1.xml" Id="R3cf47db1132948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0fc13275684b49" /><Relationship Type="http://schemas.openxmlformats.org/officeDocument/2006/relationships/notesMaster" Target="/ppt/notesMasters/notesMaster1.xml" Id="Reef4e225e24d48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20 seconds.</a:t>
            </a:r>
          </a:p>
          <a:p xmlns:a="http://schemas.openxmlformats.org/drawingml/2006/main">
            <a:r>
              <a:t/>
            </a:r>
          </a:p>
          <a:p xmlns:a="http://schemas.openxmlformats.org/drawingml/2006/main">
            <a:r>
              <a:t>Our project studies hyperparameter optimization over a fixed PI Agent harness. We compare a two-stage multi-fidelity method with Default, Random search and Bayesian optimization. This pilot did not produce a held-out performance gain; we explain the method, evidence and lessons.</a:t>
            </a:r>
          </a:p>
          <a:p xmlns:a="http://schemas.openxmlformats.org/drawingml/2006/main">
            <a:r>
              <a:t/>
            </a:r>
          </a:p>
          <a:p xmlns:a="http://schemas.openxmlformats.org/drawingml/2006/main">
            <a:r>
              <a:t>Evidence: real_study/final_test_summary.json.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35 seconds.</a:t>
            </a:r>
          </a:p>
          <a:p xmlns:a="http://schemas.openxmlformats.org/drawingml/2006/main">
            <a:r>
              <a:t/>
            </a:r>
          </a:p>
          <a:p xmlns:a="http://schemas.openxmlformats.org/drawingml/2006/main">
            <a:r>
              <a:t>The project treats harness improvement as configuration search. Our question is whether a small supported parameter surface improves success within a declared budget, and whether that improvement survives held-out testing. We separate the one-time search expense from the runtime cost of using the selected configuration. The contribution is a complete empirical workflow, including a student-developed multi-fidelity allocation strategy. The experiment is deliberately small, and we evaluate the claim with verifier outcomes rather than subjective output quality.</a:t>
            </a:r>
          </a:p>
          <a:p xmlns:a="http://schemas.openxmlformats.org/drawingml/2006/main">
            <a:r>
              <a:t/>
            </a:r>
          </a:p>
          <a:p xmlns:a="http://schemas.openxmlformats.org/drawingml/2006/main">
            <a:r>
              <a:t>Evidence: real_study/report_draft/PE6203_Harness_HPO_Report_Draft.docx.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40 seconds.</a:t>
            </a:r>
          </a:p>
          <a:p xmlns:a="http://schemas.openxmlformats.org/drawingml/2006/main">
            <a:r>
              <a:t/>
            </a:r>
          </a:p>
          <a:p xmlns:a="http://schemas.openxmlformats.org/drawingml/2006/main">
            <a:r>
              <a:t>The fixed stack is PI 0.81.0 with pi-acp 0.0.34, BenchFlow 0.6.3 and Qwen3 Coder through OpenRouter. Runs use Docker, no skills, a single-shot loop and concurrency one. Validation uses financial modeling, JAX and travel planning; testing uses Scala translation, reserves at risk and Three.js parsing. Commit and task-definition fingerprints are recorded. Four methods on the same three test tasks produce twelve primary slots, not twelve independent questions. The small split is a major limitation.</a:t>
            </a:r>
          </a:p>
          <a:p xmlns:a="http://schemas.openxmlformats.org/drawingml/2006/main">
            <a:r>
              <a:t/>
            </a:r>
          </a:p>
          <a:p xmlns:a="http://schemas.openxmlformats.org/drawingml/2006/main">
            <a:r>
              <a:t>Evidence: real_study/protocol.json; final_test_protocol.json.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40 seconds.</a:t>
            </a:r>
          </a:p>
          <a:p xmlns:a="http://schemas.openxmlformats.org/drawingml/2006/main">
            <a:r>
              <a:t/>
            </a:r>
          </a:p>
          <a:p xmlns:a="http://schemas.openxmlformats.org/drawingml/2006/main">
            <a:r>
              <a:t>The configuration space has three contextWindow values and three maxTokens values. These are passed through BenchFlow provider-model metadata to PI. Context controls the configured context budget and maxTokens the generation limit; this is not a claim about the model vendor’s maximum capability. Only candidates with three valid validation outcomes are eligible. Selection ranks strict passes, then mean official reward, then lower observed candidate cost, then candidate index. Default passes no overrides. Keeping the eligibility rule matters because a Random candidate with one success has another missing result.</a:t>
            </a:r>
          </a:p>
          <a:p xmlns:a="http://schemas.openxmlformats.org/drawingml/2006/main">
            <a:r>
              <a:t/>
            </a:r>
          </a:p>
          <a:p xmlns:a="http://schemas.openxmlformats.org/drawingml/2006/main">
            <a:r>
              <a:t>Evidence: real_study/run_search.py; protocol.json.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40 seconds.</a:t>
            </a:r>
          </a:p>
          <a:p xmlns:a="http://schemas.openxmlformats.org/drawingml/2006/main">
            <a:r>
              <a:t/>
            </a:r>
          </a:p>
          <a:p xmlns:a="http://schemas.openxmlformats.org/drawingml/2006/main">
            <a:r>
              <a:t>Default is untuned. Random samples three unique configurations and evaluates three tasks each. Bayesian uses standard Optuna TPE with one startup trial and three candidate records; duplicates are allowed and all three records happen to be identical here. Our method allocates five screening tasks and four continuations. Actual search launches differ because Random and multi-fidelity each used one additional recovery attempt. Equal budget ceilings do not require equal actual spending, but asymmetric extra opportunities are a fairness limitation. We disclose them instead of claiming completely equal realized attempts.</a:t>
            </a:r>
          </a:p>
          <a:p xmlns:a="http://schemas.openxmlformats.org/drawingml/2006/main">
            <a:r>
              <a:t/>
            </a:r>
          </a:p>
          <a:p xmlns:a="http://schemas.openxmlformats.org/drawingml/2006/main">
            <a:r>
              <a:t>Evidence: real_study/run_search.py; final_test_summary.json.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60 seconds.</a:t>
            </a:r>
          </a:p>
          <a:p xmlns:a="http://schemas.openxmlformats.org/drawingml/2006/main">
            <a:r>
              <a:t/>
            </a:r>
          </a:p>
          <a:p xmlns:a="http://schemas.openxmlformats.org/drawingml/2006/main">
            <a:r>
              <a:t>The developed method samples five unique configurations and tests each on financial-modeling-qa. It promotes two using the declared ranking and evaluates JAX and travel only for those two, reusing the screen. That is five plus four slots. In this run candidates one and zero are promoted, and zero is eventually selected because candidate one has a missing continuation outcome. All five screens score zero, so the screening signal cannot separate success and promotion depends on tie-breaking. This explains why the method’s intended allocation efficiency is not enough to establish performance or cost improvement.</a:t>
            </a:r>
          </a:p>
          <a:p xmlns:a="http://schemas.openxmlformats.org/drawingml/2006/main">
            <a:r>
              <a:t/>
            </a:r>
          </a:p>
          <a:p xmlns:a="http://schemas.openxmlformats.org/drawingml/2006/main">
            <a:r>
              <a:t>Evidence: real_study/multifidelity_state.json; run_search.py.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35 seconds.</a:t>
            </a:r>
          </a:p>
          <a:p xmlns:a="http://schemas.openxmlformats.org/drawingml/2006/main">
            <a:r>
              <a:t/>
            </a:r>
          </a:p>
          <a:p xmlns:a="http://schemas.openxmlformats.org/drawingml/2006/main">
            <a:r>
              <a:t>The implementation is Python orchestration around the fixed BenchFlow and PI runtime. Configuration generation creates candidate records. The launcher persists a slot before a subprocess, runs the harness and retains the official raw verifier result. Dedicated-key usage snapshots are used for costs because token telemetry may be unavailable. Source task hashes and frozen selection hashes stop unnoticed changes. Missing outcomes, scored zeros and billing-pending states remain distinct. Installation hardening changed bounded download retries and checks, not the agent loop, but was introduced during validation and is disclosed.</a:t>
            </a:r>
          </a:p>
          <a:p xmlns:a="http://schemas.openxmlformats.org/drawingml/2006/main">
            <a:r>
              <a:t/>
            </a:r>
          </a:p>
          <a:p xmlns:a="http://schemas.openxmlformats.org/drawingml/2006/main">
            <a:r>
              <a:t>Evidence: real_study/run_search.py; run_test.py; bench_hardened.py.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60 seconds.</a:t>
            </a:r>
          </a:p>
          <a:p xmlns:a="http://schemas.openxmlformats.org/drawingml/2006/main">
            <a:r>
              <a:t/>
            </a:r>
          </a:p>
          <a:p xmlns:a="http://schemas.openxmlformats.org/drawingml/2006/main">
            <a:r>
              <a:t>The curve is plotted against cumulative observed search cost, with straight step segments. Bayesian obtains one success out of three at about ten cents, then retains it. Random’s eligible candidates remain at zero; its other candidate has a success but is incomplete, so it cannot be the incumbent. Multi-fidelity only completes an eligible candidate at the final slot; its incumbent is a single point at zero. Therefore the graph provides little evidence about early convergence for that method. Default has no search curve because it is untuned. The right-side selected settings explain the final evaluation.</a:t>
            </a:r>
          </a:p>
          <a:p xmlns:a="http://schemas.openxmlformats.org/drawingml/2006/main">
            <a:r>
              <a:t/>
            </a:r>
          </a:p>
          <a:p xmlns:a="http://schemas.openxmlformats.org/drawingml/2006/main">
            <a:r>
              <a:t>Evidence: real_study/validation_summary.py; final_test_summary.json.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50 seconds.</a:t>
            </a:r>
          </a:p>
          <a:p xmlns:a="http://schemas.openxmlformats.org/drawingml/2006/main">
            <a:r>
              <a:t/>
            </a:r>
          </a:p>
          <a:p xmlns:a="http://schemas.openxmlformats.org/drawingml/2006/main">
            <a:r>
              <a:t>The original final test has ten valid zeros and two missing outcomes. An explicitly recorded later amendment permits one supplementary Scala launch each for the two missing Default and Bayesian slots. Both supplements finish with official zero and settled costs. We preserve the original results and separately present supplemented estimates. Every method has zero successes out of three after supplementation. Bayesian’s gap is minus thirty-three point three percentage points from the selected validation candidate. Default’s historical validation baseline also has one success, but predates the later installation wrapper, another comparison caveat.</a:t>
            </a:r>
          </a:p>
          <a:p xmlns:a="http://schemas.openxmlformats.org/drawingml/2006/main">
            <a:r>
              <a:t/>
            </a:r>
          </a:p>
          <a:p xmlns:a="http://schemas.openxmlformats.org/drawingml/2006/main">
            <a:r>
              <a:t>Evidence: real_study/final_test_summary.json; supplementary_test/amendment.json.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45 seconds.</a:t>
            </a:r>
          </a:p>
          <a:p xmlns:a="http://schemas.openxmlformats.org/drawingml/2006/main">
            <a:r>
              <a:t/>
            </a:r>
          </a:p>
          <a:p xmlns:a="http://schemas.openxmlformats.org/drawingml/2006/main">
            <a:r>
              <a:t>The stacked chart separates one-time search from primary plus supplementary test execution. Search costs are approximately 0.2043 dollars for Random, 0.1416 for Bayesian and 0.3058 for multi-fidelity. Multi-fidelity is the most expensive here, affected by one costly screen. Total search plus test and supplement accounting is 0.991319 dollars. The old Default validation baseline is 0.14043120 dollars and excluded from that scope, as are probes and preparation. A stable usage difference is not a hard provider billing guarantee. With no solved test tasks, cost per solved task and an amortization break-even claim are unsupported.</a:t>
            </a:r>
          </a:p>
          <a:p xmlns:a="http://schemas.openxmlformats.org/drawingml/2006/main">
            <a:r>
              <a:t/>
            </a:r>
          </a:p>
          <a:p xmlns:a="http://schemas.openxmlformats.org/drawingml/2006/main">
            <a:r>
              <a:t>Evidence: real_study/final_test_summary.json.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50 seconds.</a:t>
            </a:r>
          </a:p>
          <a:p xmlns:a="http://schemas.openxmlformats.org/drawingml/2006/main">
            <a:r>
              <a:t/>
            </a:r>
          </a:p>
          <a:p xmlns:a="http://schemas.openxmlformats.org/drawingml/2006/main">
            <a:r>
              <a:t>We retain the report’s exploratory sensitivity analysis rather than imply that a full ablation was performed. It uses twenty-five scored records and six matched comparisons. Increasing maxTokens from 4096 to 8192 at context 128k has the largest observed cost contrast, but the larger setting has only one run and no financial-task success. Larger context coincides with successes on JAX and travel, with unequal repeats and method/order confounding. The two large financial contrasts share one expensive run. We can report these observations, but cannot rank causal importance or estimate harmful interaction.</a:t>
            </a:r>
          </a:p>
          <a:p xmlns:a="http://schemas.openxmlformats.org/drawingml/2006/main">
            <a:r>
              <a:t/>
            </a:r>
          </a:p>
          <a:p xmlns:a="http://schemas.openxmlformats.org/drawingml/2006/main">
            <a:r>
              <a:t>Evidence: real_study/parameter_sensitivity.json.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65 seconds.</a:t>
            </a:r>
          </a:p>
          <a:p xmlns:a="http://schemas.openxmlformats.org/drawingml/2006/main">
            <a:r>
              <a:t/>
            </a:r>
          </a:p>
          <a:p xmlns:a="http://schemas.openxmlformats.org/drawingml/2006/main">
            <a:r>
              <a:t>The report contains both requested directional examples on validation. Default fails JAX while selected Bayesian succeeds; Default succeeds travel while the selected Bayesian candidate fails. These are real historical baseline records, not synthetic demo data. Raw baseline Linux jobs have not been re-read, so we do not invent their behavioral causes. The held-out logs are available and show concrete faults: required Excel formulas are missing; Three.js instance structures or vertices are missing; Scala has source or test-compilation failures. For both supplements, source compilation succeeds but test compilation fails with twenty-one symbol-resolution errors. These problems explain valid zeros without equating heuristic quality scores with task success.</a:t>
            </a:r>
          </a:p>
          <a:p xmlns:a="http://schemas.openxmlformats.org/drawingml/2006/main">
            <a:r>
              <a:t/>
            </a:r>
          </a:p>
          <a:p xmlns:a="http://schemas.openxmlformats.org/drawingml/2006/main">
            <a:r>
              <a:t>Evidence: real_study/validation_default_summary.json; final_test_failure_analysis.md.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35 seconds.</a:t>
            </a:r>
          </a:p>
          <a:p xmlns:a="http://schemas.openxmlformats.org/drawingml/2006/main">
            <a:r>
              <a:t/>
            </a:r>
          </a:p>
          <a:p xmlns:a="http://schemas.openxmlformats.org/drawingml/2006/main">
            <a:r>
              <a:t>Three threats are especially important. First, only three test tasks and sparse independent repetitions limit generalization. Second, the methods share declared caps, but two have extra recovery launches; observed cost differences alone are not the fairness issue. Third, failure-handling rules, installation hardening and the supplements were amended during the study. We preserve provenance and distinguish main from supplemental results. The Default/Bayesian validation reversals are descriptive, and sensitivity cannot identify causal effects. These are remaining evidence limitations, not issues that can be fixed by relabeling a chart.</a:t>
            </a:r>
          </a:p>
          <a:p xmlns:a="http://schemas.openxmlformats.org/drawingml/2006/main">
            <a:r>
              <a:t/>
            </a:r>
          </a:p>
          <a:p xmlns:a="http://schemas.openxmlformats.org/drawingml/2006/main">
            <a:r>
              <a:t>Evidence: real_study/report_draft/PE6203_Harness_HPO_Report_Draft.docx.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25 seconds.</a:t>
            </a:r>
          </a:p>
          <a:p xmlns:a="http://schemas.openxmlformats.org/drawingml/2006/main">
            <a:r>
              <a:t/>
            </a:r>
          </a:p>
          <a:p xmlns:a="http://schemas.openxmlformats.org/drawingml/2006/main">
            <a:r>
              <a:t>We implemented a two-stage method and compared it with all three required references. No held-out improvement was observed. Screening quality matters because every candidate failed the proxy task. Future work should predeclare recovery rules and use repeated balanced validation to estimate parameter effects. The value of this pilot is a reproducible, cost-accounted record of what worked operationally and what did not improve task success.</a:t>
            </a:r>
          </a:p>
          <a:p xmlns:a="http://schemas.openxmlformats.org/drawingml/2006/main">
            <a:r>
              <a:t/>
            </a:r>
          </a:p>
          <a:p xmlns:a="http://schemas.openxmlformats.org/drawingml/2006/main">
            <a:r>
              <a:t>Evidence: real_study/final_test_summary.json; final_test_failure_analysis.md.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5-minute Q&amp;A; outside the main talk.</a:t>
            </a:r>
          </a:p>
          <a:p xmlns:a="http://schemas.openxmlformats.org/drawingml/2006/main">
            <a:r>
              <a:t/>
            </a:r>
          </a:p>
          <a:p xmlns:a="http://schemas.openxmlformats.org/drawingml/2006/main">
            <a:r>
              <a:t>Discuss the evidence limitations directly. A zero result is still reportable when verification and execution are auditable. The supplements were declared after observing two unscored failures, not used to retry scored zeros. The sensitivity results are exploratory due to time and replication limits. No optimizer superiority is claimed.</a:t>
            </a:r>
          </a:p>
          <a:p xmlns:a="http://schemas.openxmlformats.org/drawingml/2006/main">
            <a:r>
              <a:t/>
            </a:r>
          </a:p>
          <a:p xmlns:a="http://schemas.openxmlformats.org/drawingml/2006/main">
            <a:r>
              <a:t>Evidence: real_study/report_draft/PE6203_Harness_HPO_Report_Draft.docx.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5-minute Q&amp;A; outside the main talk.</a:t>
            </a:r>
          </a:p>
          <a:p xmlns:a="http://schemas.openxmlformats.org/drawingml/2006/main">
            <a:r>
              <a:t/>
            </a:r>
          </a:p>
          <a:p xmlns:a="http://schemas.openxmlformats.org/drawingml/2006/main">
            <a:r>
              <a:t>The Random candidate with one success is ineligible because another task is missing. TPE selected candidate one despite proposing the same configuration in all three records. Multi-fidelity candidates two to four were screened but not continued, not counted as failures on unobserved tasks. Candidate one was promoted but missing a continuation; candidate zero was selected.</a:t>
            </a:r>
          </a:p>
          <a:p xmlns:a="http://schemas.openxmlformats.org/drawingml/2006/main">
            <a:r>
              <a:t/>
            </a:r>
          </a:p>
          <a:p xmlns:a="http://schemas.openxmlformats.org/drawingml/2006/main">
            <a:r>
              <a:t>Evidence: real_study/final_test_summary.json.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5-minute Q&amp;A; outside the main talk.</a:t>
            </a:r>
          </a:p>
          <a:p xmlns:a="http://schemas.openxmlformats.org/drawingml/2006/main">
            <a:r>
              <a:t/>
            </a:r>
          </a:p>
          <a:p xmlns:a="http://schemas.openxmlformats.org/drawingml/2006/main">
            <a:r>
              <a:t>Each pair compares the same task at a fixed other parameter. Two financial contrasts share the single expensive context128k/maxTokens8192 run. These rows should not be interpreted as independent repeated evidence of an interaction. No new factorial experiment was performed.</a:t>
            </a:r>
          </a:p>
          <a:p xmlns:a="http://schemas.openxmlformats.org/drawingml/2006/main">
            <a:r>
              <a:t/>
            </a:r>
          </a:p>
          <a:p xmlns:a="http://schemas.openxmlformats.org/drawingml/2006/main">
            <a:r>
              <a:t>Evidence: real_study/parameter_sensitivity.json.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5-minute Q&amp;A; outside the main talk.</a:t>
            </a:r>
          </a:p>
          <a:p xmlns:a="http://schemas.openxmlformats.org/drawingml/2006/main">
            <a:r>
              <a:t/>
            </a:r>
          </a:p>
          <a:p xmlns:a="http://schemas.openxmlformats.org/drawingml/2006/main">
            <a:r>
              <a:t>The original twelve slots remain ten valid zeros and two missing outcomes. The supplementary amendment freezes original hashes and allows Default and Bayesian one extra Scala launch each without parameter or time-limit changes. Both score zero. Primary test accounting is 0.31901342 dollars and additional accounting is 0.02054630. Hash-checked archives and indexed verifier output support the final result. The earlier Default baseline adds separate cost but not optimizer-search expenditure. No synthetic demo artifacts are used as course evidence.</a:t>
            </a:r>
          </a:p>
          <a:p xmlns:a="http://schemas.openxmlformats.org/drawingml/2006/main">
            <a:r>
              <a:t/>
            </a:r>
          </a:p>
          <a:p xmlns:a="http://schemas.openxmlformats.org/drawingml/2006/main">
            <a:r>
              <a:t>Evidence: real_study/supplementary_test/amendment.json; final_test_evidence/supplementary_manifest.json. Figures are project-local observations; no synthetic demo data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f9146c3ba64d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b7b12c46f742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747d89116442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6bc3cb39cd46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7f3c8c133df4a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49063983dc41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97A7B8-75D4-45D9-9F8F-3D41DF5884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F9CD16-453A-4595-83FB-25002CAF45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8615F94-928E-47EB-B642-7E3AD1EDAE2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A79584-A3D7-460F-9D66-F252860933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0A2E2B7-33E3-4607-8229-61015754C3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8B3BF9-8A03-4479-B4E3-B33F6A0BF2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9DF587-DCE3-42CD-A4F4-28DCE02286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600ADC-7182-44D9-99A0-2F1392CD26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B8925B-5DE6-4DC7-A283-8F71858D63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77341D-10B5-46B6-9731-964D7E10E2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520aecfc9a4881" /><Relationship Type="http://schemas.openxmlformats.org/officeDocument/2006/relationships/slideLayout" Target="/ppt/slideLayouts/slideLayout1.xml" Id="R08b2abab804848c5" /><Relationship Type="http://schemas.openxmlformats.org/officeDocument/2006/relationships/slideLayout" Target="/ppt/slideLayouts/slideLayout2.xml" Id="Raf69f9c916244161" /><Relationship Type="http://schemas.openxmlformats.org/officeDocument/2006/relationships/slideLayout" Target="/ppt/slideLayouts/slideLayout3.xml" Id="Rcaec4f8489a3435e" /><Relationship Type="http://schemas.openxmlformats.org/officeDocument/2006/relationships/slideLayout" Target="/ppt/slideLayouts/slideLayout4.xml" Id="R744f6df535014760" /><Relationship Type="http://schemas.openxmlformats.org/officeDocument/2006/relationships/slideLayout" Target="/ppt/slideLayouts/slideLayout5.xml" Id="R747cd8fd942d4026" /><Relationship Type="http://schemas.openxmlformats.org/officeDocument/2006/relationships/slideLayout" Target="/ppt/slideLayouts/slideLayout6.xml" Id="R35474f27781a4d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b2abab804848c5"/>
    <p:sldLayoutId xmlns:r="http://schemas.openxmlformats.org/officeDocument/2006/relationships" id="2147483650" r:id="Raf69f9c916244161"/>
    <p:sldLayoutId xmlns:r="http://schemas.openxmlformats.org/officeDocument/2006/relationships" id="2147483651" r:id="Rcaec4f8489a3435e"/>
    <p:sldLayoutId xmlns:r="http://schemas.openxmlformats.org/officeDocument/2006/relationships" id="2147483652" r:id="R744f6df535014760"/>
    <p:sldLayoutId xmlns:r="http://schemas.openxmlformats.org/officeDocument/2006/relationships" id="2147483653" r:id="R747cd8fd942d4026"/>
    <p:sldLayoutId xmlns:r="http://schemas.openxmlformats.org/officeDocument/2006/relationships" id="2147483654" r:id="R35474f27781a4d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c1d9c311c3d4f60" /><Relationship Type="http://schemas.openxmlformats.org/officeDocument/2006/relationships/notesSlide" Target="/ppt/notesSlides/notesSlide1.xml" Id="R6efbc91cac5849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6b88406faa94c76" /><Relationship Type="http://schemas.openxmlformats.org/officeDocument/2006/relationships/notesSlide" Target="/ppt/notesSlides/notesSlide2.xml" Id="R5b69a90c641545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16682c8ea4d4bfb" /><Relationship Type="http://schemas.openxmlformats.org/officeDocument/2006/relationships/notesSlide" Target="/ppt/notesSlides/notesSlide3.xml" Id="Rb30e1e2ed9c845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39030c6a9f47aa" /><Relationship Type="http://schemas.openxmlformats.org/officeDocument/2006/relationships/notesSlide" Target="/ppt/notesSlides/notesSlide4.xml" Id="Ree045be2996e46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6701c322ea4ea5" /><Relationship Type="http://schemas.openxmlformats.org/officeDocument/2006/relationships/notesSlide" Target="/ppt/notesSlides/notesSlide5.xml" Id="Rfbaf330aabe742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eb350d919ab46c6" /><Relationship Type="http://schemas.openxmlformats.org/officeDocument/2006/relationships/notesSlide" Target="/ppt/notesSlides/notesSlide6.xml" Id="R2c8753f7c8904e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7718f8dedc4937" /><Relationship Type="http://schemas.openxmlformats.org/officeDocument/2006/relationships/notesSlide" Target="/ppt/notesSlides/notesSlide7.xml" Id="R725ac451c6f94b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d3460122d874fa0" /><Relationship Type="http://schemas.openxmlformats.org/officeDocument/2006/relationships/chart" Target="/ppt/slides/charts/chart1.xml" Id="R60eeb91d016e479c" /><Relationship Type="http://schemas.openxmlformats.org/officeDocument/2006/relationships/notesSlide" Target="/ppt/notesSlides/notesSlide8.xml" Id="Re34a02afe97f4d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00c59ff466c4a0f" /><Relationship Type="http://schemas.openxmlformats.org/officeDocument/2006/relationships/notesSlide" Target="/ppt/notesSlides/notesSlide9.xml" Id="R1013a3e07d444b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34e6392fa5244fd" /><Relationship Type="http://schemas.openxmlformats.org/officeDocument/2006/relationships/chart" Target="/ppt/slides/charts/chart2.xml" Id="Ra62608aeb363484f" /><Relationship Type="http://schemas.openxmlformats.org/officeDocument/2006/relationships/notesSlide" Target="/ppt/notesSlides/notesSlide10.xml" Id="R8bde92f536e341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d9f06e87bd1446e" /><Relationship Type="http://schemas.openxmlformats.org/officeDocument/2006/relationships/notesSlide" Target="/ppt/notesSlides/notesSlide11.xml" Id="R1cf877bd54094c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acdbca011ed44c0" /><Relationship Type="http://schemas.openxmlformats.org/officeDocument/2006/relationships/notesSlide" Target="/ppt/notesSlides/notesSlide12.xml" Id="R184644e77b674a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665dea11c454807" /><Relationship Type="http://schemas.openxmlformats.org/officeDocument/2006/relationships/notesSlide" Target="/ppt/notesSlides/notesSlide13.xml" Id="R4b3c93d7f1234b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63ead19b20549a2" /><Relationship Type="http://schemas.openxmlformats.org/officeDocument/2006/relationships/notesSlide" Target="/ppt/notesSlides/notesSlide14.xml" Id="R9494d2adf09a40b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3a5385075fb4245" /><Relationship Type="http://schemas.openxmlformats.org/officeDocument/2006/relationships/notesSlide" Target="/ppt/notesSlides/notesSlide15.xml" Id="R355960b4601942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fc2f529362e4756" /><Relationship Type="http://schemas.openxmlformats.org/officeDocument/2006/relationships/notesSlide" Target="/ppt/notesSlides/notesSlide16.xml" Id="R5372aba8747a476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a91a91ba23d487d" /><Relationship Type="http://schemas.openxmlformats.org/officeDocument/2006/relationships/notesSlide" Target="/ppt/notesSlides/notesSlide17.xml" Id="R0ebced847a7140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f6506ccb2554137" /><Relationship Type="http://schemas.openxmlformats.org/officeDocument/2006/relationships/notesSlide" Target="/ppt/notesSlides/notesSlide18.xml" Id="R4092b73a72884901" /></Relationships>
</file>

<file path=ppt/slides/charts/chart1.xml><?xml version="1.0" encoding="utf-8"?>
<c:chartSpace xmlns:c="http://schemas.openxmlformats.org/drawingml/2006/chart">
  <c:lang val="en-US"/>
  <c:chart>
    <c:plotArea>
      <c:scatterChart>
        <c:scatterStyle val="lineMarker"/>
        <c:varyColors val="0"/>
        <c:ser>
          <c:idx val="0"/>
          <c:order val="0"/>
          <c:tx>
            <c:v>Random</c:v>
          </c:tx>
          <c:spPr>
            <a:ln xmlns:a="http://schemas.openxmlformats.org/drawingml/2006/main" w="28575">
              <a:solidFill>
                <a:srgbClr val="3978B4"/>
              </a:solidFill>
            </a:ln>
          </c:spPr>
          <c:marker>
            <c:symbol val="circle"/>
            <c:size val="8"/>
            <c:spPr>
              <a:solidFill xmlns:a="http://schemas.openxmlformats.org/drawingml/2006/main">
                <a:srgbClr val="3978B4"/>
              </a:solidFill>
            </c:spPr>
          </c:marker>
          <c:xVal>
            <c:numLit>
              <c:formatCode>General</c:formatCode>
              <c:ptCount val="13"/>
              <c:pt idx="0">
                <c:v>0.05932670000000001</c:v>
              </c:pt>
              <c:pt idx="1">
                <c:v>0.0781637</c:v>
              </c:pt>
              <c:pt idx="2">
                <c:v>0.0781637</c:v>
              </c:pt>
              <c:pt idx="3">
                <c:v>0.09137410000000001</c:v>
              </c:pt>
              <c:pt idx="4">
                <c:v>0.09137410000000001</c:v>
              </c:pt>
              <c:pt idx="5">
                <c:v>0.16137484000000002</c:v>
              </c:pt>
              <c:pt idx="6">
                <c:v>0.16137484000000002</c:v>
              </c:pt>
              <c:pt idx="7">
                <c:v>0.18797323999999999</c:v>
              </c:pt>
              <c:pt idx="8">
                <c:v>0.18797323999999999</c:v>
              </c:pt>
              <c:pt idx="9">
                <c:v>0.18812254</c:v>
              </c:pt>
              <c:pt idx="10">
                <c:v>0.18812254</c:v>
              </c:pt>
              <c:pt idx="11">
                <c:v>0.20431264</c:v>
              </c:pt>
              <c:pt idx="12">
                <c:v>0.20431264</c:v>
              </c:pt>
            </c:numLit>
          </c:xVal>
          <c:yVal>
            <c:numLit>
              <c:formatCode>0%</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Lit>
          </c:yVal>
          <c:smooth val="0"/>
        </c:ser>
        <c:ser>
          <c:idx val="1"/>
          <c:order val="1"/>
          <c:tx>
            <c:v>Bayesian / TPE</c:v>
          </c:tx>
          <c:spPr>
            <a:ln xmlns:a="http://schemas.openxmlformats.org/drawingml/2006/main" w="28575">
              <a:solidFill>
                <a:srgbClr val="C77822"/>
              </a:solidFill>
            </a:ln>
          </c:spPr>
          <c:marker>
            <c:symbol val="square"/>
            <c:size val="8"/>
            <c:spPr>
              <a:solidFill xmlns:a="http://schemas.openxmlformats.org/drawingml/2006/main">
                <a:srgbClr val="C77822"/>
              </a:solidFill>
            </c:spPr>
          </c:marker>
          <c:xVal>
            <c:numLit>
              <c:formatCode>General</c:formatCode>
              <c:ptCount val="13"/>
              <c:pt idx="0">
                <c:v>0.024352350000000023</c:v>
              </c:pt>
              <c:pt idx="1">
                <c:v>0.05099545</c:v>
              </c:pt>
              <c:pt idx="2">
                <c:v>0.05099545</c:v>
              </c:pt>
              <c:pt idx="3">
                <c:v>0.056212450000000025</c:v>
              </c:pt>
              <c:pt idx="4">
                <c:v>0.056212450000000025</c:v>
              </c:pt>
              <c:pt idx="5">
                <c:v>0.10472965000000001</c:v>
              </c:pt>
              <c:pt idx="6">
                <c:v>0.10472965000000001</c:v>
              </c:pt>
              <c:pt idx="7">
                <c:v>0.12584145000000002</c:v>
              </c:pt>
              <c:pt idx="8">
                <c:v>0.12584145000000002</c:v>
              </c:pt>
              <c:pt idx="9">
                <c:v>0.13532034999999998</c:v>
              </c:pt>
              <c:pt idx="10">
                <c:v>0.13532034999999998</c:v>
              </c:pt>
              <c:pt idx="11">
                <c:v>0.14163035</c:v>
              </c:pt>
              <c:pt idx="12">
                <c:v>0.14163035</c:v>
              </c:pt>
            </c:numLit>
          </c:xVal>
          <c:yVal>
            <c:numLit>
              <c:formatCode>0%</c:formatCode>
              <c:ptCount val="13"/>
              <c:pt idx="0">
                <c:v>0</c:v>
              </c:pt>
              <c:pt idx="1">
                <c:v>0</c:v>
              </c:pt>
              <c:pt idx="2">
                <c:v>0</c:v>
              </c:pt>
              <c:pt idx="3">
                <c:v>0</c:v>
              </c:pt>
              <c:pt idx="4">
                <c:v>0</c:v>
              </c:pt>
              <c:pt idx="5">
                <c:v>0</c:v>
              </c:pt>
              <c:pt idx="6">
                <c:v>0.3333333333333333</c:v>
              </c:pt>
              <c:pt idx="7">
                <c:v>0.3333333333333333</c:v>
              </c:pt>
              <c:pt idx="8">
                <c:v>0.3333333333333333</c:v>
              </c:pt>
              <c:pt idx="9">
                <c:v>0.3333333333333333</c:v>
              </c:pt>
              <c:pt idx="10">
                <c:v>0.3333333333333333</c:v>
              </c:pt>
              <c:pt idx="11">
                <c:v>0.3333333333333333</c:v>
              </c:pt>
              <c:pt idx="12">
                <c:v>0.3333333333333333</c:v>
              </c:pt>
            </c:numLit>
          </c:yVal>
          <c:smooth val="0"/>
        </c:ser>
        <c:ser>
          <c:idx val="2"/>
          <c:order val="2"/>
          <c:tx>
            <c:v>Multi-fidelity</c:v>
          </c:tx>
          <c:spPr>
            <a:ln xmlns:a="http://schemas.openxmlformats.org/drawingml/2006/main" w="28575">
              <a:solidFill>
                <a:srgbClr val="397B58"/>
              </a:solidFill>
            </a:ln>
          </c:spPr>
          <c:marker>
            <c:symbol val="diamond"/>
            <c:size val="8"/>
            <c:spPr>
              <a:solidFill xmlns:a="http://schemas.openxmlformats.org/drawingml/2006/main">
                <a:srgbClr val="397B58"/>
              </a:solidFill>
            </c:spPr>
          </c:marker>
          <c:xVal>
            <c:numLit>
              <c:formatCode>General</c:formatCode>
              <c:ptCount val="1"/>
              <c:pt idx="0">
                <c:v>0.30581629</c:v>
              </c:pt>
            </c:numLit>
          </c:xVal>
          <c:yVal>
            <c:numLit>
              <c:formatCode>0%</c:formatCode>
              <c:ptCount val="1"/>
              <c:pt idx="0">
                <c:v>0</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4"/>
          <c:min val="0"/>
        </c:scaling>
        <c:delete val="0"/>
        <c:axPos val="l"/>
        <c:majorGridlines>
          <c:spPr>
            <a:ln xmlns:a="http://schemas.openxmlformats.org/drawingml/2006/main" w="9525">
              <a:solidFill>
                <a:srgbClr val="DDE4EB"/>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Best validation pass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majorUnit val="0.1"/>
      </c:valAx>
      <c:valAx>
        <c:axId val="48650112"/>
        <c:scaling>
          <c:orientation val="minMax"/>
          <c:max val="0.33"/>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Cumulative search accounting (USD)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0.05"/>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stacked"/>
        <c:varyColors val="0"/>
        <c:ser>
          <c:idx val="0"/>
          <c:order val="0"/>
          <c:tx>
            <c:v>Search</c:v>
          </c:tx>
          <c:spPr>
            <a:solidFill xmlns:a="http://schemas.openxmlformats.org/drawingml/2006/main">
              <a:srgbClr val="17324D"/>
            </a:solidFill>
          </c:spPr>
          <c:invertIfNegative val="0"/>
          <c:cat>
            <c:strLit>
              <c:ptCount val="4"/>
              <c:pt idx="0">
                <c:v>Default</c:v>
              </c:pt>
              <c:pt idx="1">
                <c:v>Random</c:v>
              </c:pt>
              <c:pt idx="2">
                <c:v>Bayesian</c:v>
              </c:pt>
              <c:pt idx="3">
                <c:v>Multi-fidelity</c:v>
              </c:pt>
            </c:strLit>
          </c:cat>
          <c:val>
            <c:numLit>
              <c:formatCode>0.00</c:formatCode>
              <c:ptCount val="4"/>
              <c:pt idx="0">
                <c:v>0</c:v>
              </c:pt>
              <c:pt idx="1">
                <c:v>0.20431264</c:v>
              </c:pt>
              <c:pt idx="2">
                <c:v>0.14163035</c:v>
              </c:pt>
              <c:pt idx="3">
                <c:v>0.30581629000000005</c:v>
              </c:pt>
            </c:numLit>
          </c:val>
        </c:ser>
        <c:ser>
          <c:idx val="1"/>
          <c:order val="1"/>
          <c:tx>
            <c:v>Test + supplement</c:v>
          </c:tx>
          <c:spPr>
            <a:solidFill xmlns:a="http://schemas.openxmlformats.org/drawingml/2006/main">
              <a:srgbClr val="087F8C"/>
            </a:solidFill>
          </c:spPr>
          <c:invertIfNegative val="0"/>
          <c:cat>
            <c:strLit>
              <c:ptCount val="4"/>
              <c:pt idx="0">
                <c:v>Default</c:v>
              </c:pt>
              <c:pt idx="1">
                <c:v>Random</c:v>
              </c:pt>
              <c:pt idx="2">
                <c:v>Bayesian</c:v>
              </c:pt>
              <c:pt idx="3">
                <c:v>Multi-fidelity</c:v>
              </c:pt>
            </c:strLit>
          </c:cat>
          <c:val>
            <c:numLit>
              <c:formatCode>0.00</c:formatCode>
              <c:ptCount val="4"/>
              <c:pt idx="0">
                <c:v>0.08059909999999992</c:v>
              </c:pt>
              <c:pt idx="1">
                <c:v>0.06581121999999995</c:v>
              </c:pt>
              <c:pt idx="2">
                <c:v>0.10410129999999995</c:v>
              </c:pt>
              <c:pt idx="3">
                <c:v>0.08904810000000007</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45"/>
          <c:min val="0"/>
        </c:scaling>
        <c:delete val="0"/>
        <c:axPos val="l"/>
        <c:majorGridlines>
          <c:spPr>
            <a:ln xmlns:a="http://schemas.openxmlformats.org/drawingml/2006/main" w="9525">
              <a:solidFill>
                <a:srgbClr val="DDE4EB"/>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USD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1"/>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E8FE14-B3F1-405B-908B-23DCAE329DAC}"/>
              </a:ext>
            </a:extLst>
          </p:cNvPr>
          <p:cNvSpPr>
            <a:spLocks xmlns:a="http://schemas.openxmlformats.org/drawingml/2006/main" noGrp="1"/>
          </p:cNvSpPr>
          <p:nvPr/>
        </p:nvSpPr>
        <p:spPr>
          <a:xfrm xmlns:a="http://schemas.openxmlformats.org/drawingml/2006/main">
            <a:off x="647700" y="1143000"/>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17324D"/>
                </a:solidFill>
                <a:latin typeface="Arial"/>
                <a:ea typeface="Arial"/>
                <a:cs typeface="Arial"/>
              </a:defRPr>
            </a:defPPr>
            <a:lvl1pPr>
              <a:defRPr sz="4650" b="1">
                <a:solidFill>
                  <a:srgbClr val="17324D"/>
                </a:solidFill>
                <a:latin typeface="Arial"/>
                <a:ea typeface="Arial"/>
                <a:cs typeface="Arial"/>
              </a:defRPr>
            </a:lvl1pPr>
            <a:lvl2pPr>
              <a:defRPr sz="4650" b="1">
                <a:solidFill>
                  <a:srgbClr val="17324D"/>
                </a:solidFill>
                <a:latin typeface="Arial"/>
                <a:ea typeface="Arial"/>
                <a:cs typeface="Arial"/>
              </a:defRPr>
            </a:lvl2pPr>
            <a:lvl3pPr>
              <a:defRPr sz="4650" b="1">
                <a:solidFill>
                  <a:srgbClr val="17324D"/>
                </a:solidFill>
                <a:latin typeface="Arial"/>
                <a:ea typeface="Arial"/>
                <a:cs typeface="Arial"/>
              </a:defRPr>
            </a:lvl3pPr>
            <a:lvl4pPr>
              <a:defRPr sz="4650" b="1">
                <a:solidFill>
                  <a:srgbClr val="17324D"/>
                </a:solidFill>
                <a:latin typeface="Arial"/>
                <a:ea typeface="Arial"/>
                <a:cs typeface="Arial"/>
              </a:defRPr>
            </a:lvl4pPr>
            <a:lvl5pPr>
              <a:defRPr sz="4650" b="1">
                <a:solidFill>
                  <a:srgbClr val="17324D"/>
                </a:solidFill>
                <a:latin typeface="Arial"/>
                <a:ea typeface="Arial"/>
                <a:cs typeface="Arial"/>
              </a:defRPr>
            </a:lvl5pPr>
            <a:lvl6pPr>
              <a:defRPr sz="4650" b="1">
                <a:solidFill>
                  <a:srgbClr val="17324D"/>
                </a:solidFill>
                <a:latin typeface="Arial"/>
                <a:ea typeface="Arial"/>
                <a:cs typeface="Arial"/>
              </a:defRPr>
            </a:lvl6pPr>
            <a:lvl7pPr>
              <a:defRPr sz="4650" b="1">
                <a:solidFill>
                  <a:srgbClr val="17324D"/>
                </a:solidFill>
                <a:latin typeface="Arial"/>
                <a:ea typeface="Arial"/>
                <a:cs typeface="Arial"/>
              </a:defRPr>
            </a:lvl7pPr>
            <a:lvl8pPr>
              <a:defRPr sz="4650" b="1">
                <a:solidFill>
                  <a:srgbClr val="17324D"/>
                </a:solidFill>
                <a:latin typeface="Arial"/>
                <a:ea typeface="Arial"/>
                <a:cs typeface="Arial"/>
              </a:defRPr>
            </a:lvl8pPr>
            <a:lvl9pPr>
              <a:defRPr sz="4650" b="1">
                <a:solidFill>
                  <a:srgbClr val="17324D"/>
                </a:solidFill>
                <a:latin typeface="Arial"/>
                <a:ea typeface="Arial"/>
                <a:cs typeface="Arial"/>
              </a:defRPr>
            </a:lvl9pPr>
          </a:lstStyle>
          <a:p xmlns:a="http://schemas.openxmlformats.org/drawingml/2006/main">
            <a:pPr>
              <a:defRPr sz="4650" b="1">
                <a:solidFill>
                  <a:srgbClr val="17324D"/>
                </a:solidFill>
                <a:latin typeface="Arial"/>
                <a:ea typeface="Arial"/>
                <a:cs typeface="Arial"/>
              </a:defRPr>
            </a:pPr>
            <a:r>
              <a:rPr sz="4650" b="1">
                <a:solidFill>
                  <a:srgbClr val="17324D"/>
                </a:solidFill>
                <a:latin typeface="Arial"/>
                <a:ea typeface="Arial"/>
                <a:cs typeface="Arial"/>
              </a:rPr>
              <a:t>Harness Hyperparameter</a:t>
            </a:r>
          </a:p>
          <a:p xmlns:a="http://schemas.openxmlformats.org/drawingml/2006/main">
            <a:pPr>
              <a:defRPr sz="4650" b="1">
                <a:solidFill>
                  <a:srgbClr val="17324D"/>
                </a:solidFill>
                <a:latin typeface="Arial"/>
                <a:ea typeface="Arial"/>
                <a:cs typeface="Arial"/>
              </a:defRPr>
            </a:pPr>
            <a:r>
              <a:rPr sz="4650" b="1">
                <a:solidFill>
                  <a:srgbClr val="17324D"/>
                </a:solidFill>
                <a:latin typeface="Arial"/>
                <a:ea typeface="Arial"/>
                <a:cs typeface="Arial"/>
              </a:rPr>
              <a:t>Optimization</a:t>
            </a:r>
          </a:p>
        </p:txBody>
      </p:sp>
      <p:sp>
        <p:nvSpPr>
          <p:cNvPr id="2" name="">
            <a:extLst xmlns:a="http://schemas.openxmlformats.org/drawingml/2006/main">
              <a:ext uri="{FF2B5EF4-FFF2-40B4-BE49-F238E27FC236}">
                <a16:creationId xmlns:a16="http://schemas.microsoft.com/office/drawing/2014/main" id="{4723E4D2-DE52-4197-8FD5-B019048D9525}"/>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3" name="">
            <a:extLst xmlns:a="http://schemas.openxmlformats.org/drawingml/2006/main">
              <a:ext uri="{FF2B5EF4-FFF2-40B4-BE49-F238E27FC236}">
                <a16:creationId xmlns:a16="http://schemas.microsoft.com/office/drawing/2014/main" id="{670F9D8E-4801-4B99-9DB3-81C92C6A1EDB}"/>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513CFE5-0EB7-4122-8DB0-180CCA406D9A}"/>
              </a:ext>
            </a:extLst>
          </p:cNvPr>
          <p:cNvSpPr>
            <a:spLocks xmlns:a="http://schemas.openxmlformats.org/drawingml/2006/main" noGrp="1"/>
          </p:cNvSpPr>
          <p:nvPr/>
        </p:nvSpPr>
        <p:spPr>
          <a:xfrm xmlns:a="http://schemas.openxmlformats.org/drawingml/2006/main">
            <a:off x="685800" y="33813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17324D"/>
                </a:solidFill>
                <a:latin typeface="Arial"/>
                <a:ea typeface="Arial"/>
                <a:cs typeface="Arial"/>
              </a:defRPr>
            </a:defPPr>
            <a:lvl1pPr>
              <a:defRPr sz="2850" b="0">
                <a:solidFill>
                  <a:srgbClr val="17324D"/>
                </a:solidFill>
                <a:latin typeface="Arial"/>
                <a:ea typeface="Arial"/>
                <a:cs typeface="Arial"/>
              </a:defRPr>
            </a:lvl1pPr>
            <a:lvl2pPr>
              <a:defRPr sz="2850" b="0">
                <a:solidFill>
                  <a:srgbClr val="17324D"/>
                </a:solidFill>
                <a:latin typeface="Arial"/>
                <a:ea typeface="Arial"/>
                <a:cs typeface="Arial"/>
              </a:defRPr>
            </a:lvl2pPr>
            <a:lvl3pPr>
              <a:defRPr sz="2850" b="0">
                <a:solidFill>
                  <a:srgbClr val="17324D"/>
                </a:solidFill>
                <a:latin typeface="Arial"/>
                <a:ea typeface="Arial"/>
                <a:cs typeface="Arial"/>
              </a:defRPr>
            </a:lvl3pPr>
            <a:lvl4pPr>
              <a:defRPr sz="2850" b="0">
                <a:solidFill>
                  <a:srgbClr val="17324D"/>
                </a:solidFill>
                <a:latin typeface="Arial"/>
                <a:ea typeface="Arial"/>
                <a:cs typeface="Arial"/>
              </a:defRPr>
            </a:lvl4pPr>
            <a:lvl5pPr>
              <a:defRPr sz="2850" b="0">
                <a:solidFill>
                  <a:srgbClr val="17324D"/>
                </a:solidFill>
                <a:latin typeface="Arial"/>
                <a:ea typeface="Arial"/>
                <a:cs typeface="Arial"/>
              </a:defRPr>
            </a:lvl5pPr>
            <a:lvl6pPr>
              <a:defRPr sz="2850" b="0">
                <a:solidFill>
                  <a:srgbClr val="17324D"/>
                </a:solidFill>
                <a:latin typeface="Arial"/>
                <a:ea typeface="Arial"/>
                <a:cs typeface="Arial"/>
              </a:defRPr>
            </a:lvl6pPr>
            <a:lvl7pPr>
              <a:defRPr sz="2850" b="0">
                <a:solidFill>
                  <a:srgbClr val="17324D"/>
                </a:solidFill>
                <a:latin typeface="Arial"/>
                <a:ea typeface="Arial"/>
                <a:cs typeface="Arial"/>
              </a:defRPr>
            </a:lvl7pPr>
            <a:lvl8pPr>
              <a:defRPr sz="2850" b="0">
                <a:solidFill>
                  <a:srgbClr val="17324D"/>
                </a:solidFill>
                <a:latin typeface="Arial"/>
                <a:ea typeface="Arial"/>
                <a:cs typeface="Arial"/>
              </a:defRPr>
            </a:lvl8pPr>
            <a:lvl9pPr>
              <a:defRPr sz="2850" b="0">
                <a:solidFill>
                  <a:srgbClr val="17324D"/>
                </a:solidFill>
                <a:latin typeface="Arial"/>
                <a:ea typeface="Arial"/>
                <a:cs typeface="Arial"/>
              </a:defRPr>
            </a:lvl9pPr>
          </a:lstStyle>
          <a:p xmlns:a="http://schemas.openxmlformats.org/drawingml/2006/main">
            <a:pPr>
              <a:defRPr sz="2850" b="0">
                <a:solidFill>
                  <a:srgbClr val="17324D"/>
                </a:solidFill>
                <a:latin typeface="Arial"/>
                <a:ea typeface="Arial"/>
                <a:cs typeface="Arial"/>
              </a:defRPr>
            </a:pPr>
            <a:r>
              <a:rPr sz="2850" b="0">
                <a:solidFill>
                  <a:srgbClr val="17324D"/>
                </a:solidFill>
                <a:latin typeface="Arial"/>
                <a:ea typeface="Arial"/>
                <a:cs typeface="Arial"/>
              </a:rPr>
              <a:t>An empirical study of PI Agent on SkillsBench</a:t>
            </a:r>
          </a:p>
        </p:txBody>
      </p:sp>
      <p:sp>
        <p:nvSpPr>
          <p:cNvPr id="5" name="">
            <a:extLst xmlns:a="http://schemas.openxmlformats.org/drawingml/2006/main">
              <a:ext uri="{FF2B5EF4-FFF2-40B4-BE49-F238E27FC236}">
                <a16:creationId xmlns:a16="http://schemas.microsoft.com/office/drawing/2014/main" id="{21B7053A-7840-4558-BCD1-55E1CBE6D05A}"/>
              </a:ext>
            </a:extLst>
          </p:cNvPr>
          <p:cNvSpPr>
            <a:spLocks xmlns:a="http://schemas.openxmlformats.org/drawingml/2006/main" noGrp="1"/>
          </p:cNvSpPr>
          <p:nvPr/>
        </p:nvSpPr>
        <p:spPr>
          <a:xfrm xmlns:a="http://schemas.openxmlformats.org/drawingml/2006/main">
            <a:off x="685800" y="4305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86779"/>
                </a:solidFill>
                <a:latin typeface="Arial"/>
                <a:ea typeface="Arial"/>
                <a:cs typeface="Arial"/>
              </a:defRPr>
            </a:defPPr>
            <a:lvl1pPr>
              <a:defRPr sz="2100" b="0">
                <a:solidFill>
                  <a:srgbClr val="586779"/>
                </a:solidFill>
                <a:latin typeface="Arial"/>
                <a:ea typeface="Arial"/>
                <a:cs typeface="Arial"/>
              </a:defRPr>
            </a:lvl1pPr>
            <a:lvl2pPr>
              <a:defRPr sz="2100" b="0">
                <a:solidFill>
                  <a:srgbClr val="586779"/>
                </a:solidFill>
                <a:latin typeface="Arial"/>
                <a:ea typeface="Arial"/>
                <a:cs typeface="Arial"/>
              </a:defRPr>
            </a:lvl2pPr>
            <a:lvl3pPr>
              <a:defRPr sz="2100" b="0">
                <a:solidFill>
                  <a:srgbClr val="586779"/>
                </a:solidFill>
                <a:latin typeface="Arial"/>
                <a:ea typeface="Arial"/>
                <a:cs typeface="Arial"/>
              </a:defRPr>
            </a:lvl3pPr>
            <a:lvl4pPr>
              <a:defRPr sz="2100" b="0">
                <a:solidFill>
                  <a:srgbClr val="586779"/>
                </a:solidFill>
                <a:latin typeface="Arial"/>
                <a:ea typeface="Arial"/>
                <a:cs typeface="Arial"/>
              </a:defRPr>
            </a:lvl4pPr>
            <a:lvl5pPr>
              <a:defRPr sz="2100" b="0">
                <a:solidFill>
                  <a:srgbClr val="586779"/>
                </a:solidFill>
                <a:latin typeface="Arial"/>
                <a:ea typeface="Arial"/>
                <a:cs typeface="Arial"/>
              </a:defRPr>
            </a:lvl5pPr>
            <a:lvl6pPr>
              <a:defRPr sz="2100" b="0">
                <a:solidFill>
                  <a:srgbClr val="586779"/>
                </a:solidFill>
                <a:latin typeface="Arial"/>
                <a:ea typeface="Arial"/>
                <a:cs typeface="Arial"/>
              </a:defRPr>
            </a:lvl6pPr>
            <a:lvl7pPr>
              <a:defRPr sz="2100" b="0">
                <a:solidFill>
                  <a:srgbClr val="586779"/>
                </a:solidFill>
                <a:latin typeface="Arial"/>
                <a:ea typeface="Arial"/>
                <a:cs typeface="Arial"/>
              </a:defRPr>
            </a:lvl7pPr>
            <a:lvl8pPr>
              <a:defRPr sz="2100" b="0">
                <a:solidFill>
                  <a:srgbClr val="586779"/>
                </a:solidFill>
                <a:latin typeface="Arial"/>
                <a:ea typeface="Arial"/>
                <a:cs typeface="Arial"/>
              </a:defRPr>
            </a:lvl8pPr>
            <a:lvl9pPr>
              <a:defRPr sz="2100" b="0">
                <a:solidFill>
                  <a:srgbClr val="586779"/>
                </a:solidFill>
                <a:latin typeface="Arial"/>
                <a:ea typeface="Arial"/>
                <a:cs typeface="Arial"/>
              </a:defRPr>
            </a:lvl9pPr>
          </a:lstStyle>
          <a:p xmlns:a="http://schemas.openxmlformats.org/drawingml/2006/main">
            <a:pPr>
              <a:defRPr sz="2100" b="0">
                <a:solidFill>
                  <a:srgbClr val="586779"/>
                </a:solidFill>
                <a:latin typeface="Arial"/>
                <a:ea typeface="Arial"/>
                <a:cs typeface="Arial"/>
              </a:defRPr>
            </a:pPr>
            <a:r>
              <a:rPr sz="2100" b="0">
                <a:solidFill>
                  <a:srgbClr val="586779"/>
                </a:solidFill>
                <a:latin typeface="Arial"/>
                <a:ea typeface="Arial"/>
                <a:cs typeface="Arial"/>
              </a:rPr>
              <a:t>Two-stage multi-fidelity search under task and monetary budgets</a:t>
            </a:r>
          </a:p>
        </p:txBody>
      </p:sp>
      <p:sp>
        <p:nvSpPr>
          <p:cNvPr id="6" name="">
            <a:extLst xmlns:a="http://schemas.openxmlformats.org/drawingml/2006/main">
              <a:ext uri="{FF2B5EF4-FFF2-40B4-BE49-F238E27FC236}">
                <a16:creationId xmlns:a16="http://schemas.microsoft.com/office/drawing/2014/main" id="{92543EF3-D067-4552-9365-311D13CAC4A4}"/>
              </a:ext>
            </a:extLst>
          </p:cNvPr>
          <p:cNvSpPr>
            <a:spLocks xmlns:a="http://schemas.openxmlformats.org/drawingml/2006/main" noGrp="1"/>
          </p:cNvSpPr>
          <p:nvPr/>
        </p:nvSpPr>
        <p:spPr>
          <a:xfrm xmlns:a="http://schemas.openxmlformats.org/drawingml/2006/main">
            <a:off x="685800" y="56959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86779"/>
                </a:solidFill>
                <a:latin typeface="Arial"/>
                <a:ea typeface="Arial"/>
                <a:cs typeface="Arial"/>
              </a:defRPr>
            </a:defPPr>
            <a:lvl1pPr>
              <a:defRPr sz="1875" b="0">
                <a:solidFill>
                  <a:srgbClr val="586779"/>
                </a:solidFill>
                <a:latin typeface="Arial"/>
                <a:ea typeface="Arial"/>
                <a:cs typeface="Arial"/>
              </a:defRPr>
            </a:lvl1pPr>
            <a:lvl2pPr>
              <a:defRPr sz="1875" b="0">
                <a:solidFill>
                  <a:srgbClr val="586779"/>
                </a:solidFill>
                <a:latin typeface="Arial"/>
                <a:ea typeface="Arial"/>
                <a:cs typeface="Arial"/>
              </a:defRPr>
            </a:lvl2pPr>
            <a:lvl3pPr>
              <a:defRPr sz="1875" b="0">
                <a:solidFill>
                  <a:srgbClr val="586779"/>
                </a:solidFill>
                <a:latin typeface="Arial"/>
                <a:ea typeface="Arial"/>
                <a:cs typeface="Arial"/>
              </a:defRPr>
            </a:lvl3pPr>
            <a:lvl4pPr>
              <a:defRPr sz="1875" b="0">
                <a:solidFill>
                  <a:srgbClr val="586779"/>
                </a:solidFill>
                <a:latin typeface="Arial"/>
                <a:ea typeface="Arial"/>
                <a:cs typeface="Arial"/>
              </a:defRPr>
            </a:lvl4pPr>
            <a:lvl5pPr>
              <a:defRPr sz="1875" b="0">
                <a:solidFill>
                  <a:srgbClr val="586779"/>
                </a:solidFill>
                <a:latin typeface="Arial"/>
                <a:ea typeface="Arial"/>
                <a:cs typeface="Arial"/>
              </a:defRPr>
            </a:lvl5pPr>
            <a:lvl6pPr>
              <a:defRPr sz="1875" b="0">
                <a:solidFill>
                  <a:srgbClr val="586779"/>
                </a:solidFill>
                <a:latin typeface="Arial"/>
                <a:ea typeface="Arial"/>
                <a:cs typeface="Arial"/>
              </a:defRPr>
            </a:lvl6pPr>
            <a:lvl7pPr>
              <a:defRPr sz="1875" b="0">
                <a:solidFill>
                  <a:srgbClr val="586779"/>
                </a:solidFill>
                <a:latin typeface="Arial"/>
                <a:ea typeface="Arial"/>
                <a:cs typeface="Arial"/>
              </a:defRPr>
            </a:lvl7pPr>
            <a:lvl8pPr>
              <a:defRPr sz="1875" b="0">
                <a:solidFill>
                  <a:srgbClr val="586779"/>
                </a:solidFill>
                <a:latin typeface="Arial"/>
                <a:ea typeface="Arial"/>
                <a:cs typeface="Arial"/>
              </a:defRPr>
            </a:lvl8pPr>
            <a:lvl9pPr>
              <a:defRPr sz="1875" b="0">
                <a:solidFill>
                  <a:srgbClr val="586779"/>
                </a:solidFill>
                <a:latin typeface="Arial"/>
                <a:ea typeface="Arial"/>
                <a:cs typeface="Arial"/>
              </a:defRPr>
            </a:lvl9pPr>
          </a:lstStyle>
          <a:p xmlns:a="http://schemas.openxmlformats.org/drawingml/2006/main">
            <a:pPr>
              <a:defRPr sz="1875" b="0">
                <a:solidFill>
                  <a:srgbClr val="586779"/>
                </a:solidFill>
                <a:latin typeface="Arial"/>
                <a:ea typeface="Arial"/>
                <a:cs typeface="Arial"/>
              </a:defRPr>
            </a:pPr>
            <a:r>
              <a:rPr sz="1875" b="0">
                <a:solidFill>
                  <a:srgbClr val="586779"/>
                </a:solidFill>
                <a:latin typeface="Arial"/>
                <a:ea typeface="Arial"/>
                <a:cs typeface="Arial"/>
              </a:rPr>
              <a:t>PE6203 Group Project 3  |  30 October 2026</a:t>
            </a:r>
          </a:p>
        </p:txBody>
      </p:sp>
    </p:spTree>
    <p:extLst>
      <p:ext uri="{BB962C8B-B14F-4D97-AF65-F5344CB8AC3E}">
        <p14:creationId xmlns:p14="http://schemas.microsoft.com/office/powerpoint/2010/main" val="10032257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DEB3F44-8FA0-489F-9A36-1789B4653FA1}"/>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Research problem and study design</a:t>
            </a:r>
          </a:p>
        </p:txBody>
      </p:sp>
      <p:sp>
        <p:nvSpPr>
          <p:cNvPr id="2" name="">
            <a:extLst xmlns:a="http://schemas.openxmlformats.org/drawingml/2006/main">
              <a:ext uri="{FF2B5EF4-FFF2-40B4-BE49-F238E27FC236}">
                <a16:creationId xmlns:a16="http://schemas.microsoft.com/office/drawing/2014/main" id="{0E3B6D6C-A002-4231-AA85-A799371AEB06}"/>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Optimize exposed configuration inputs while keeping the agent implementation fixed</a:t>
            </a:r>
          </a:p>
        </p:txBody>
      </p:sp>
      <p:sp>
        <p:nvSpPr>
          <p:cNvPr id="3" name="">
            <a:extLst xmlns:a="http://schemas.openxmlformats.org/drawingml/2006/main">
              <a:ext uri="{FF2B5EF4-FFF2-40B4-BE49-F238E27FC236}">
                <a16:creationId xmlns:a16="http://schemas.microsoft.com/office/drawing/2014/main" id="{9536B50C-C18E-4567-B5AC-60E1B9524A8B}"/>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86B0D93D-D3E0-4F13-A79B-67CDECC21F5C}"/>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78797CC-88C9-4D32-A180-F14D44357D4C}"/>
              </a:ext>
            </a:extLst>
          </p:cNvPr>
          <p:cNvSpPr>
            <a:spLocks xmlns:a="http://schemas.openxmlformats.org/drawingml/2006/main" noGrp="1"/>
          </p:cNvSpPr>
          <p:nvPr/>
        </p:nvSpPr>
        <p:spPr>
          <a:xfrm xmlns:a="http://schemas.openxmlformats.org/drawingml/2006/main">
            <a:off x="647700" y="180975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Research questions</a:t>
            </a:r>
          </a:p>
        </p:txBody>
      </p:sp>
      <p:sp>
        <p:nvSpPr>
          <p:cNvPr id="6" name="">
            <a:extLst xmlns:a="http://schemas.openxmlformats.org/drawingml/2006/main">
              <a:ext uri="{FF2B5EF4-FFF2-40B4-BE49-F238E27FC236}">
                <a16:creationId xmlns:a16="http://schemas.microsoft.com/office/drawing/2014/main" id="{AA17A4EF-47B9-4FE3-9120-15FB4ACCCFA3}"/>
              </a:ext>
            </a:extLst>
          </p:cNvPr>
          <p:cNvSpPr>
            <a:spLocks xmlns:a="http://schemas.openxmlformats.org/drawingml/2006/main" noGrp="1"/>
          </p:cNvSpPr>
          <p:nvPr/>
        </p:nvSpPr>
        <p:spPr>
          <a:xfrm xmlns:a="http://schemas.openxmlformats.org/drawingml/2006/main">
            <a:off x="647700" y="2228850"/>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547"/>
                </a:solidFill>
                <a:latin typeface="Arial"/>
                <a:ea typeface="Arial"/>
                <a:cs typeface="Arial"/>
              </a:defRPr>
            </a:defPPr>
            <a:lvl1pPr>
              <a:defRPr sz="1950" b="0">
                <a:solidFill>
                  <a:srgbClr val="263547"/>
                </a:solidFill>
                <a:latin typeface="Arial"/>
                <a:ea typeface="Arial"/>
                <a:cs typeface="Arial"/>
              </a:defRPr>
            </a:lvl1pPr>
            <a:lvl2pPr>
              <a:defRPr sz="1950" b="0">
                <a:solidFill>
                  <a:srgbClr val="263547"/>
                </a:solidFill>
                <a:latin typeface="Arial"/>
                <a:ea typeface="Arial"/>
                <a:cs typeface="Arial"/>
              </a:defRPr>
            </a:lvl2pPr>
            <a:lvl3pPr>
              <a:defRPr sz="1950" b="0">
                <a:solidFill>
                  <a:srgbClr val="263547"/>
                </a:solidFill>
                <a:latin typeface="Arial"/>
                <a:ea typeface="Arial"/>
                <a:cs typeface="Arial"/>
              </a:defRPr>
            </a:lvl3pPr>
            <a:lvl4pPr>
              <a:defRPr sz="1950" b="0">
                <a:solidFill>
                  <a:srgbClr val="263547"/>
                </a:solidFill>
                <a:latin typeface="Arial"/>
                <a:ea typeface="Arial"/>
                <a:cs typeface="Arial"/>
              </a:defRPr>
            </a:lvl4pPr>
            <a:lvl5pPr>
              <a:defRPr sz="1950" b="0">
                <a:solidFill>
                  <a:srgbClr val="263547"/>
                </a:solidFill>
                <a:latin typeface="Arial"/>
                <a:ea typeface="Arial"/>
                <a:cs typeface="Arial"/>
              </a:defRPr>
            </a:lvl5pPr>
            <a:lvl6pPr>
              <a:defRPr sz="1950" b="0">
                <a:solidFill>
                  <a:srgbClr val="263547"/>
                </a:solidFill>
                <a:latin typeface="Arial"/>
                <a:ea typeface="Arial"/>
                <a:cs typeface="Arial"/>
              </a:defRPr>
            </a:lvl6pPr>
            <a:lvl7pPr>
              <a:defRPr sz="1950" b="0">
                <a:solidFill>
                  <a:srgbClr val="263547"/>
                </a:solidFill>
                <a:latin typeface="Arial"/>
                <a:ea typeface="Arial"/>
                <a:cs typeface="Arial"/>
              </a:defRPr>
            </a:lvl7pPr>
            <a:lvl8pPr>
              <a:defRPr sz="1950" b="0">
                <a:solidFill>
                  <a:srgbClr val="263547"/>
                </a:solidFill>
                <a:latin typeface="Arial"/>
                <a:ea typeface="Arial"/>
                <a:cs typeface="Arial"/>
              </a:defRPr>
            </a:lvl8pPr>
            <a:lvl9pPr>
              <a:defRPr sz="1950" b="0">
                <a:solidFill>
                  <a:srgbClr val="263547"/>
                </a:solidFill>
                <a:latin typeface="Arial"/>
                <a:ea typeface="Arial"/>
                <a:cs typeface="Arial"/>
              </a:defRPr>
            </a:lvl9pPr>
          </a:lstStyle>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1. Which configuration performs best on validation?</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2. Does the selected setting generalize to unseen tasks?</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3. Does any gain justify search and execution cost?</a:t>
            </a:r>
          </a:p>
        </p:txBody>
      </p:sp>
      <p:sp>
        <p:nvSpPr>
          <p:cNvPr id="7" name="">
            <a:extLst xmlns:a="http://schemas.openxmlformats.org/drawingml/2006/main">
              <a:ext uri="{FF2B5EF4-FFF2-40B4-BE49-F238E27FC236}">
                <a16:creationId xmlns:a16="http://schemas.microsoft.com/office/drawing/2014/main" id="{5CA65550-779E-45BB-895C-ACF741A97853}"/>
              </a:ext>
            </a:extLst>
          </p:cNvPr>
          <p:cNvSpPr>
            <a:spLocks xmlns:a="http://schemas.openxmlformats.org/drawingml/2006/main" noGrp="1"/>
          </p:cNvSpPr>
          <p:nvPr/>
        </p:nvSpPr>
        <p:spPr>
          <a:xfrm xmlns:a="http://schemas.openxmlformats.org/drawingml/2006/main">
            <a:off x="6429375" y="18097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Experimental boundary</a:t>
            </a:r>
          </a:p>
        </p:txBody>
      </p:sp>
      <p:sp>
        <p:nvSpPr>
          <p:cNvPr id="8" name="">
            <a:extLst xmlns:a="http://schemas.openxmlformats.org/drawingml/2006/main">
              <a:ext uri="{FF2B5EF4-FFF2-40B4-BE49-F238E27FC236}">
                <a16:creationId xmlns:a16="http://schemas.microsoft.com/office/drawing/2014/main" id="{EEFC2D2C-C1B1-4EC0-A1E3-501D95145051}"/>
              </a:ext>
            </a:extLst>
          </p:cNvPr>
          <p:cNvSpPr>
            <a:spLocks xmlns:a="http://schemas.openxmlformats.org/drawingml/2006/main" noGrp="1"/>
          </p:cNvSpPr>
          <p:nvPr/>
        </p:nvSpPr>
        <p:spPr>
          <a:xfrm xmlns:a="http://schemas.openxmlformats.org/drawingml/2006/main">
            <a:off x="6429375" y="222885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547"/>
                </a:solidFill>
                <a:latin typeface="Arial"/>
                <a:ea typeface="Arial"/>
                <a:cs typeface="Arial"/>
              </a:defRPr>
            </a:defPPr>
            <a:lvl1pPr>
              <a:defRPr sz="1950" b="0">
                <a:solidFill>
                  <a:srgbClr val="263547"/>
                </a:solidFill>
                <a:latin typeface="Arial"/>
                <a:ea typeface="Arial"/>
                <a:cs typeface="Arial"/>
              </a:defRPr>
            </a:lvl1pPr>
            <a:lvl2pPr>
              <a:defRPr sz="1950" b="0">
                <a:solidFill>
                  <a:srgbClr val="263547"/>
                </a:solidFill>
                <a:latin typeface="Arial"/>
                <a:ea typeface="Arial"/>
                <a:cs typeface="Arial"/>
              </a:defRPr>
            </a:lvl2pPr>
            <a:lvl3pPr>
              <a:defRPr sz="1950" b="0">
                <a:solidFill>
                  <a:srgbClr val="263547"/>
                </a:solidFill>
                <a:latin typeface="Arial"/>
                <a:ea typeface="Arial"/>
                <a:cs typeface="Arial"/>
              </a:defRPr>
            </a:lvl3pPr>
            <a:lvl4pPr>
              <a:defRPr sz="1950" b="0">
                <a:solidFill>
                  <a:srgbClr val="263547"/>
                </a:solidFill>
                <a:latin typeface="Arial"/>
                <a:ea typeface="Arial"/>
                <a:cs typeface="Arial"/>
              </a:defRPr>
            </a:lvl4pPr>
            <a:lvl5pPr>
              <a:defRPr sz="1950" b="0">
                <a:solidFill>
                  <a:srgbClr val="263547"/>
                </a:solidFill>
                <a:latin typeface="Arial"/>
                <a:ea typeface="Arial"/>
                <a:cs typeface="Arial"/>
              </a:defRPr>
            </a:lvl5pPr>
            <a:lvl6pPr>
              <a:defRPr sz="1950" b="0">
                <a:solidFill>
                  <a:srgbClr val="263547"/>
                </a:solidFill>
                <a:latin typeface="Arial"/>
                <a:ea typeface="Arial"/>
                <a:cs typeface="Arial"/>
              </a:defRPr>
            </a:lvl6pPr>
            <a:lvl7pPr>
              <a:defRPr sz="1950" b="0">
                <a:solidFill>
                  <a:srgbClr val="263547"/>
                </a:solidFill>
                <a:latin typeface="Arial"/>
                <a:ea typeface="Arial"/>
                <a:cs typeface="Arial"/>
              </a:defRPr>
            </a:lvl7pPr>
            <a:lvl8pPr>
              <a:defRPr sz="1950" b="0">
                <a:solidFill>
                  <a:srgbClr val="263547"/>
                </a:solidFill>
                <a:latin typeface="Arial"/>
                <a:ea typeface="Arial"/>
                <a:cs typeface="Arial"/>
              </a:defRPr>
            </a:lvl8pPr>
            <a:lvl9pPr>
              <a:defRPr sz="1950" b="0">
                <a:solidFill>
                  <a:srgbClr val="263547"/>
                </a:solidFill>
                <a:latin typeface="Arial"/>
                <a:ea typeface="Arial"/>
                <a:cs typeface="Arial"/>
              </a:defRPr>
            </a:lvl9pPr>
          </a:lstStyle>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Fixed model, agent loop, prompts and task verifier.</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Only contextWindow and maxTokens vary.</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Test outcomes never choose the configuration.</a:t>
            </a:r>
          </a:p>
        </p:txBody>
      </p:sp>
      <p:sp>
        <p:nvSpPr>
          <p:cNvPr id="9" name="">
            <a:extLst xmlns:a="http://schemas.openxmlformats.org/drawingml/2006/main">
              <a:ext uri="{FF2B5EF4-FFF2-40B4-BE49-F238E27FC236}">
                <a16:creationId xmlns:a16="http://schemas.microsoft.com/office/drawing/2014/main" id="{2C4650BE-F2E1-458B-A385-0BD69FC17CFD}"/>
              </a:ext>
            </a:extLst>
          </p:cNvPr>
          <p:cNvSpPr>
            <a:spLocks xmlns:a="http://schemas.openxmlformats.org/drawingml/2006/main" noGrp="1"/>
          </p:cNvSpPr>
          <p:nvPr/>
        </p:nvSpPr>
        <p:spPr>
          <a:xfrm xmlns:a="http://schemas.openxmlformats.org/drawingml/2006/main">
            <a:off x="647700" y="432435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What we contribute</a:t>
            </a:r>
          </a:p>
        </p:txBody>
      </p:sp>
      <p:sp>
        <p:nvSpPr>
          <p:cNvPr id="10" name="">
            <a:extLst xmlns:a="http://schemas.openxmlformats.org/drawingml/2006/main">
              <a:ext uri="{FF2B5EF4-FFF2-40B4-BE49-F238E27FC236}">
                <a16:creationId xmlns:a16="http://schemas.microsoft.com/office/drawing/2014/main" id="{2493F3E8-082F-4A1F-92E5-2551341EAB00}"/>
              </a:ext>
            </a:extLst>
          </p:cNvPr>
          <p:cNvSpPr>
            <a:spLocks xmlns:a="http://schemas.openxmlformats.org/drawingml/2006/main" noGrp="1"/>
          </p:cNvSpPr>
          <p:nvPr/>
        </p:nvSpPr>
        <p:spPr>
          <a:xfrm xmlns:a="http://schemas.openxmlformats.org/drawingml/2006/main">
            <a:off x="647700" y="474345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547"/>
                </a:solidFill>
                <a:latin typeface="Arial"/>
                <a:ea typeface="Arial"/>
                <a:cs typeface="Arial"/>
              </a:defRPr>
            </a:defPPr>
            <a:lvl1pPr>
              <a:defRPr sz="1950" b="0">
                <a:solidFill>
                  <a:srgbClr val="263547"/>
                </a:solidFill>
                <a:latin typeface="Arial"/>
                <a:ea typeface="Arial"/>
                <a:cs typeface="Arial"/>
              </a:defRPr>
            </a:lvl1pPr>
            <a:lvl2pPr>
              <a:defRPr sz="1950" b="0">
                <a:solidFill>
                  <a:srgbClr val="263547"/>
                </a:solidFill>
                <a:latin typeface="Arial"/>
                <a:ea typeface="Arial"/>
                <a:cs typeface="Arial"/>
              </a:defRPr>
            </a:lvl2pPr>
            <a:lvl3pPr>
              <a:defRPr sz="1950" b="0">
                <a:solidFill>
                  <a:srgbClr val="263547"/>
                </a:solidFill>
                <a:latin typeface="Arial"/>
                <a:ea typeface="Arial"/>
                <a:cs typeface="Arial"/>
              </a:defRPr>
            </a:lvl3pPr>
            <a:lvl4pPr>
              <a:defRPr sz="1950" b="0">
                <a:solidFill>
                  <a:srgbClr val="263547"/>
                </a:solidFill>
                <a:latin typeface="Arial"/>
                <a:ea typeface="Arial"/>
                <a:cs typeface="Arial"/>
              </a:defRPr>
            </a:lvl4pPr>
            <a:lvl5pPr>
              <a:defRPr sz="1950" b="0">
                <a:solidFill>
                  <a:srgbClr val="263547"/>
                </a:solidFill>
                <a:latin typeface="Arial"/>
                <a:ea typeface="Arial"/>
                <a:cs typeface="Arial"/>
              </a:defRPr>
            </a:lvl5pPr>
            <a:lvl6pPr>
              <a:defRPr sz="1950" b="0">
                <a:solidFill>
                  <a:srgbClr val="263547"/>
                </a:solidFill>
                <a:latin typeface="Arial"/>
                <a:ea typeface="Arial"/>
                <a:cs typeface="Arial"/>
              </a:defRPr>
            </a:lvl6pPr>
            <a:lvl7pPr>
              <a:defRPr sz="1950" b="0">
                <a:solidFill>
                  <a:srgbClr val="263547"/>
                </a:solidFill>
                <a:latin typeface="Arial"/>
                <a:ea typeface="Arial"/>
                <a:cs typeface="Arial"/>
              </a:defRPr>
            </a:lvl7pPr>
            <a:lvl8pPr>
              <a:defRPr sz="1950" b="0">
                <a:solidFill>
                  <a:srgbClr val="263547"/>
                </a:solidFill>
                <a:latin typeface="Arial"/>
                <a:ea typeface="Arial"/>
                <a:cs typeface="Arial"/>
              </a:defRPr>
            </a:lvl8pPr>
            <a:lvl9pPr>
              <a:defRPr sz="1950" b="0">
                <a:solidFill>
                  <a:srgbClr val="263547"/>
                </a:solidFill>
                <a:latin typeface="Arial"/>
                <a:ea typeface="Arial"/>
                <a:cs typeface="Arial"/>
              </a:defRPr>
            </a:lvl9pPr>
          </a:lstStyle>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Reproducible scheduling, raw-result collection, cost accounting and two-stage task allocation.</a:t>
            </a:r>
          </a:p>
        </p:txBody>
      </p:sp>
      <p:sp>
        <p:nvSpPr>
          <p:cNvPr id="11" name="">
            <a:extLst xmlns:a="http://schemas.openxmlformats.org/drawingml/2006/main">
              <a:ext uri="{FF2B5EF4-FFF2-40B4-BE49-F238E27FC236}">
                <a16:creationId xmlns:a16="http://schemas.microsoft.com/office/drawing/2014/main" id="{AB7344E1-3FE6-4C6A-A78D-A71E9CD629BC}"/>
              </a:ext>
            </a:extLst>
          </p:cNvPr>
          <p:cNvSpPr>
            <a:spLocks xmlns:a="http://schemas.openxmlformats.org/drawingml/2006/main" noGrp="1"/>
          </p:cNvSpPr>
          <p:nvPr/>
        </p:nvSpPr>
        <p:spPr>
          <a:xfrm xmlns:a="http://schemas.openxmlformats.org/drawingml/2006/main">
            <a:off x="6429375" y="43243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What the evidence supports</a:t>
            </a:r>
          </a:p>
        </p:txBody>
      </p:sp>
      <p:sp>
        <p:nvSpPr>
          <p:cNvPr id="12" name="">
            <a:extLst xmlns:a="http://schemas.openxmlformats.org/drawingml/2006/main">
              <a:ext uri="{FF2B5EF4-FFF2-40B4-BE49-F238E27FC236}">
                <a16:creationId xmlns:a16="http://schemas.microsoft.com/office/drawing/2014/main" id="{4CA1C27D-1E7B-4F9D-90DB-B164DBA1D070}"/>
              </a:ext>
            </a:extLst>
          </p:cNvPr>
          <p:cNvSpPr>
            <a:spLocks xmlns:a="http://schemas.openxmlformats.org/drawingml/2006/main" noGrp="1"/>
          </p:cNvSpPr>
          <p:nvPr/>
        </p:nvSpPr>
        <p:spPr>
          <a:xfrm xmlns:a="http://schemas.openxmlformats.org/drawingml/2006/main">
            <a:off x="6429375" y="4743450"/>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547"/>
                </a:solidFill>
                <a:latin typeface="Arial"/>
                <a:ea typeface="Arial"/>
                <a:cs typeface="Arial"/>
              </a:defRPr>
            </a:defPPr>
            <a:lvl1pPr>
              <a:defRPr sz="1950" b="0">
                <a:solidFill>
                  <a:srgbClr val="263547"/>
                </a:solidFill>
                <a:latin typeface="Arial"/>
                <a:ea typeface="Arial"/>
                <a:cs typeface="Arial"/>
              </a:defRPr>
            </a:lvl1pPr>
            <a:lvl2pPr>
              <a:defRPr sz="1950" b="0">
                <a:solidFill>
                  <a:srgbClr val="263547"/>
                </a:solidFill>
                <a:latin typeface="Arial"/>
                <a:ea typeface="Arial"/>
                <a:cs typeface="Arial"/>
              </a:defRPr>
            </a:lvl2pPr>
            <a:lvl3pPr>
              <a:defRPr sz="1950" b="0">
                <a:solidFill>
                  <a:srgbClr val="263547"/>
                </a:solidFill>
                <a:latin typeface="Arial"/>
                <a:ea typeface="Arial"/>
                <a:cs typeface="Arial"/>
              </a:defRPr>
            </a:lvl3pPr>
            <a:lvl4pPr>
              <a:defRPr sz="1950" b="0">
                <a:solidFill>
                  <a:srgbClr val="263547"/>
                </a:solidFill>
                <a:latin typeface="Arial"/>
                <a:ea typeface="Arial"/>
                <a:cs typeface="Arial"/>
              </a:defRPr>
            </a:lvl4pPr>
            <a:lvl5pPr>
              <a:defRPr sz="1950" b="0">
                <a:solidFill>
                  <a:srgbClr val="263547"/>
                </a:solidFill>
                <a:latin typeface="Arial"/>
                <a:ea typeface="Arial"/>
                <a:cs typeface="Arial"/>
              </a:defRPr>
            </a:lvl5pPr>
            <a:lvl6pPr>
              <a:defRPr sz="1950" b="0">
                <a:solidFill>
                  <a:srgbClr val="263547"/>
                </a:solidFill>
                <a:latin typeface="Arial"/>
                <a:ea typeface="Arial"/>
                <a:cs typeface="Arial"/>
              </a:defRPr>
            </a:lvl6pPr>
            <a:lvl7pPr>
              <a:defRPr sz="1950" b="0">
                <a:solidFill>
                  <a:srgbClr val="263547"/>
                </a:solidFill>
                <a:latin typeface="Arial"/>
                <a:ea typeface="Arial"/>
                <a:cs typeface="Arial"/>
              </a:defRPr>
            </a:lvl7pPr>
            <a:lvl8pPr>
              <a:defRPr sz="1950" b="0">
                <a:solidFill>
                  <a:srgbClr val="263547"/>
                </a:solidFill>
                <a:latin typeface="Arial"/>
                <a:ea typeface="Arial"/>
                <a:cs typeface="Arial"/>
              </a:defRPr>
            </a:lvl8pPr>
            <a:lvl9pPr>
              <a:defRPr sz="1950" b="0">
                <a:solidFill>
                  <a:srgbClr val="263547"/>
                </a:solidFill>
                <a:latin typeface="Arial"/>
                <a:ea typeface="Arial"/>
                <a:cs typeface="Arial"/>
              </a:defRPr>
            </a:lvl9pPr>
          </a:lstStyle>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A small-scale negative result with auditable failure cases—not a demonstrated optimizer advantage.</a:t>
            </a:r>
          </a:p>
        </p:txBody>
      </p:sp>
      <p:sp>
        <p:nvSpPr>
          <p:cNvPr id="13" name="">
            <a:extLst xmlns:a="http://schemas.openxmlformats.org/drawingml/2006/main">
              <a:ext uri="{FF2B5EF4-FFF2-40B4-BE49-F238E27FC236}">
                <a16:creationId xmlns:a16="http://schemas.microsoft.com/office/drawing/2014/main" id="{9CE2F402-367C-40E8-B610-32D74A6A9022}"/>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Success is defined by official task verification, not by fluent output or heuristic quality scores.</a:t>
            </a:r>
          </a:p>
        </p:txBody>
      </p:sp>
    </p:spTree>
    <p:extLst>
      <p:ext uri="{BB962C8B-B14F-4D97-AF65-F5344CB8AC3E}">
        <p14:creationId xmlns:p14="http://schemas.microsoft.com/office/powerpoint/2010/main" val="9482397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0BE0E01-F2B8-401D-9411-C703EE8B7C0B}"/>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Fixed execution stack and reproducible task split</a:t>
            </a:r>
          </a:p>
        </p:txBody>
      </p:sp>
      <p:sp>
        <p:nvSpPr>
          <p:cNvPr id="2" name="">
            <a:extLst xmlns:a="http://schemas.openxmlformats.org/drawingml/2006/main">
              <a:ext uri="{FF2B5EF4-FFF2-40B4-BE49-F238E27FC236}">
                <a16:creationId xmlns:a16="http://schemas.microsoft.com/office/drawing/2014/main" id="{959029D8-8112-4365-9ECE-EB08BDDE837A}"/>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Three validation tasks guide search; three different held-out tasks evaluate the frozen selection</a:t>
            </a:r>
          </a:p>
        </p:txBody>
      </p:sp>
      <p:sp>
        <p:nvSpPr>
          <p:cNvPr id="3" name="">
            <a:extLst xmlns:a="http://schemas.openxmlformats.org/drawingml/2006/main">
              <a:ext uri="{FF2B5EF4-FFF2-40B4-BE49-F238E27FC236}">
                <a16:creationId xmlns:a16="http://schemas.microsoft.com/office/drawing/2014/main" id="{904A09B2-FBFF-4CFD-A00C-DD993E62818A}"/>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A81BDC38-18B7-43E2-9DEE-CB2B331EAADA}"/>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2BFC5285-3771-42E0-853F-1C0441B947E5}"/>
              </a:ext>
            </a:extLst>
          </p:cNvPr>
          <p:cNvGraphicFramePr/>
          <p:nvPr/>
        </p:nvGraphicFramePr>
        <p:xfrm>
          <a:off xmlns:a="http://schemas.openxmlformats.org/drawingml/2006/main" x="609600" y="1743075"/>
          <a:ext xmlns:a="http://schemas.openxmlformats.org/drawingml/2006/main" cx="5314950" cy="3371850"/>
        </p:xfrm>
        <a:graphic xmlns:a="http://schemas.openxmlformats.org/drawingml/2006/main">
          <a:graphicData uri="http://schemas.openxmlformats.org/drawingml/2006/table">
            <a:tbl>
              <a:tblPr/>
              <a:tblGrid>
                <a:gridCol w="1714500"/>
                <a:gridCol w="3600450"/>
              </a:tblGrid>
              <a:tr h="561975">
                <a:tc>
                  <a:txBody>
                    <a:bodyPr/>
                    <a:lstStyle/>
                    <a:p>
                      <a:r>
                        <a:rPr sz="1725" b="1">
                          <a:solidFill>
                            <a:srgbClr val="FFFFFF"/>
                          </a:solidFill>
                          <a:latin typeface="Arial"/>
                          <a:ea typeface="Arial"/>
                          <a:cs typeface="Arial"/>
                        </a:rPr>
                        <a:t>Component</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725" b="1">
                          <a:solidFill>
                            <a:srgbClr val="FFFFFF"/>
                          </a:solidFill>
                          <a:latin typeface="Arial"/>
                          <a:ea typeface="Arial"/>
                          <a:cs typeface="Arial"/>
                        </a:rPr>
                        <a:t>Fixed setting</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561975">
                <a:tc>
                  <a:txBody>
                    <a:bodyPr/>
                    <a:lstStyle/>
                    <a:p>
                      <a:r>
                        <a:rPr sz="1725" b="0">
                          <a:solidFill>
                            <a:srgbClr val="263547"/>
                          </a:solidFill>
                          <a:latin typeface="Arial"/>
                          <a:ea typeface="Arial"/>
                          <a:cs typeface="Arial"/>
                        </a:rPr>
                        <a:t>Harness</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PI 0.81.0 / pi-acp 0.0.34</a:t>
                      </a:r>
                    </a:p>
                  </a:txBody>
                  <a:tcPr marL="91440" marR="91440" marT="45720" marB="45720">
                    <a:lnR w="6668">
                      <a:solidFill>
                        <a:srgbClr val="DCE4EB"/>
                      </a:solidFill>
                      <a:prstDash val="solid"/>
                    </a:lnR>
                    <a:lnB w="6668">
                      <a:solidFill>
                        <a:srgbClr val="DCE4EB"/>
                      </a:solidFill>
                      <a:prstDash val="solid"/>
                    </a:lnB>
                    <a:solidFill>
                      <a:srgbClr val="EFF3F7"/>
                    </a:solidFill>
                  </a:tcPr>
                </a:tc>
              </a:tr>
              <a:tr h="561975">
                <a:tc>
                  <a:txBody>
                    <a:bodyPr/>
                    <a:lstStyle/>
                    <a:p>
                      <a:r>
                        <a:rPr sz="1725" b="0">
                          <a:solidFill>
                            <a:srgbClr val="263547"/>
                          </a:solidFill>
                          <a:latin typeface="Arial"/>
                          <a:ea typeface="Arial"/>
                          <a:cs typeface="Arial"/>
                        </a:rPr>
                        <a:t>Orchestrator</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725" b="0">
                          <a:solidFill>
                            <a:srgbClr val="263547"/>
                          </a:solidFill>
                          <a:latin typeface="Arial"/>
                          <a:ea typeface="Arial"/>
                          <a:cs typeface="Arial"/>
                        </a:rPr>
                        <a:t>BenchFlow 0.6.3</a:t>
                      </a:r>
                    </a:p>
                  </a:txBody>
                  <a:tcPr marL="91440" marR="91440" marT="45720" marB="45720">
                    <a:lnR w="6668">
                      <a:solidFill>
                        <a:srgbClr val="DCE4EB"/>
                      </a:solidFill>
                      <a:prstDash val="solid"/>
                    </a:lnR>
                    <a:lnB w="6668">
                      <a:solidFill>
                        <a:srgbClr val="DCE4EB"/>
                      </a:solidFill>
                      <a:prstDash val="solid"/>
                    </a:lnB>
                    <a:solidFill>
                      <a:srgbClr val="FFFFFF"/>
                    </a:solidFill>
                  </a:tcPr>
                </a:tc>
              </a:tr>
              <a:tr h="561975">
                <a:tc>
                  <a:txBody>
                    <a:bodyPr/>
                    <a:lstStyle/>
                    <a:p>
                      <a:r>
                        <a:rPr sz="1725" b="0">
                          <a:solidFill>
                            <a:srgbClr val="263547"/>
                          </a:solidFill>
                          <a:latin typeface="Arial"/>
                          <a:ea typeface="Arial"/>
                          <a:cs typeface="Arial"/>
                        </a:rPr>
                        <a:t>Model</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qwen/qwen3-coder</a:t>
                      </a:r>
                    </a:p>
                  </a:txBody>
                  <a:tcPr marL="91440" marR="91440" marT="45720" marB="45720">
                    <a:lnR w="6668">
                      <a:solidFill>
                        <a:srgbClr val="DCE4EB"/>
                      </a:solidFill>
                      <a:prstDash val="solid"/>
                    </a:lnR>
                    <a:lnB w="6668">
                      <a:solidFill>
                        <a:srgbClr val="DCE4EB"/>
                      </a:solidFill>
                      <a:prstDash val="solid"/>
                    </a:lnB>
                    <a:solidFill>
                      <a:srgbClr val="EFF3F7"/>
                    </a:solidFill>
                  </a:tcPr>
                </a:tc>
              </a:tr>
              <a:tr h="561975">
                <a:tc>
                  <a:txBody>
                    <a:bodyPr/>
                    <a:lstStyle/>
                    <a:p>
                      <a:r>
                        <a:rPr sz="1725" b="0">
                          <a:solidFill>
                            <a:srgbClr val="263547"/>
                          </a:solidFill>
                          <a:latin typeface="Arial"/>
                          <a:ea typeface="Arial"/>
                          <a:cs typeface="Arial"/>
                        </a:rPr>
                        <a:t>Runtime</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725" b="0">
                          <a:solidFill>
                            <a:srgbClr val="263547"/>
                          </a:solidFill>
                          <a:latin typeface="Arial"/>
                          <a:ea typeface="Arial"/>
                          <a:cs typeface="Arial"/>
                        </a:rPr>
                        <a:t>Docker; no-skill; single-shot</a:t>
                      </a:r>
                    </a:p>
                  </a:txBody>
                  <a:tcPr marL="91440" marR="91440" marT="45720" marB="45720">
                    <a:lnR w="6668">
                      <a:solidFill>
                        <a:srgbClr val="DCE4EB"/>
                      </a:solidFill>
                      <a:prstDash val="solid"/>
                    </a:lnR>
                    <a:lnB w="6668">
                      <a:solidFill>
                        <a:srgbClr val="DCE4EB"/>
                      </a:solidFill>
                      <a:prstDash val="solid"/>
                    </a:lnB>
                    <a:solidFill>
                      <a:srgbClr val="FFFFFF"/>
                    </a:solidFill>
                  </a:tcPr>
                </a:tc>
              </a:tr>
              <a:tr h="561975">
                <a:tc>
                  <a:txBody>
                    <a:bodyPr/>
                    <a:lstStyle/>
                    <a:p>
                      <a:r>
                        <a:rPr sz="1725" b="0">
                          <a:solidFill>
                            <a:srgbClr val="263547"/>
                          </a:solidFill>
                          <a:latin typeface="Arial"/>
                          <a:ea typeface="Arial"/>
                          <a:cs typeface="Arial"/>
                        </a:rPr>
                        <a:t>Concurrency</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1</a:t>
                      </a:r>
                    </a:p>
                  </a:txBody>
                  <a:tcPr marL="91440" marR="91440" marT="45720" marB="45720">
                    <a:lnR w="6668">
                      <a:solidFill>
                        <a:srgbClr val="DCE4EB"/>
                      </a:solidFill>
                      <a:prstDash val="solid"/>
                    </a:lnR>
                    <a:lnB w="6668">
                      <a:solidFill>
                        <a:srgbClr val="DCE4EB"/>
                      </a:solidFill>
                      <a:prstDash val="solid"/>
                    </a:lnB>
                    <a:solidFill>
                      <a:srgbClr val="EFF3F7"/>
                    </a:solidFill>
                  </a:tcPr>
                </a:tc>
              </a:tr>
            </a:tbl>
          </a:graphicData>
        </a:graphic>
      </p:graphicFrame>
      <p:sp>
        <p:nvSpPr>
          <p:cNvPr id="6" name="">
            <a:extLst xmlns:a="http://schemas.openxmlformats.org/drawingml/2006/main">
              <a:ext uri="{FF2B5EF4-FFF2-40B4-BE49-F238E27FC236}">
                <a16:creationId xmlns:a16="http://schemas.microsoft.com/office/drawing/2014/main" id="{447AA739-7784-4D2F-B204-B894DE5E406C}"/>
              </a:ext>
            </a:extLst>
          </p:cNvPr>
          <p:cNvSpPr>
            <a:spLocks xmlns:a="http://schemas.openxmlformats.org/drawingml/2006/main" noGrp="1"/>
          </p:cNvSpPr>
          <p:nvPr/>
        </p:nvSpPr>
        <p:spPr>
          <a:xfrm xmlns:a="http://schemas.openxmlformats.org/drawingml/2006/main">
            <a:off x="6381750" y="17716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Validation tasks</a:t>
            </a:r>
          </a:p>
        </p:txBody>
      </p:sp>
      <p:sp>
        <p:nvSpPr>
          <p:cNvPr id="7" name="">
            <a:extLst xmlns:a="http://schemas.openxmlformats.org/drawingml/2006/main">
              <a:ext uri="{FF2B5EF4-FFF2-40B4-BE49-F238E27FC236}">
                <a16:creationId xmlns:a16="http://schemas.microsoft.com/office/drawing/2014/main" id="{B3075D74-D15A-43C0-AECA-B48F7E5CFF1F}"/>
              </a:ext>
            </a:extLst>
          </p:cNvPr>
          <p:cNvSpPr>
            <a:spLocks xmlns:a="http://schemas.openxmlformats.org/drawingml/2006/main" noGrp="1"/>
          </p:cNvSpPr>
          <p:nvPr/>
        </p:nvSpPr>
        <p:spPr>
          <a:xfrm xmlns:a="http://schemas.openxmlformats.org/drawingml/2006/main">
            <a:off x="6381750" y="219075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63547"/>
                </a:solidFill>
                <a:latin typeface="Arial"/>
                <a:ea typeface="Arial"/>
                <a:cs typeface="Arial"/>
              </a:defRPr>
            </a:defPPr>
            <a:lvl1pPr>
              <a:defRPr sz="1875" b="0">
                <a:solidFill>
                  <a:srgbClr val="263547"/>
                </a:solidFill>
                <a:latin typeface="Arial"/>
                <a:ea typeface="Arial"/>
                <a:cs typeface="Arial"/>
              </a:defRPr>
            </a:lvl1pPr>
            <a:lvl2pPr>
              <a:defRPr sz="1875" b="0">
                <a:solidFill>
                  <a:srgbClr val="263547"/>
                </a:solidFill>
                <a:latin typeface="Arial"/>
                <a:ea typeface="Arial"/>
                <a:cs typeface="Arial"/>
              </a:defRPr>
            </a:lvl2pPr>
            <a:lvl3pPr>
              <a:defRPr sz="1875" b="0">
                <a:solidFill>
                  <a:srgbClr val="263547"/>
                </a:solidFill>
                <a:latin typeface="Arial"/>
                <a:ea typeface="Arial"/>
                <a:cs typeface="Arial"/>
              </a:defRPr>
            </a:lvl3pPr>
            <a:lvl4pPr>
              <a:defRPr sz="1875" b="0">
                <a:solidFill>
                  <a:srgbClr val="263547"/>
                </a:solidFill>
                <a:latin typeface="Arial"/>
                <a:ea typeface="Arial"/>
                <a:cs typeface="Arial"/>
              </a:defRPr>
            </a:lvl4pPr>
            <a:lvl5pPr>
              <a:defRPr sz="1875" b="0">
                <a:solidFill>
                  <a:srgbClr val="263547"/>
                </a:solidFill>
                <a:latin typeface="Arial"/>
                <a:ea typeface="Arial"/>
                <a:cs typeface="Arial"/>
              </a:defRPr>
            </a:lvl5pPr>
            <a:lvl6pPr>
              <a:defRPr sz="1875" b="0">
                <a:solidFill>
                  <a:srgbClr val="263547"/>
                </a:solidFill>
                <a:latin typeface="Arial"/>
                <a:ea typeface="Arial"/>
                <a:cs typeface="Arial"/>
              </a:defRPr>
            </a:lvl6pPr>
            <a:lvl7pPr>
              <a:defRPr sz="1875" b="0">
                <a:solidFill>
                  <a:srgbClr val="263547"/>
                </a:solidFill>
                <a:latin typeface="Arial"/>
                <a:ea typeface="Arial"/>
                <a:cs typeface="Arial"/>
              </a:defRPr>
            </a:lvl7pPr>
            <a:lvl8pPr>
              <a:defRPr sz="1875" b="0">
                <a:solidFill>
                  <a:srgbClr val="263547"/>
                </a:solidFill>
                <a:latin typeface="Arial"/>
                <a:ea typeface="Arial"/>
                <a:cs typeface="Arial"/>
              </a:defRPr>
            </a:lvl8pPr>
            <a:lvl9pPr>
              <a:defRPr sz="1875" b="0">
                <a:solidFill>
                  <a:srgbClr val="263547"/>
                </a:solidFill>
                <a:latin typeface="Arial"/>
                <a:ea typeface="Arial"/>
                <a:cs typeface="Arial"/>
              </a:defRPr>
            </a:lvl9pPr>
          </a:lstStyle>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financial-modeling-qa</a:t>
            </a:r>
          </a:p>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jax-computing-basics</a:t>
            </a:r>
          </a:p>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travel-planning</a:t>
            </a:r>
          </a:p>
        </p:txBody>
      </p:sp>
      <p:sp>
        <p:nvSpPr>
          <p:cNvPr id="8" name="">
            <a:extLst xmlns:a="http://schemas.openxmlformats.org/drawingml/2006/main">
              <a:ext uri="{FF2B5EF4-FFF2-40B4-BE49-F238E27FC236}">
                <a16:creationId xmlns:a16="http://schemas.microsoft.com/office/drawing/2014/main" id="{2FD7061A-7D2A-4C46-98D9-19712C6BED9A}"/>
              </a:ext>
            </a:extLst>
          </p:cNvPr>
          <p:cNvSpPr>
            <a:spLocks xmlns:a="http://schemas.openxmlformats.org/drawingml/2006/main" noGrp="1"/>
          </p:cNvSpPr>
          <p:nvPr/>
        </p:nvSpPr>
        <p:spPr>
          <a:xfrm xmlns:a="http://schemas.openxmlformats.org/drawingml/2006/main">
            <a:off x="6381750" y="3724275"/>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Held-out tasks</a:t>
            </a:r>
          </a:p>
        </p:txBody>
      </p:sp>
      <p:sp>
        <p:nvSpPr>
          <p:cNvPr id="9" name="">
            <a:extLst xmlns:a="http://schemas.openxmlformats.org/drawingml/2006/main">
              <a:ext uri="{FF2B5EF4-FFF2-40B4-BE49-F238E27FC236}">
                <a16:creationId xmlns:a16="http://schemas.microsoft.com/office/drawing/2014/main" id="{386AB9D6-04EA-4386-BA7A-EDE859B40DDE}"/>
              </a:ext>
            </a:extLst>
          </p:cNvPr>
          <p:cNvSpPr>
            <a:spLocks xmlns:a="http://schemas.openxmlformats.org/drawingml/2006/main" noGrp="1"/>
          </p:cNvSpPr>
          <p:nvPr/>
        </p:nvSpPr>
        <p:spPr>
          <a:xfrm xmlns:a="http://schemas.openxmlformats.org/drawingml/2006/main">
            <a:off x="6381750" y="414337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63547"/>
                </a:solidFill>
                <a:latin typeface="Arial"/>
                <a:ea typeface="Arial"/>
                <a:cs typeface="Arial"/>
              </a:defRPr>
            </a:defPPr>
            <a:lvl1pPr>
              <a:defRPr sz="1875" b="0">
                <a:solidFill>
                  <a:srgbClr val="263547"/>
                </a:solidFill>
                <a:latin typeface="Arial"/>
                <a:ea typeface="Arial"/>
                <a:cs typeface="Arial"/>
              </a:defRPr>
            </a:lvl1pPr>
            <a:lvl2pPr>
              <a:defRPr sz="1875" b="0">
                <a:solidFill>
                  <a:srgbClr val="263547"/>
                </a:solidFill>
                <a:latin typeface="Arial"/>
                <a:ea typeface="Arial"/>
                <a:cs typeface="Arial"/>
              </a:defRPr>
            </a:lvl2pPr>
            <a:lvl3pPr>
              <a:defRPr sz="1875" b="0">
                <a:solidFill>
                  <a:srgbClr val="263547"/>
                </a:solidFill>
                <a:latin typeface="Arial"/>
                <a:ea typeface="Arial"/>
                <a:cs typeface="Arial"/>
              </a:defRPr>
            </a:lvl3pPr>
            <a:lvl4pPr>
              <a:defRPr sz="1875" b="0">
                <a:solidFill>
                  <a:srgbClr val="263547"/>
                </a:solidFill>
                <a:latin typeface="Arial"/>
                <a:ea typeface="Arial"/>
                <a:cs typeface="Arial"/>
              </a:defRPr>
            </a:lvl4pPr>
            <a:lvl5pPr>
              <a:defRPr sz="1875" b="0">
                <a:solidFill>
                  <a:srgbClr val="263547"/>
                </a:solidFill>
                <a:latin typeface="Arial"/>
                <a:ea typeface="Arial"/>
                <a:cs typeface="Arial"/>
              </a:defRPr>
            </a:lvl5pPr>
            <a:lvl6pPr>
              <a:defRPr sz="1875" b="0">
                <a:solidFill>
                  <a:srgbClr val="263547"/>
                </a:solidFill>
                <a:latin typeface="Arial"/>
                <a:ea typeface="Arial"/>
                <a:cs typeface="Arial"/>
              </a:defRPr>
            </a:lvl6pPr>
            <a:lvl7pPr>
              <a:defRPr sz="1875" b="0">
                <a:solidFill>
                  <a:srgbClr val="263547"/>
                </a:solidFill>
                <a:latin typeface="Arial"/>
                <a:ea typeface="Arial"/>
                <a:cs typeface="Arial"/>
              </a:defRPr>
            </a:lvl7pPr>
            <a:lvl8pPr>
              <a:defRPr sz="1875" b="0">
                <a:solidFill>
                  <a:srgbClr val="263547"/>
                </a:solidFill>
                <a:latin typeface="Arial"/>
                <a:ea typeface="Arial"/>
                <a:cs typeface="Arial"/>
              </a:defRPr>
            </a:lvl8pPr>
            <a:lvl9pPr>
              <a:defRPr sz="1875" b="0">
                <a:solidFill>
                  <a:srgbClr val="263547"/>
                </a:solidFill>
                <a:latin typeface="Arial"/>
                <a:ea typeface="Arial"/>
                <a:cs typeface="Arial"/>
              </a:defRPr>
            </a:lvl9pPr>
          </a:lstStyle>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python-scala-translation</a:t>
            </a:r>
          </a:p>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reserves-at-risk-calc</a:t>
            </a:r>
          </a:p>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threejs-structure-parser</a:t>
            </a:r>
          </a:p>
        </p:txBody>
      </p:sp>
      <p:sp>
        <p:nvSpPr>
          <p:cNvPr id="10" name="">
            <a:extLst xmlns:a="http://schemas.openxmlformats.org/drawingml/2006/main">
              <a:ext uri="{FF2B5EF4-FFF2-40B4-BE49-F238E27FC236}">
                <a16:creationId xmlns:a16="http://schemas.microsoft.com/office/drawing/2014/main" id="{469530B9-7482-4AF2-AFFF-720695AB5749}"/>
              </a:ext>
            </a:extLst>
          </p:cNvPr>
          <p:cNvSpPr>
            <a:spLocks xmlns:a="http://schemas.openxmlformats.org/drawingml/2006/main" noGrp="1"/>
          </p:cNvSpPr>
          <p:nvPr/>
        </p:nvSpPr>
        <p:spPr>
          <a:xfrm xmlns:a="http://schemas.openxmlformats.org/drawingml/2006/main">
            <a:off x="647700" y="53816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86779"/>
                </a:solidFill>
                <a:latin typeface="Arial"/>
                <a:ea typeface="Arial"/>
                <a:cs typeface="Arial"/>
              </a:defRPr>
            </a:defPPr>
            <a:lvl1pPr>
              <a:defRPr sz="1500" b="0">
                <a:solidFill>
                  <a:srgbClr val="586779"/>
                </a:solidFill>
                <a:latin typeface="Arial"/>
                <a:ea typeface="Arial"/>
                <a:cs typeface="Arial"/>
              </a:defRPr>
            </a:lvl1pPr>
            <a:lvl2pPr>
              <a:defRPr sz="1500" b="0">
                <a:solidFill>
                  <a:srgbClr val="586779"/>
                </a:solidFill>
                <a:latin typeface="Arial"/>
                <a:ea typeface="Arial"/>
                <a:cs typeface="Arial"/>
              </a:defRPr>
            </a:lvl2pPr>
            <a:lvl3pPr>
              <a:defRPr sz="1500" b="0">
                <a:solidFill>
                  <a:srgbClr val="586779"/>
                </a:solidFill>
                <a:latin typeface="Arial"/>
                <a:ea typeface="Arial"/>
                <a:cs typeface="Arial"/>
              </a:defRPr>
            </a:lvl3pPr>
            <a:lvl4pPr>
              <a:defRPr sz="1500" b="0">
                <a:solidFill>
                  <a:srgbClr val="586779"/>
                </a:solidFill>
                <a:latin typeface="Arial"/>
                <a:ea typeface="Arial"/>
                <a:cs typeface="Arial"/>
              </a:defRPr>
            </a:lvl4pPr>
            <a:lvl5pPr>
              <a:defRPr sz="1500" b="0">
                <a:solidFill>
                  <a:srgbClr val="586779"/>
                </a:solidFill>
                <a:latin typeface="Arial"/>
                <a:ea typeface="Arial"/>
                <a:cs typeface="Arial"/>
              </a:defRPr>
            </a:lvl5pPr>
            <a:lvl6pPr>
              <a:defRPr sz="1500" b="0">
                <a:solidFill>
                  <a:srgbClr val="586779"/>
                </a:solidFill>
                <a:latin typeface="Arial"/>
                <a:ea typeface="Arial"/>
                <a:cs typeface="Arial"/>
              </a:defRPr>
            </a:lvl6pPr>
            <a:lvl7pPr>
              <a:defRPr sz="1500" b="0">
                <a:solidFill>
                  <a:srgbClr val="586779"/>
                </a:solidFill>
                <a:latin typeface="Arial"/>
                <a:ea typeface="Arial"/>
                <a:cs typeface="Arial"/>
              </a:defRPr>
            </a:lvl7pPr>
            <a:lvl8pPr>
              <a:defRPr sz="1500" b="0">
                <a:solidFill>
                  <a:srgbClr val="586779"/>
                </a:solidFill>
                <a:latin typeface="Arial"/>
                <a:ea typeface="Arial"/>
                <a:cs typeface="Arial"/>
              </a:defRPr>
            </a:lvl8pPr>
            <a:lvl9pPr>
              <a:defRPr sz="1500" b="0">
                <a:solidFill>
                  <a:srgbClr val="586779"/>
                </a:solidFill>
                <a:latin typeface="Arial"/>
                <a:ea typeface="Arial"/>
                <a:cs typeface="Arial"/>
              </a:defRPr>
            </a:lvl9pPr>
          </a:lstStyle>
          <a:p xmlns:a="http://schemas.openxmlformats.org/drawingml/2006/main">
            <a:pPr>
              <a:defRPr sz="1500" b="0">
                <a:solidFill>
                  <a:srgbClr val="586779"/>
                </a:solidFill>
                <a:latin typeface="Arial"/>
                <a:ea typeface="Arial"/>
                <a:cs typeface="Arial"/>
              </a:defRPr>
            </a:pPr>
            <a:r>
              <a:rPr sz="1500" b="0">
                <a:solidFill>
                  <a:srgbClr val="586779"/>
                </a:solidFill>
                <a:latin typeface="Arial"/>
                <a:ea typeface="Arial"/>
                <a:cs typeface="Arial"/>
              </a:rPr>
              <a:t>Pinned benchmark commit: b63b7b2850226b6aa4fb5929a8c1ac7bc4d9a6af</a:t>
            </a:r>
          </a:p>
        </p:txBody>
      </p:sp>
      <p:sp>
        <p:nvSpPr>
          <p:cNvPr id="11" name="">
            <a:extLst xmlns:a="http://schemas.openxmlformats.org/drawingml/2006/main">
              <a:ext uri="{FF2B5EF4-FFF2-40B4-BE49-F238E27FC236}">
                <a16:creationId xmlns:a16="http://schemas.microsoft.com/office/drawing/2014/main" id="{AC48AC6B-59BA-4951-A242-C9C67646BB5A}"/>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600-second agent limit on final tasks; original resource and verifier settings retained.</a:t>
            </a:r>
          </a:p>
        </p:txBody>
      </p:sp>
    </p:spTree>
    <p:extLst>
      <p:ext uri="{BB962C8B-B14F-4D97-AF65-F5344CB8AC3E}">
        <p14:creationId xmlns:p14="http://schemas.microsoft.com/office/powerpoint/2010/main" val="21436423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4E9C6EE-E7A4-41CF-96E9-C7BB99E184AF}"/>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Exposed parameters and configuration selection</a:t>
            </a:r>
          </a:p>
        </p:txBody>
      </p:sp>
      <p:sp>
        <p:nvSpPr>
          <p:cNvPr id="2" name="">
            <a:extLst xmlns:a="http://schemas.openxmlformats.org/drawingml/2006/main">
              <a:ext uri="{FF2B5EF4-FFF2-40B4-BE49-F238E27FC236}">
                <a16:creationId xmlns:a16="http://schemas.microsoft.com/office/drawing/2014/main" id="{535C851C-8B24-4EBF-8775-5E4F35EB1D56}"/>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A 3 × 3 configuration space; complete validation results determine eligibility</a:t>
            </a:r>
          </a:p>
        </p:txBody>
      </p:sp>
      <p:sp>
        <p:nvSpPr>
          <p:cNvPr id="3" name="">
            <a:extLst xmlns:a="http://schemas.openxmlformats.org/drawingml/2006/main">
              <a:ext uri="{FF2B5EF4-FFF2-40B4-BE49-F238E27FC236}">
                <a16:creationId xmlns:a16="http://schemas.microsoft.com/office/drawing/2014/main" id="{9EDC56D2-2EB0-4C09-873A-D81461F90E8D}"/>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81C3569E-040A-4D68-825A-91A189736B0C}"/>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E27138EE-EAAA-4D79-B533-5517DC933811}"/>
              </a:ext>
            </a:extLst>
          </p:cNvPr>
          <p:cNvGraphicFramePr/>
          <p:nvPr/>
        </p:nvGraphicFramePr>
        <p:xfrm>
          <a:off xmlns:a="http://schemas.openxmlformats.org/drawingml/2006/main" x="609600" y="1809750"/>
          <a:ext xmlns:a="http://schemas.openxmlformats.org/drawingml/2006/main" cx="5314950" cy="2171700"/>
        </p:xfrm>
        <a:graphic xmlns:a="http://schemas.openxmlformats.org/drawingml/2006/main">
          <a:graphicData uri="http://schemas.openxmlformats.org/drawingml/2006/table">
            <a:tbl>
              <a:tblPr/>
              <a:tblGrid>
                <a:gridCol w="2095500"/>
                <a:gridCol w="3219450"/>
              </a:tblGrid>
              <a:tr h="723900">
                <a:tc>
                  <a:txBody>
                    <a:bodyPr/>
                    <a:lstStyle/>
                    <a:p>
                      <a:r>
                        <a:rPr sz="2025" b="1">
                          <a:solidFill>
                            <a:srgbClr val="FFFFFF"/>
                          </a:solidFill>
                          <a:latin typeface="Arial"/>
                          <a:ea typeface="Arial"/>
                          <a:cs typeface="Arial"/>
                        </a:rPr>
                        <a:t>Field</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2025" b="1">
                          <a:solidFill>
                            <a:srgbClr val="FFFFFF"/>
                          </a:solidFill>
                          <a:latin typeface="Arial"/>
                          <a:ea typeface="Arial"/>
                          <a:cs typeface="Arial"/>
                        </a:rPr>
                        <a:t>Declared values</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723900">
                <a:tc>
                  <a:txBody>
                    <a:bodyPr/>
                    <a:lstStyle/>
                    <a:p>
                      <a:r>
                        <a:rPr sz="2025" b="0">
                          <a:solidFill>
                            <a:srgbClr val="263547"/>
                          </a:solidFill>
                          <a:latin typeface="Arial"/>
                          <a:ea typeface="Arial"/>
                          <a:cs typeface="Arial"/>
                        </a:rPr>
                        <a:t>contextWindow</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2025" b="0">
                          <a:solidFill>
                            <a:srgbClr val="263547"/>
                          </a:solidFill>
                          <a:latin typeface="Arial"/>
                          <a:ea typeface="Arial"/>
                          <a:cs typeface="Arial"/>
                        </a:rPr>
                        <a:t>64k / 96k / 128k</a:t>
                      </a:r>
                    </a:p>
                  </a:txBody>
                  <a:tcPr marL="91440" marR="91440" marT="45720" marB="45720">
                    <a:lnR w="6668">
                      <a:solidFill>
                        <a:srgbClr val="DCE4EB"/>
                      </a:solidFill>
                      <a:prstDash val="solid"/>
                    </a:lnR>
                    <a:lnB w="6668">
                      <a:solidFill>
                        <a:srgbClr val="DCE4EB"/>
                      </a:solidFill>
                      <a:prstDash val="solid"/>
                    </a:lnB>
                    <a:solidFill>
                      <a:srgbClr val="EFF3F7"/>
                    </a:solidFill>
                  </a:tcPr>
                </a:tc>
              </a:tr>
              <a:tr h="723900">
                <a:tc>
                  <a:txBody>
                    <a:bodyPr/>
                    <a:lstStyle/>
                    <a:p>
                      <a:r>
                        <a:rPr sz="2025" b="0">
                          <a:solidFill>
                            <a:srgbClr val="263547"/>
                          </a:solidFill>
                          <a:latin typeface="Arial"/>
                          <a:ea typeface="Arial"/>
                          <a:cs typeface="Arial"/>
                        </a:rPr>
                        <a:t>maxTokens</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2025" b="0">
                          <a:solidFill>
                            <a:srgbClr val="263547"/>
                          </a:solidFill>
                          <a:latin typeface="Arial"/>
                          <a:ea typeface="Arial"/>
                          <a:cs typeface="Arial"/>
                        </a:rPr>
                        <a:t>4096 / 8192 / 16384</a:t>
                      </a:r>
                    </a:p>
                  </a:txBody>
                  <a:tcPr marL="91440" marR="91440" marT="45720" marB="45720">
                    <a:lnR w="6668">
                      <a:solidFill>
                        <a:srgbClr val="DCE4EB"/>
                      </a:solidFill>
                      <a:prstDash val="solid"/>
                    </a:lnR>
                    <a:lnB w="6668">
                      <a:solidFill>
                        <a:srgbClr val="DCE4EB"/>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85F4379-B4A6-44FF-97BD-5512C8C4150C}"/>
              </a:ext>
            </a:extLst>
          </p:cNvPr>
          <p:cNvSpPr>
            <a:spLocks xmlns:a="http://schemas.openxmlformats.org/drawingml/2006/main" noGrp="1"/>
          </p:cNvSpPr>
          <p:nvPr/>
        </p:nvSpPr>
        <p:spPr>
          <a:xfrm xmlns:a="http://schemas.openxmlformats.org/drawingml/2006/main">
            <a:off x="647700" y="432435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Configuration interface</a:t>
            </a:r>
          </a:p>
        </p:txBody>
      </p:sp>
      <p:sp>
        <p:nvSpPr>
          <p:cNvPr id="7" name="">
            <a:extLst xmlns:a="http://schemas.openxmlformats.org/drawingml/2006/main">
              <a:ext uri="{FF2B5EF4-FFF2-40B4-BE49-F238E27FC236}">
                <a16:creationId xmlns:a16="http://schemas.microsoft.com/office/drawing/2014/main" id="{30776818-BC24-4075-8E3C-A56A3E0CCBD3}"/>
              </a:ext>
            </a:extLst>
          </p:cNvPr>
          <p:cNvSpPr>
            <a:spLocks xmlns:a="http://schemas.openxmlformats.org/drawingml/2006/main" noGrp="1"/>
          </p:cNvSpPr>
          <p:nvPr/>
        </p:nvSpPr>
        <p:spPr>
          <a:xfrm xmlns:a="http://schemas.openxmlformats.org/drawingml/2006/main">
            <a:off x="647700" y="474345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547"/>
                </a:solidFill>
                <a:latin typeface="Arial"/>
                <a:ea typeface="Arial"/>
                <a:cs typeface="Arial"/>
              </a:defRPr>
            </a:defPPr>
            <a:lvl1pPr>
              <a:defRPr sz="1725" b="0">
                <a:solidFill>
                  <a:srgbClr val="263547"/>
                </a:solidFill>
                <a:latin typeface="Arial"/>
                <a:ea typeface="Arial"/>
                <a:cs typeface="Arial"/>
              </a:defRPr>
            </a:lvl1pPr>
            <a:lvl2pPr>
              <a:defRPr sz="1725" b="0">
                <a:solidFill>
                  <a:srgbClr val="263547"/>
                </a:solidFill>
                <a:latin typeface="Arial"/>
                <a:ea typeface="Arial"/>
                <a:cs typeface="Arial"/>
              </a:defRPr>
            </a:lvl2pPr>
            <a:lvl3pPr>
              <a:defRPr sz="1725" b="0">
                <a:solidFill>
                  <a:srgbClr val="263547"/>
                </a:solidFill>
                <a:latin typeface="Arial"/>
                <a:ea typeface="Arial"/>
                <a:cs typeface="Arial"/>
              </a:defRPr>
            </a:lvl3pPr>
            <a:lvl4pPr>
              <a:defRPr sz="1725" b="0">
                <a:solidFill>
                  <a:srgbClr val="263547"/>
                </a:solidFill>
                <a:latin typeface="Arial"/>
                <a:ea typeface="Arial"/>
                <a:cs typeface="Arial"/>
              </a:defRPr>
            </a:lvl4pPr>
            <a:lvl5pPr>
              <a:defRPr sz="1725" b="0">
                <a:solidFill>
                  <a:srgbClr val="263547"/>
                </a:solidFill>
                <a:latin typeface="Arial"/>
                <a:ea typeface="Arial"/>
                <a:cs typeface="Arial"/>
              </a:defRPr>
            </a:lvl5pPr>
            <a:lvl6pPr>
              <a:defRPr sz="1725" b="0">
                <a:solidFill>
                  <a:srgbClr val="263547"/>
                </a:solidFill>
                <a:latin typeface="Arial"/>
                <a:ea typeface="Arial"/>
                <a:cs typeface="Arial"/>
              </a:defRPr>
            </a:lvl6pPr>
            <a:lvl7pPr>
              <a:defRPr sz="1725" b="0">
                <a:solidFill>
                  <a:srgbClr val="263547"/>
                </a:solidFill>
                <a:latin typeface="Arial"/>
                <a:ea typeface="Arial"/>
                <a:cs typeface="Arial"/>
              </a:defRPr>
            </a:lvl7pPr>
            <a:lvl8pPr>
              <a:defRPr sz="1725" b="0">
                <a:solidFill>
                  <a:srgbClr val="263547"/>
                </a:solidFill>
                <a:latin typeface="Arial"/>
                <a:ea typeface="Arial"/>
                <a:cs typeface="Arial"/>
              </a:defRPr>
            </a:lvl8pPr>
            <a:lvl9pPr>
              <a:defRPr sz="1725" b="0">
                <a:solidFill>
                  <a:srgbClr val="263547"/>
                </a:solidFill>
                <a:latin typeface="Arial"/>
                <a:ea typeface="Arial"/>
                <a:cs typeface="Arial"/>
              </a:defRPr>
            </a:lvl9pPr>
          </a:lstStyle>
          <a:p xmlns:a="http://schemas.openxmlformats.org/drawingml/2006/main">
            <a:pPr>
              <a:defRPr sz="1725" b="0">
                <a:solidFill>
                  <a:srgbClr val="263547"/>
                </a:solidFill>
                <a:latin typeface="Arial"/>
                <a:ea typeface="Arial"/>
                <a:cs typeface="Arial"/>
              </a:defRPr>
            </a:pPr>
            <a:r>
              <a:rPr sz="1725" b="0">
                <a:solidFill>
                  <a:srgbClr val="263547"/>
                </a:solidFill>
                <a:latin typeface="Arial"/>
                <a:ea typeface="Arial"/>
                <a:cs typeface="Arial"/>
              </a:rPr>
              <a:t>BENCHFLOW_PROVIDER_MODELS</a:t>
            </a:r>
          </a:p>
          <a:p xmlns:a="http://schemas.openxmlformats.org/drawingml/2006/main">
            <a:pPr>
              <a:defRPr sz="1725" b="0">
                <a:solidFill>
                  <a:srgbClr val="263547"/>
                </a:solidFill>
                <a:latin typeface="Arial"/>
                <a:ea typeface="Arial"/>
                <a:cs typeface="Arial"/>
              </a:defRPr>
            </a:pPr>
            <a:r>
              <a:rPr sz="1725" b="0">
                <a:solidFill>
                  <a:srgbClr val="263547"/>
                </a:solidFill>
                <a:latin typeface="Arial"/>
                <a:ea typeface="Arial"/>
                <a:cs typeface="Arial"/>
              </a:rPr>
              <a:t>→ generated PI provider-model settings</a:t>
            </a:r>
          </a:p>
          <a:p xmlns:a="http://schemas.openxmlformats.org/drawingml/2006/main">
            <a:pPr>
              <a:defRPr sz="1725" b="0">
                <a:solidFill>
                  <a:srgbClr val="263547"/>
                </a:solidFill>
                <a:latin typeface="Arial"/>
                <a:ea typeface="Arial"/>
                <a:cs typeface="Arial"/>
              </a:defRPr>
            </a:pPr>
            <a:r>
              <a:rPr sz="1725" b="0">
                <a:solidFill>
                  <a:srgbClr val="263547"/>
                </a:solidFill>
                <a:latin typeface="Arial"/>
                <a:ea typeface="Arial"/>
                <a:cs typeface="Arial"/>
              </a:rPr>
              <a:t>Default: no parameter override</a:t>
            </a:r>
          </a:p>
        </p:txBody>
      </p:sp>
      <p:sp>
        <p:nvSpPr>
          <p:cNvPr id="8" name="">
            <a:extLst xmlns:a="http://schemas.openxmlformats.org/drawingml/2006/main">
              <a:ext uri="{FF2B5EF4-FFF2-40B4-BE49-F238E27FC236}">
                <a16:creationId xmlns:a16="http://schemas.microsoft.com/office/drawing/2014/main" id="{076A82A6-8AA7-4D39-B390-6F01B959D523}"/>
              </a:ext>
            </a:extLst>
          </p:cNvPr>
          <p:cNvSpPr>
            <a:spLocks xmlns:a="http://schemas.openxmlformats.org/drawingml/2006/main" noGrp="1"/>
          </p:cNvSpPr>
          <p:nvPr/>
        </p:nvSpPr>
        <p:spPr>
          <a:xfrm xmlns:a="http://schemas.openxmlformats.org/drawingml/2006/main">
            <a:off x="6381750" y="179070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Eligibility before ranking</a:t>
            </a:r>
          </a:p>
        </p:txBody>
      </p:sp>
      <p:sp>
        <p:nvSpPr>
          <p:cNvPr id="9" name="">
            <a:extLst xmlns:a="http://schemas.openxmlformats.org/drawingml/2006/main">
              <a:ext uri="{FF2B5EF4-FFF2-40B4-BE49-F238E27FC236}">
                <a16:creationId xmlns:a16="http://schemas.microsoft.com/office/drawing/2014/main" id="{BF67EB9C-8FE0-4423-9905-F5B58D8E4A24}"/>
              </a:ext>
            </a:extLst>
          </p:cNvPr>
          <p:cNvSpPr>
            <a:spLocks xmlns:a="http://schemas.openxmlformats.org/drawingml/2006/main" noGrp="1"/>
          </p:cNvSpPr>
          <p:nvPr/>
        </p:nvSpPr>
        <p:spPr>
          <a:xfrm xmlns:a="http://schemas.openxmlformats.org/drawingml/2006/main">
            <a:off x="6381750" y="22098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547"/>
                </a:solidFill>
                <a:latin typeface="Arial"/>
                <a:ea typeface="Arial"/>
                <a:cs typeface="Arial"/>
              </a:defRPr>
            </a:defPPr>
            <a:lvl1pPr>
              <a:defRPr sz="1950" b="0">
                <a:solidFill>
                  <a:srgbClr val="263547"/>
                </a:solidFill>
                <a:latin typeface="Arial"/>
                <a:ea typeface="Arial"/>
                <a:cs typeface="Arial"/>
              </a:defRPr>
            </a:lvl1pPr>
            <a:lvl2pPr>
              <a:defRPr sz="1950" b="0">
                <a:solidFill>
                  <a:srgbClr val="263547"/>
                </a:solidFill>
                <a:latin typeface="Arial"/>
                <a:ea typeface="Arial"/>
                <a:cs typeface="Arial"/>
              </a:defRPr>
            </a:lvl2pPr>
            <a:lvl3pPr>
              <a:defRPr sz="1950" b="0">
                <a:solidFill>
                  <a:srgbClr val="263547"/>
                </a:solidFill>
                <a:latin typeface="Arial"/>
                <a:ea typeface="Arial"/>
                <a:cs typeface="Arial"/>
              </a:defRPr>
            </a:lvl3pPr>
            <a:lvl4pPr>
              <a:defRPr sz="1950" b="0">
                <a:solidFill>
                  <a:srgbClr val="263547"/>
                </a:solidFill>
                <a:latin typeface="Arial"/>
                <a:ea typeface="Arial"/>
                <a:cs typeface="Arial"/>
              </a:defRPr>
            </a:lvl4pPr>
            <a:lvl5pPr>
              <a:defRPr sz="1950" b="0">
                <a:solidFill>
                  <a:srgbClr val="263547"/>
                </a:solidFill>
                <a:latin typeface="Arial"/>
                <a:ea typeface="Arial"/>
                <a:cs typeface="Arial"/>
              </a:defRPr>
            </a:lvl5pPr>
            <a:lvl6pPr>
              <a:defRPr sz="1950" b="0">
                <a:solidFill>
                  <a:srgbClr val="263547"/>
                </a:solidFill>
                <a:latin typeface="Arial"/>
                <a:ea typeface="Arial"/>
                <a:cs typeface="Arial"/>
              </a:defRPr>
            </a:lvl6pPr>
            <a:lvl7pPr>
              <a:defRPr sz="1950" b="0">
                <a:solidFill>
                  <a:srgbClr val="263547"/>
                </a:solidFill>
                <a:latin typeface="Arial"/>
                <a:ea typeface="Arial"/>
                <a:cs typeface="Arial"/>
              </a:defRPr>
            </a:lvl7pPr>
            <a:lvl8pPr>
              <a:defRPr sz="1950" b="0">
                <a:solidFill>
                  <a:srgbClr val="263547"/>
                </a:solidFill>
                <a:latin typeface="Arial"/>
                <a:ea typeface="Arial"/>
                <a:cs typeface="Arial"/>
              </a:defRPr>
            </a:lvl8pPr>
            <a:lvl9pPr>
              <a:defRPr sz="1950" b="0">
                <a:solidFill>
                  <a:srgbClr val="263547"/>
                </a:solidFill>
                <a:latin typeface="Arial"/>
                <a:ea typeface="Arial"/>
                <a:cs typeface="Arial"/>
              </a:defRPr>
            </a:lvl9pPr>
          </a:lstStyle>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All 3 validation tasks must have valid scores.</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Missing outcomes are not replaced by zero.</a:t>
            </a:r>
          </a:p>
        </p:txBody>
      </p:sp>
      <p:sp>
        <p:nvSpPr>
          <p:cNvPr id="10" name="">
            <a:extLst xmlns:a="http://schemas.openxmlformats.org/drawingml/2006/main">
              <a:ext uri="{FF2B5EF4-FFF2-40B4-BE49-F238E27FC236}">
                <a16:creationId xmlns:a16="http://schemas.microsoft.com/office/drawing/2014/main" id="{F20BD01D-8038-4654-8621-6A853473B34F}"/>
              </a:ext>
            </a:extLst>
          </p:cNvPr>
          <p:cNvSpPr>
            <a:spLocks xmlns:a="http://schemas.openxmlformats.org/drawingml/2006/main" noGrp="1"/>
          </p:cNvSpPr>
          <p:nvPr/>
        </p:nvSpPr>
        <p:spPr>
          <a:xfrm xmlns:a="http://schemas.openxmlformats.org/drawingml/2006/main">
            <a:off x="6381750" y="36385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Tie-breaking order</a:t>
            </a:r>
          </a:p>
        </p:txBody>
      </p:sp>
      <p:sp>
        <p:nvSpPr>
          <p:cNvPr id="11" name="">
            <a:extLst xmlns:a="http://schemas.openxmlformats.org/drawingml/2006/main">
              <a:ext uri="{FF2B5EF4-FFF2-40B4-BE49-F238E27FC236}">
                <a16:creationId xmlns:a16="http://schemas.microsoft.com/office/drawing/2014/main" id="{6B1AC909-ACC7-44C7-8917-0A4F14E33998}"/>
              </a:ext>
            </a:extLst>
          </p:cNvPr>
          <p:cNvSpPr>
            <a:spLocks xmlns:a="http://schemas.openxmlformats.org/drawingml/2006/main" noGrp="1"/>
          </p:cNvSpPr>
          <p:nvPr/>
        </p:nvSpPr>
        <p:spPr>
          <a:xfrm xmlns:a="http://schemas.openxmlformats.org/drawingml/2006/main">
            <a:off x="6381750" y="4057650"/>
            <a:ext cx="514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547"/>
                </a:solidFill>
                <a:latin typeface="Arial"/>
                <a:ea typeface="Arial"/>
                <a:cs typeface="Arial"/>
              </a:defRPr>
            </a:defPPr>
            <a:lvl1pPr>
              <a:defRPr sz="1950" b="0">
                <a:solidFill>
                  <a:srgbClr val="263547"/>
                </a:solidFill>
                <a:latin typeface="Arial"/>
                <a:ea typeface="Arial"/>
                <a:cs typeface="Arial"/>
              </a:defRPr>
            </a:lvl1pPr>
            <a:lvl2pPr>
              <a:defRPr sz="1950" b="0">
                <a:solidFill>
                  <a:srgbClr val="263547"/>
                </a:solidFill>
                <a:latin typeface="Arial"/>
                <a:ea typeface="Arial"/>
                <a:cs typeface="Arial"/>
              </a:defRPr>
            </a:lvl2pPr>
            <a:lvl3pPr>
              <a:defRPr sz="1950" b="0">
                <a:solidFill>
                  <a:srgbClr val="263547"/>
                </a:solidFill>
                <a:latin typeface="Arial"/>
                <a:ea typeface="Arial"/>
                <a:cs typeface="Arial"/>
              </a:defRPr>
            </a:lvl3pPr>
            <a:lvl4pPr>
              <a:defRPr sz="1950" b="0">
                <a:solidFill>
                  <a:srgbClr val="263547"/>
                </a:solidFill>
                <a:latin typeface="Arial"/>
                <a:ea typeface="Arial"/>
                <a:cs typeface="Arial"/>
              </a:defRPr>
            </a:lvl4pPr>
            <a:lvl5pPr>
              <a:defRPr sz="1950" b="0">
                <a:solidFill>
                  <a:srgbClr val="263547"/>
                </a:solidFill>
                <a:latin typeface="Arial"/>
                <a:ea typeface="Arial"/>
                <a:cs typeface="Arial"/>
              </a:defRPr>
            </a:lvl5pPr>
            <a:lvl6pPr>
              <a:defRPr sz="1950" b="0">
                <a:solidFill>
                  <a:srgbClr val="263547"/>
                </a:solidFill>
                <a:latin typeface="Arial"/>
                <a:ea typeface="Arial"/>
                <a:cs typeface="Arial"/>
              </a:defRPr>
            </a:lvl6pPr>
            <a:lvl7pPr>
              <a:defRPr sz="1950" b="0">
                <a:solidFill>
                  <a:srgbClr val="263547"/>
                </a:solidFill>
                <a:latin typeface="Arial"/>
                <a:ea typeface="Arial"/>
                <a:cs typeface="Arial"/>
              </a:defRPr>
            </a:lvl7pPr>
            <a:lvl8pPr>
              <a:defRPr sz="1950" b="0">
                <a:solidFill>
                  <a:srgbClr val="263547"/>
                </a:solidFill>
                <a:latin typeface="Arial"/>
                <a:ea typeface="Arial"/>
                <a:cs typeface="Arial"/>
              </a:defRPr>
            </a:lvl8pPr>
            <a:lvl9pPr>
              <a:defRPr sz="1950" b="0">
                <a:solidFill>
                  <a:srgbClr val="263547"/>
                </a:solidFill>
                <a:latin typeface="Arial"/>
                <a:ea typeface="Arial"/>
                <a:cs typeface="Arial"/>
              </a:defRPr>
            </a:lvl9pPr>
          </a:lstStyle>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Strict passes → mean reward</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 lower observed candidate cost</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 earlier candidate index</a:t>
            </a:r>
          </a:p>
        </p:txBody>
      </p:sp>
      <p:sp>
        <p:nvSpPr>
          <p:cNvPr id="12" name="">
            <a:extLst xmlns:a="http://schemas.openxmlformats.org/drawingml/2006/main">
              <a:ext uri="{FF2B5EF4-FFF2-40B4-BE49-F238E27FC236}">
                <a16:creationId xmlns:a16="http://schemas.microsoft.com/office/drawing/2014/main" id="{4F51E689-5291-41A3-8EC2-CCFC5568EEE8}"/>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Objective: high validation task success under the declared evaluation and cost caps.</a:t>
            </a:r>
          </a:p>
        </p:txBody>
      </p:sp>
    </p:spTree>
    <p:extLst>
      <p:ext uri="{BB962C8B-B14F-4D97-AF65-F5344CB8AC3E}">
        <p14:creationId xmlns:p14="http://schemas.microsoft.com/office/powerpoint/2010/main" val="2165305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95D68D-F1DE-47C6-A4AE-EC20246FD42B}"/>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Comparison methods and declared budgets</a:t>
            </a:r>
          </a:p>
        </p:txBody>
      </p:sp>
      <p:sp>
        <p:nvSpPr>
          <p:cNvPr id="2" name="">
            <a:extLst xmlns:a="http://schemas.openxmlformats.org/drawingml/2006/main">
              <a:ext uri="{FF2B5EF4-FFF2-40B4-BE49-F238E27FC236}">
                <a16:creationId xmlns:a16="http://schemas.microsoft.com/office/drawing/2014/main" id="{C27B466F-D5E3-4623-B356-54B6ADF9CE1F}"/>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All search methods receive 9 planned task slots and a USD 1.50 admission ceiling</a:t>
            </a:r>
          </a:p>
        </p:txBody>
      </p:sp>
      <p:sp>
        <p:nvSpPr>
          <p:cNvPr id="3" name="">
            <a:extLst xmlns:a="http://schemas.openxmlformats.org/drawingml/2006/main">
              <a:ext uri="{FF2B5EF4-FFF2-40B4-BE49-F238E27FC236}">
                <a16:creationId xmlns:a16="http://schemas.microsoft.com/office/drawing/2014/main" id="{D0A3C2D1-75CE-4470-9FCD-C8F3BDC64F09}"/>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B7F74C72-3EC6-46C0-B1D9-99CCDBD07BF5}"/>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4496164C-B2EA-4EA0-8712-1F00BB663316}"/>
              </a:ext>
            </a:extLst>
          </p:cNvPr>
          <p:cNvGraphicFramePr/>
          <p:nvPr/>
        </p:nvGraphicFramePr>
        <p:xfrm>
          <a:off xmlns:a="http://schemas.openxmlformats.org/drawingml/2006/main" x="609600" y="1743075"/>
          <a:ext xmlns:a="http://schemas.openxmlformats.org/drawingml/2006/main" cx="10972800" cy="3000375"/>
        </p:xfrm>
        <a:graphic xmlns:a="http://schemas.openxmlformats.org/drawingml/2006/main">
          <a:graphicData uri="http://schemas.openxmlformats.org/drawingml/2006/table">
            <a:tbl>
              <a:tblPr/>
              <a:tblGrid>
                <a:gridCol w="2190750"/>
                <a:gridCol w="5048250"/>
                <a:gridCol w="2095500"/>
                <a:gridCol w="1638300"/>
              </a:tblGrid>
              <a:tr h="600075">
                <a:tc>
                  <a:txBody>
                    <a:bodyPr/>
                    <a:lstStyle/>
                    <a:p>
                      <a:r>
                        <a:rPr sz="1800" b="1">
                          <a:solidFill>
                            <a:srgbClr val="FFFFFF"/>
                          </a:solidFill>
                          <a:latin typeface="Arial"/>
                          <a:ea typeface="Arial"/>
                          <a:cs typeface="Arial"/>
                        </a:rPr>
                        <a:t>Method</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00" b="1">
                          <a:solidFill>
                            <a:srgbClr val="FFFFFF"/>
                          </a:solidFill>
                          <a:latin typeface="Arial"/>
                          <a:ea typeface="Arial"/>
                          <a:cs typeface="Arial"/>
                        </a:rPr>
                        <a:t>Configuration allocation</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00" b="1">
                          <a:solidFill>
                            <a:srgbClr val="FFFFFF"/>
                          </a:solidFill>
                          <a:latin typeface="Arial"/>
                          <a:ea typeface="Arial"/>
                          <a:cs typeface="Arial"/>
                        </a:rPr>
                        <a:t>Unique settings</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00" b="1">
                          <a:solidFill>
                            <a:srgbClr val="FFFFFF"/>
                          </a:solidFill>
                          <a:latin typeface="Arial"/>
                          <a:ea typeface="Arial"/>
                          <a:cs typeface="Arial"/>
                        </a:rPr>
                        <a:t>Launches</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600075">
                <a:tc>
                  <a:txBody>
                    <a:bodyPr/>
                    <a:lstStyle/>
                    <a:p>
                      <a:r>
                        <a:rPr sz="1800" b="0">
                          <a:solidFill>
                            <a:srgbClr val="263547"/>
                          </a:solidFill>
                          <a:latin typeface="Arial"/>
                          <a:ea typeface="Arial"/>
                          <a:cs typeface="Arial"/>
                        </a:rPr>
                        <a:t>Default</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No search / no overrides</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a:t>
                      </a:r>
                    </a:p>
                  </a:txBody>
                  <a:tcPr marL="91440" marR="91440" marT="45720" marB="45720">
                    <a:lnR w="6668">
                      <a:solidFill>
                        <a:srgbClr val="DCE4EB"/>
                      </a:solidFill>
                      <a:prstDash val="solid"/>
                    </a:lnR>
                    <a:lnB w="6668">
                      <a:solidFill>
                        <a:srgbClr val="DCE4EB"/>
                      </a:solidFill>
                      <a:prstDash val="solid"/>
                    </a:lnB>
                    <a:solidFill>
                      <a:srgbClr val="EFF3F7"/>
                    </a:solidFill>
                  </a:tcPr>
                </a:tc>
              </a:tr>
              <a:tr h="600075">
                <a:tc>
                  <a:txBody>
                    <a:bodyPr/>
                    <a:lstStyle/>
                    <a:p>
                      <a:r>
                        <a:rPr sz="1800" b="0">
                          <a:solidFill>
                            <a:srgbClr val="263547"/>
                          </a:solidFill>
                          <a:latin typeface="Arial"/>
                          <a:ea typeface="Arial"/>
                          <a:cs typeface="Arial"/>
                        </a:rPr>
                        <a:t>Random</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3 candidates × 3 validation tasks</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3</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10</a:t>
                      </a:r>
                    </a:p>
                  </a:txBody>
                  <a:tcPr marL="91440" marR="91440" marT="45720" marB="45720">
                    <a:lnR w="6668">
                      <a:solidFill>
                        <a:srgbClr val="DCE4EB"/>
                      </a:solidFill>
                      <a:prstDash val="solid"/>
                    </a:lnR>
                    <a:lnB w="6668">
                      <a:solidFill>
                        <a:srgbClr val="DCE4EB"/>
                      </a:solidFill>
                      <a:prstDash val="solid"/>
                    </a:lnB>
                    <a:solidFill>
                      <a:srgbClr val="FFFFFF"/>
                    </a:solidFill>
                  </a:tcPr>
                </a:tc>
              </a:tr>
              <a:tr h="600075">
                <a:tc>
                  <a:txBody>
                    <a:bodyPr/>
                    <a:lstStyle/>
                    <a:p>
                      <a:r>
                        <a:rPr sz="1800" b="0">
                          <a:solidFill>
                            <a:srgbClr val="263547"/>
                          </a:solidFill>
                          <a:latin typeface="Arial"/>
                          <a:ea typeface="Arial"/>
                          <a:cs typeface="Arial"/>
                        </a:rPr>
                        <a:t>Bayesian / TPE</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3 candidate records × 3 tasks</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1</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9</a:t>
                      </a:r>
                    </a:p>
                  </a:txBody>
                  <a:tcPr marL="91440" marR="91440" marT="45720" marB="45720">
                    <a:lnR w="6668">
                      <a:solidFill>
                        <a:srgbClr val="DCE4EB"/>
                      </a:solidFill>
                      <a:prstDash val="solid"/>
                    </a:lnR>
                    <a:lnB w="6668">
                      <a:solidFill>
                        <a:srgbClr val="DCE4EB"/>
                      </a:solidFill>
                      <a:prstDash val="solid"/>
                    </a:lnB>
                    <a:solidFill>
                      <a:srgbClr val="EFF3F7"/>
                    </a:solidFill>
                  </a:tcPr>
                </a:tc>
              </a:tr>
              <a:tr h="600075">
                <a:tc>
                  <a:txBody>
                    <a:bodyPr/>
                    <a:lstStyle/>
                    <a:p>
                      <a:r>
                        <a:rPr sz="1800" b="0">
                          <a:solidFill>
                            <a:srgbClr val="263547"/>
                          </a:solidFill>
                          <a:latin typeface="Arial"/>
                          <a:ea typeface="Arial"/>
                          <a:cs typeface="Arial"/>
                        </a:rPr>
                        <a:t>Multi-fidelity</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5 screens + 2 × 2 continuations</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5</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10</a:t>
                      </a:r>
                    </a:p>
                  </a:txBody>
                  <a:tcPr marL="91440" marR="91440" marT="45720" marB="45720">
                    <a:lnR w="6668">
                      <a:solidFill>
                        <a:srgbClr val="DCE4EB"/>
                      </a:solidFill>
                      <a:prstDash val="solid"/>
                    </a:lnR>
                    <a:lnB w="6668">
                      <a:solidFill>
                        <a:srgbClr val="DCE4EB"/>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5D507A8-8686-4801-906B-9D68F000B72B}"/>
              </a:ext>
            </a:extLst>
          </p:cNvPr>
          <p:cNvSpPr>
            <a:spLocks xmlns:a="http://schemas.openxmlformats.org/drawingml/2006/main" noGrp="1"/>
          </p:cNvSpPr>
          <p:nvPr/>
        </p:nvSpPr>
        <p:spPr>
          <a:xfrm xmlns:a="http://schemas.openxmlformats.org/drawingml/2006/main">
            <a:off x="647700" y="5086350"/>
            <a:ext cx="5334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Budget admission</a:t>
            </a:r>
          </a:p>
        </p:txBody>
      </p:sp>
      <p:sp>
        <p:nvSpPr>
          <p:cNvPr id="7" name="">
            <a:extLst xmlns:a="http://schemas.openxmlformats.org/drawingml/2006/main">
              <a:ext uri="{FF2B5EF4-FFF2-40B4-BE49-F238E27FC236}">
                <a16:creationId xmlns:a16="http://schemas.microsoft.com/office/drawing/2014/main" id="{7E5C8194-0705-40E5-8B0B-4C5F4D4EECDB}"/>
              </a:ext>
            </a:extLst>
          </p:cNvPr>
          <p:cNvSpPr>
            <a:spLocks xmlns:a="http://schemas.openxmlformats.org/drawingml/2006/main" noGrp="1"/>
          </p:cNvSpPr>
          <p:nvPr/>
        </p:nvSpPr>
        <p:spPr>
          <a:xfrm xmlns:a="http://schemas.openxmlformats.org/drawingml/2006/main">
            <a:off x="647700" y="550545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547"/>
                </a:solidFill>
                <a:latin typeface="Arial"/>
                <a:ea typeface="Arial"/>
                <a:cs typeface="Arial"/>
              </a:defRPr>
            </a:defPPr>
            <a:lvl1pPr>
              <a:defRPr sz="1800" b="0">
                <a:solidFill>
                  <a:srgbClr val="263547"/>
                </a:solidFill>
                <a:latin typeface="Arial"/>
                <a:ea typeface="Arial"/>
                <a:cs typeface="Arial"/>
              </a:defRPr>
            </a:lvl1pPr>
            <a:lvl2pPr>
              <a:defRPr sz="1800" b="0">
                <a:solidFill>
                  <a:srgbClr val="263547"/>
                </a:solidFill>
                <a:latin typeface="Arial"/>
                <a:ea typeface="Arial"/>
                <a:cs typeface="Arial"/>
              </a:defRPr>
            </a:lvl2pPr>
            <a:lvl3pPr>
              <a:defRPr sz="1800" b="0">
                <a:solidFill>
                  <a:srgbClr val="263547"/>
                </a:solidFill>
                <a:latin typeface="Arial"/>
                <a:ea typeface="Arial"/>
                <a:cs typeface="Arial"/>
              </a:defRPr>
            </a:lvl3pPr>
            <a:lvl4pPr>
              <a:defRPr sz="1800" b="0">
                <a:solidFill>
                  <a:srgbClr val="263547"/>
                </a:solidFill>
                <a:latin typeface="Arial"/>
                <a:ea typeface="Arial"/>
                <a:cs typeface="Arial"/>
              </a:defRPr>
            </a:lvl4pPr>
            <a:lvl5pPr>
              <a:defRPr sz="1800" b="0">
                <a:solidFill>
                  <a:srgbClr val="263547"/>
                </a:solidFill>
                <a:latin typeface="Arial"/>
                <a:ea typeface="Arial"/>
                <a:cs typeface="Arial"/>
              </a:defRPr>
            </a:lvl5pPr>
            <a:lvl6pPr>
              <a:defRPr sz="1800" b="0">
                <a:solidFill>
                  <a:srgbClr val="263547"/>
                </a:solidFill>
                <a:latin typeface="Arial"/>
                <a:ea typeface="Arial"/>
                <a:cs typeface="Arial"/>
              </a:defRPr>
            </a:lvl6pPr>
            <a:lvl7pPr>
              <a:defRPr sz="1800" b="0">
                <a:solidFill>
                  <a:srgbClr val="263547"/>
                </a:solidFill>
                <a:latin typeface="Arial"/>
                <a:ea typeface="Arial"/>
                <a:cs typeface="Arial"/>
              </a:defRPr>
            </a:lvl7pPr>
            <a:lvl8pPr>
              <a:defRPr sz="1800" b="0">
                <a:solidFill>
                  <a:srgbClr val="263547"/>
                </a:solidFill>
                <a:latin typeface="Arial"/>
                <a:ea typeface="Arial"/>
                <a:cs typeface="Arial"/>
              </a:defRPr>
            </a:lvl8pPr>
            <a:lvl9pPr>
              <a:defRPr sz="1800" b="0">
                <a:solidFill>
                  <a:srgbClr val="263547"/>
                </a:solidFill>
                <a:latin typeface="Arial"/>
                <a:ea typeface="Arial"/>
                <a:cs typeface="Arial"/>
              </a:defRPr>
            </a:lvl9pPr>
          </a:lstStyle>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USD 0.20 reserve per admission.</a:t>
            </a:r>
          </a:p>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Shared held-out ceiling: USD 2.00.</a:t>
            </a:r>
          </a:p>
        </p:txBody>
      </p:sp>
      <p:sp>
        <p:nvSpPr>
          <p:cNvPr id="8" name="">
            <a:extLst xmlns:a="http://schemas.openxmlformats.org/drawingml/2006/main">
              <a:ext uri="{FF2B5EF4-FFF2-40B4-BE49-F238E27FC236}">
                <a16:creationId xmlns:a16="http://schemas.microsoft.com/office/drawing/2014/main" id="{162E2F6F-E344-45B4-AADE-54CD965876D7}"/>
              </a:ext>
            </a:extLst>
          </p:cNvPr>
          <p:cNvSpPr>
            <a:spLocks xmlns:a="http://schemas.openxmlformats.org/drawingml/2006/main" noGrp="1"/>
          </p:cNvSpPr>
          <p:nvPr/>
        </p:nvSpPr>
        <p:spPr>
          <a:xfrm xmlns:a="http://schemas.openxmlformats.org/drawingml/2006/main">
            <a:off x="6429375" y="50863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Fairness limitation</a:t>
            </a:r>
          </a:p>
        </p:txBody>
      </p:sp>
      <p:sp>
        <p:nvSpPr>
          <p:cNvPr id="9" name="">
            <a:extLst xmlns:a="http://schemas.openxmlformats.org/drawingml/2006/main">
              <a:ext uri="{FF2B5EF4-FFF2-40B4-BE49-F238E27FC236}">
                <a16:creationId xmlns:a16="http://schemas.microsoft.com/office/drawing/2014/main" id="{C47CCF10-517E-4E87-AD57-6CB428D50792}"/>
              </a:ext>
            </a:extLst>
          </p:cNvPr>
          <p:cNvSpPr>
            <a:spLocks xmlns:a="http://schemas.openxmlformats.org/drawingml/2006/main" noGrp="1"/>
          </p:cNvSpPr>
          <p:nvPr/>
        </p:nvSpPr>
        <p:spPr>
          <a:xfrm xmlns:a="http://schemas.openxmlformats.org/drawingml/2006/main">
            <a:off x="6429375" y="550545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547"/>
                </a:solidFill>
                <a:latin typeface="Arial"/>
                <a:ea typeface="Arial"/>
                <a:cs typeface="Arial"/>
              </a:defRPr>
            </a:defPPr>
            <a:lvl1pPr>
              <a:defRPr sz="1800" b="0">
                <a:solidFill>
                  <a:srgbClr val="263547"/>
                </a:solidFill>
                <a:latin typeface="Arial"/>
                <a:ea typeface="Arial"/>
                <a:cs typeface="Arial"/>
              </a:defRPr>
            </a:lvl1pPr>
            <a:lvl2pPr>
              <a:defRPr sz="1800" b="0">
                <a:solidFill>
                  <a:srgbClr val="263547"/>
                </a:solidFill>
                <a:latin typeface="Arial"/>
                <a:ea typeface="Arial"/>
                <a:cs typeface="Arial"/>
              </a:defRPr>
            </a:lvl2pPr>
            <a:lvl3pPr>
              <a:defRPr sz="1800" b="0">
                <a:solidFill>
                  <a:srgbClr val="263547"/>
                </a:solidFill>
                <a:latin typeface="Arial"/>
                <a:ea typeface="Arial"/>
                <a:cs typeface="Arial"/>
              </a:defRPr>
            </a:lvl3pPr>
            <a:lvl4pPr>
              <a:defRPr sz="1800" b="0">
                <a:solidFill>
                  <a:srgbClr val="263547"/>
                </a:solidFill>
                <a:latin typeface="Arial"/>
                <a:ea typeface="Arial"/>
                <a:cs typeface="Arial"/>
              </a:defRPr>
            </a:lvl4pPr>
            <a:lvl5pPr>
              <a:defRPr sz="1800" b="0">
                <a:solidFill>
                  <a:srgbClr val="263547"/>
                </a:solidFill>
                <a:latin typeface="Arial"/>
                <a:ea typeface="Arial"/>
                <a:cs typeface="Arial"/>
              </a:defRPr>
            </a:lvl5pPr>
            <a:lvl6pPr>
              <a:defRPr sz="1800" b="0">
                <a:solidFill>
                  <a:srgbClr val="263547"/>
                </a:solidFill>
                <a:latin typeface="Arial"/>
                <a:ea typeface="Arial"/>
                <a:cs typeface="Arial"/>
              </a:defRPr>
            </a:lvl6pPr>
            <a:lvl7pPr>
              <a:defRPr sz="1800" b="0">
                <a:solidFill>
                  <a:srgbClr val="263547"/>
                </a:solidFill>
                <a:latin typeface="Arial"/>
                <a:ea typeface="Arial"/>
                <a:cs typeface="Arial"/>
              </a:defRPr>
            </a:lvl7pPr>
            <a:lvl8pPr>
              <a:defRPr sz="1800" b="0">
                <a:solidFill>
                  <a:srgbClr val="263547"/>
                </a:solidFill>
                <a:latin typeface="Arial"/>
                <a:ea typeface="Arial"/>
                <a:cs typeface="Arial"/>
              </a:defRPr>
            </a:lvl8pPr>
            <a:lvl9pPr>
              <a:defRPr sz="1800" b="0">
                <a:solidFill>
                  <a:srgbClr val="263547"/>
                </a:solidFill>
                <a:latin typeface="Arial"/>
                <a:ea typeface="Arial"/>
                <a:cs typeface="Arial"/>
              </a:defRPr>
            </a:lvl9pPr>
          </a:lstStyle>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Extra recovery attempts are not symmetric.</a:t>
            </a:r>
          </a:p>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Actual USD expenditure is reported separately.</a:t>
            </a:r>
          </a:p>
        </p:txBody>
      </p:sp>
    </p:spTree>
    <p:extLst>
      <p:ext uri="{BB962C8B-B14F-4D97-AF65-F5344CB8AC3E}">
        <p14:creationId xmlns:p14="http://schemas.microsoft.com/office/powerpoint/2010/main" val="19846745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DD4BA44-81D9-47EF-B3DC-402DC9990B9D}"/>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Developed method: two-stage multi-fidelity search</a:t>
            </a:r>
          </a:p>
        </p:txBody>
      </p:sp>
      <p:sp>
        <p:nvSpPr>
          <p:cNvPr id="2" name="">
            <a:extLst xmlns:a="http://schemas.openxmlformats.org/drawingml/2006/main">
              <a:ext uri="{FF2B5EF4-FFF2-40B4-BE49-F238E27FC236}">
                <a16:creationId xmlns:a16="http://schemas.microsoft.com/office/drawing/2014/main" id="{63271728-6220-4FE5-8887-A02A688BB811}"/>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Task coverage is the fidelity variable; screening results are reused rather than rerun</a:t>
            </a:r>
          </a:p>
        </p:txBody>
      </p:sp>
      <p:sp>
        <p:nvSpPr>
          <p:cNvPr id="3" name="">
            <a:extLst xmlns:a="http://schemas.openxmlformats.org/drawingml/2006/main">
              <a:ext uri="{FF2B5EF4-FFF2-40B4-BE49-F238E27FC236}">
                <a16:creationId xmlns:a16="http://schemas.microsoft.com/office/drawing/2014/main" id="{905BDCA3-595C-407C-9D10-E76974AC0B62}"/>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9912AF8E-8E4F-438E-9642-B73C17EE0CDC}"/>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400305E-F618-4F59-AA52-0EEE1A7DB3CD}"/>
              </a:ext>
            </a:extLst>
          </p:cNvPr>
          <p:cNvSpPr>
            <a:spLocks xmlns:a="http://schemas.openxmlformats.org/drawingml/2006/main" noGrp="1"/>
          </p:cNvSpPr>
          <p:nvPr/>
        </p:nvSpPr>
        <p:spPr>
          <a:xfrm xmlns:a="http://schemas.openxmlformats.org/drawingml/2006/main">
            <a:off x="666750" y="1724025"/>
            <a:ext cx="5476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1  Screen five configurations</a:t>
            </a:r>
          </a:p>
        </p:txBody>
      </p:sp>
      <p:sp>
        <p:nvSpPr>
          <p:cNvPr id="6" name="">
            <a:extLst xmlns:a="http://schemas.openxmlformats.org/drawingml/2006/main">
              <a:ext uri="{FF2B5EF4-FFF2-40B4-BE49-F238E27FC236}">
                <a16:creationId xmlns:a16="http://schemas.microsoft.com/office/drawing/2014/main" id="{D9573BA2-910A-4DB6-878C-EDA6E637EA7C}"/>
              </a:ext>
            </a:extLst>
          </p:cNvPr>
          <p:cNvSpPr>
            <a:spLocks xmlns:a="http://schemas.openxmlformats.org/drawingml/2006/main" noGrp="1"/>
          </p:cNvSpPr>
          <p:nvPr/>
        </p:nvSpPr>
        <p:spPr>
          <a:xfrm xmlns:a="http://schemas.openxmlformats.org/drawingml/2006/main">
            <a:off x="666750" y="2143125"/>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547"/>
                </a:solidFill>
                <a:latin typeface="Arial"/>
                <a:ea typeface="Arial"/>
                <a:cs typeface="Arial"/>
              </a:defRPr>
            </a:defPPr>
            <a:lvl1pPr>
              <a:defRPr sz="2025" b="0">
                <a:solidFill>
                  <a:srgbClr val="263547"/>
                </a:solidFill>
                <a:latin typeface="Arial"/>
                <a:ea typeface="Arial"/>
                <a:cs typeface="Arial"/>
              </a:defRPr>
            </a:lvl1pPr>
            <a:lvl2pPr>
              <a:defRPr sz="2025" b="0">
                <a:solidFill>
                  <a:srgbClr val="263547"/>
                </a:solidFill>
                <a:latin typeface="Arial"/>
                <a:ea typeface="Arial"/>
                <a:cs typeface="Arial"/>
              </a:defRPr>
            </a:lvl2pPr>
            <a:lvl3pPr>
              <a:defRPr sz="2025" b="0">
                <a:solidFill>
                  <a:srgbClr val="263547"/>
                </a:solidFill>
                <a:latin typeface="Arial"/>
                <a:ea typeface="Arial"/>
                <a:cs typeface="Arial"/>
              </a:defRPr>
            </a:lvl3pPr>
            <a:lvl4pPr>
              <a:defRPr sz="2025" b="0">
                <a:solidFill>
                  <a:srgbClr val="263547"/>
                </a:solidFill>
                <a:latin typeface="Arial"/>
                <a:ea typeface="Arial"/>
                <a:cs typeface="Arial"/>
              </a:defRPr>
            </a:lvl4pPr>
            <a:lvl5pPr>
              <a:defRPr sz="2025" b="0">
                <a:solidFill>
                  <a:srgbClr val="263547"/>
                </a:solidFill>
                <a:latin typeface="Arial"/>
                <a:ea typeface="Arial"/>
                <a:cs typeface="Arial"/>
              </a:defRPr>
            </a:lvl5pPr>
            <a:lvl6pPr>
              <a:defRPr sz="2025" b="0">
                <a:solidFill>
                  <a:srgbClr val="263547"/>
                </a:solidFill>
                <a:latin typeface="Arial"/>
                <a:ea typeface="Arial"/>
                <a:cs typeface="Arial"/>
              </a:defRPr>
            </a:lvl6pPr>
            <a:lvl7pPr>
              <a:defRPr sz="2025" b="0">
                <a:solidFill>
                  <a:srgbClr val="263547"/>
                </a:solidFill>
                <a:latin typeface="Arial"/>
                <a:ea typeface="Arial"/>
                <a:cs typeface="Arial"/>
              </a:defRPr>
            </a:lvl7pPr>
            <a:lvl8pPr>
              <a:defRPr sz="2025" b="0">
                <a:solidFill>
                  <a:srgbClr val="263547"/>
                </a:solidFill>
                <a:latin typeface="Arial"/>
                <a:ea typeface="Arial"/>
                <a:cs typeface="Arial"/>
              </a:defRPr>
            </a:lvl8pPr>
            <a:lvl9pPr>
              <a:defRPr sz="2025" b="0">
                <a:solidFill>
                  <a:srgbClr val="263547"/>
                </a:solidFill>
                <a:latin typeface="Arial"/>
                <a:ea typeface="Arial"/>
                <a:cs typeface="Arial"/>
              </a:defRPr>
            </a:lvl9pPr>
          </a:lstStyle>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Each runs financial-modeling-qa once.</a:t>
            </a:r>
          </a:p>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5 configurations × 1 task = 5 slots</a:t>
            </a:r>
          </a:p>
        </p:txBody>
      </p:sp>
      <p:sp>
        <p:nvSpPr>
          <p:cNvPr id="7" name="">
            <a:extLst xmlns:a="http://schemas.openxmlformats.org/drawingml/2006/main">
              <a:ext uri="{FF2B5EF4-FFF2-40B4-BE49-F238E27FC236}">
                <a16:creationId xmlns:a16="http://schemas.microsoft.com/office/drawing/2014/main" id="{423CEAAD-9C8C-4CC3-830A-BD7F99A44BAA}"/>
              </a:ext>
            </a:extLst>
          </p:cNvPr>
          <p:cNvSpPr>
            <a:spLocks xmlns:a="http://schemas.openxmlformats.org/drawingml/2006/main" noGrp="1"/>
          </p:cNvSpPr>
          <p:nvPr/>
        </p:nvSpPr>
        <p:spPr>
          <a:xfrm xmlns:a="http://schemas.openxmlformats.org/drawingml/2006/main">
            <a:off x="666750" y="3190875"/>
            <a:ext cx="5476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2  Continue the top two</a:t>
            </a:r>
          </a:p>
        </p:txBody>
      </p:sp>
      <p:sp>
        <p:nvSpPr>
          <p:cNvPr id="8" name="">
            <a:extLst xmlns:a="http://schemas.openxmlformats.org/drawingml/2006/main">
              <a:ext uri="{FF2B5EF4-FFF2-40B4-BE49-F238E27FC236}">
                <a16:creationId xmlns:a16="http://schemas.microsoft.com/office/drawing/2014/main" id="{889403F9-6D42-4FDE-9078-BB14B3FD6C23}"/>
              </a:ext>
            </a:extLst>
          </p:cNvPr>
          <p:cNvSpPr>
            <a:spLocks xmlns:a="http://schemas.openxmlformats.org/drawingml/2006/main" noGrp="1"/>
          </p:cNvSpPr>
          <p:nvPr/>
        </p:nvSpPr>
        <p:spPr>
          <a:xfrm xmlns:a="http://schemas.openxmlformats.org/drawingml/2006/main">
            <a:off x="666750" y="3609975"/>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547"/>
                </a:solidFill>
                <a:latin typeface="Arial"/>
                <a:ea typeface="Arial"/>
                <a:cs typeface="Arial"/>
              </a:defRPr>
            </a:defPPr>
            <a:lvl1pPr>
              <a:defRPr sz="2025" b="0">
                <a:solidFill>
                  <a:srgbClr val="263547"/>
                </a:solidFill>
                <a:latin typeface="Arial"/>
                <a:ea typeface="Arial"/>
                <a:cs typeface="Arial"/>
              </a:defRPr>
            </a:lvl1pPr>
            <a:lvl2pPr>
              <a:defRPr sz="2025" b="0">
                <a:solidFill>
                  <a:srgbClr val="263547"/>
                </a:solidFill>
                <a:latin typeface="Arial"/>
                <a:ea typeface="Arial"/>
                <a:cs typeface="Arial"/>
              </a:defRPr>
            </a:lvl2pPr>
            <a:lvl3pPr>
              <a:defRPr sz="2025" b="0">
                <a:solidFill>
                  <a:srgbClr val="263547"/>
                </a:solidFill>
                <a:latin typeface="Arial"/>
                <a:ea typeface="Arial"/>
                <a:cs typeface="Arial"/>
              </a:defRPr>
            </a:lvl3pPr>
            <a:lvl4pPr>
              <a:defRPr sz="2025" b="0">
                <a:solidFill>
                  <a:srgbClr val="263547"/>
                </a:solidFill>
                <a:latin typeface="Arial"/>
                <a:ea typeface="Arial"/>
                <a:cs typeface="Arial"/>
              </a:defRPr>
            </a:lvl4pPr>
            <a:lvl5pPr>
              <a:defRPr sz="2025" b="0">
                <a:solidFill>
                  <a:srgbClr val="263547"/>
                </a:solidFill>
                <a:latin typeface="Arial"/>
                <a:ea typeface="Arial"/>
                <a:cs typeface="Arial"/>
              </a:defRPr>
            </a:lvl5pPr>
            <a:lvl6pPr>
              <a:defRPr sz="2025" b="0">
                <a:solidFill>
                  <a:srgbClr val="263547"/>
                </a:solidFill>
                <a:latin typeface="Arial"/>
                <a:ea typeface="Arial"/>
                <a:cs typeface="Arial"/>
              </a:defRPr>
            </a:lvl6pPr>
            <a:lvl7pPr>
              <a:defRPr sz="2025" b="0">
                <a:solidFill>
                  <a:srgbClr val="263547"/>
                </a:solidFill>
                <a:latin typeface="Arial"/>
                <a:ea typeface="Arial"/>
                <a:cs typeface="Arial"/>
              </a:defRPr>
            </a:lvl7pPr>
            <a:lvl8pPr>
              <a:defRPr sz="2025" b="0">
                <a:solidFill>
                  <a:srgbClr val="263547"/>
                </a:solidFill>
                <a:latin typeface="Arial"/>
                <a:ea typeface="Arial"/>
                <a:cs typeface="Arial"/>
              </a:defRPr>
            </a:lvl8pPr>
            <a:lvl9pPr>
              <a:defRPr sz="2025" b="0">
                <a:solidFill>
                  <a:srgbClr val="263547"/>
                </a:solidFill>
                <a:latin typeface="Arial"/>
                <a:ea typeface="Arial"/>
                <a:cs typeface="Arial"/>
              </a:defRPr>
            </a:lvl9pPr>
          </a:lstStyle>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Candidates 1 and 0 run JAX + Travel.</a:t>
            </a:r>
          </a:p>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2 configurations × 2 tasks = 4 slots</a:t>
            </a:r>
          </a:p>
        </p:txBody>
      </p:sp>
      <p:sp>
        <p:nvSpPr>
          <p:cNvPr id="9" name="">
            <a:extLst xmlns:a="http://schemas.openxmlformats.org/drawingml/2006/main">
              <a:ext uri="{FF2B5EF4-FFF2-40B4-BE49-F238E27FC236}">
                <a16:creationId xmlns:a16="http://schemas.microsoft.com/office/drawing/2014/main" id="{3763AD69-9E64-4C24-BEC2-F0BE4E68D21F}"/>
              </a:ext>
            </a:extLst>
          </p:cNvPr>
          <p:cNvSpPr>
            <a:spLocks xmlns:a="http://schemas.openxmlformats.org/drawingml/2006/main" noGrp="1"/>
          </p:cNvSpPr>
          <p:nvPr/>
        </p:nvSpPr>
        <p:spPr>
          <a:xfrm xmlns:a="http://schemas.openxmlformats.org/drawingml/2006/main">
            <a:off x="666750" y="4667250"/>
            <a:ext cx="5476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3  Select a complete candidate</a:t>
            </a:r>
          </a:p>
        </p:txBody>
      </p:sp>
      <p:sp>
        <p:nvSpPr>
          <p:cNvPr id="10" name="">
            <a:extLst xmlns:a="http://schemas.openxmlformats.org/drawingml/2006/main">
              <a:ext uri="{FF2B5EF4-FFF2-40B4-BE49-F238E27FC236}">
                <a16:creationId xmlns:a16="http://schemas.microsoft.com/office/drawing/2014/main" id="{D0A2AA49-3917-4FD8-8887-5E5CB044B70E}"/>
              </a:ext>
            </a:extLst>
          </p:cNvPr>
          <p:cNvSpPr>
            <a:spLocks xmlns:a="http://schemas.openxmlformats.org/drawingml/2006/main" noGrp="1"/>
          </p:cNvSpPr>
          <p:nvPr/>
        </p:nvSpPr>
        <p:spPr>
          <a:xfrm xmlns:a="http://schemas.openxmlformats.org/drawingml/2006/main">
            <a:off x="666750" y="5086350"/>
            <a:ext cx="547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547"/>
                </a:solidFill>
                <a:latin typeface="Arial"/>
                <a:ea typeface="Arial"/>
                <a:cs typeface="Arial"/>
              </a:defRPr>
            </a:defPPr>
            <a:lvl1pPr>
              <a:defRPr sz="2025" b="0">
                <a:solidFill>
                  <a:srgbClr val="263547"/>
                </a:solidFill>
                <a:latin typeface="Arial"/>
                <a:ea typeface="Arial"/>
                <a:cs typeface="Arial"/>
              </a:defRPr>
            </a:lvl1pPr>
            <a:lvl2pPr>
              <a:defRPr sz="2025" b="0">
                <a:solidFill>
                  <a:srgbClr val="263547"/>
                </a:solidFill>
                <a:latin typeface="Arial"/>
                <a:ea typeface="Arial"/>
                <a:cs typeface="Arial"/>
              </a:defRPr>
            </a:lvl2pPr>
            <a:lvl3pPr>
              <a:defRPr sz="2025" b="0">
                <a:solidFill>
                  <a:srgbClr val="263547"/>
                </a:solidFill>
                <a:latin typeface="Arial"/>
                <a:ea typeface="Arial"/>
                <a:cs typeface="Arial"/>
              </a:defRPr>
            </a:lvl3pPr>
            <a:lvl4pPr>
              <a:defRPr sz="2025" b="0">
                <a:solidFill>
                  <a:srgbClr val="263547"/>
                </a:solidFill>
                <a:latin typeface="Arial"/>
                <a:ea typeface="Arial"/>
                <a:cs typeface="Arial"/>
              </a:defRPr>
            </a:lvl4pPr>
            <a:lvl5pPr>
              <a:defRPr sz="2025" b="0">
                <a:solidFill>
                  <a:srgbClr val="263547"/>
                </a:solidFill>
                <a:latin typeface="Arial"/>
                <a:ea typeface="Arial"/>
                <a:cs typeface="Arial"/>
              </a:defRPr>
            </a:lvl5pPr>
            <a:lvl6pPr>
              <a:defRPr sz="2025" b="0">
                <a:solidFill>
                  <a:srgbClr val="263547"/>
                </a:solidFill>
                <a:latin typeface="Arial"/>
                <a:ea typeface="Arial"/>
                <a:cs typeface="Arial"/>
              </a:defRPr>
            </a:lvl6pPr>
            <a:lvl7pPr>
              <a:defRPr sz="2025" b="0">
                <a:solidFill>
                  <a:srgbClr val="263547"/>
                </a:solidFill>
                <a:latin typeface="Arial"/>
                <a:ea typeface="Arial"/>
                <a:cs typeface="Arial"/>
              </a:defRPr>
            </a:lvl7pPr>
            <a:lvl8pPr>
              <a:defRPr sz="2025" b="0">
                <a:solidFill>
                  <a:srgbClr val="263547"/>
                </a:solidFill>
                <a:latin typeface="Arial"/>
                <a:ea typeface="Arial"/>
                <a:cs typeface="Arial"/>
              </a:defRPr>
            </a:lvl8pPr>
            <a:lvl9pPr>
              <a:defRPr sz="2025" b="0">
                <a:solidFill>
                  <a:srgbClr val="263547"/>
                </a:solidFill>
                <a:latin typeface="Arial"/>
                <a:ea typeface="Arial"/>
                <a:cs typeface="Arial"/>
              </a:defRPr>
            </a:lvl9pPr>
          </a:lstStyle>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Reuse its screening result.</a:t>
            </a:r>
          </a:p>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Select candidate 0: context 64k / tokens 16384.</a:t>
            </a:r>
          </a:p>
        </p:txBody>
      </p:sp>
      <p:sp>
        <p:nvSpPr>
          <p:cNvPr id="11" name="">
            <a:extLst xmlns:a="http://schemas.openxmlformats.org/drawingml/2006/main">
              <a:ext uri="{FF2B5EF4-FFF2-40B4-BE49-F238E27FC236}">
                <a16:creationId xmlns:a16="http://schemas.microsoft.com/office/drawing/2014/main" id="{23B60FF2-8720-4C42-82EC-B7A81A918FB3}"/>
              </a:ext>
            </a:extLst>
          </p:cNvPr>
          <p:cNvSpPr>
            <a:spLocks xmlns:a="http://schemas.openxmlformats.org/drawingml/2006/main" noGrp="1"/>
          </p:cNvSpPr>
          <p:nvPr/>
        </p:nvSpPr>
        <p:spPr>
          <a:xfrm xmlns:a="http://schemas.openxmlformats.org/drawingml/2006/main">
            <a:off x="7477125" y="18097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087F8C"/>
                </a:solidFill>
                <a:latin typeface="Arial"/>
                <a:ea typeface="Arial"/>
                <a:cs typeface="Arial"/>
              </a:defRPr>
            </a:defPPr>
            <a:lvl1pPr>
              <a:defRPr sz="4050" b="1">
                <a:solidFill>
                  <a:srgbClr val="087F8C"/>
                </a:solidFill>
                <a:latin typeface="Arial"/>
                <a:ea typeface="Arial"/>
                <a:cs typeface="Arial"/>
              </a:defRPr>
            </a:lvl1pPr>
            <a:lvl2pPr>
              <a:defRPr sz="4050" b="1">
                <a:solidFill>
                  <a:srgbClr val="087F8C"/>
                </a:solidFill>
                <a:latin typeface="Arial"/>
                <a:ea typeface="Arial"/>
                <a:cs typeface="Arial"/>
              </a:defRPr>
            </a:lvl2pPr>
            <a:lvl3pPr>
              <a:defRPr sz="4050" b="1">
                <a:solidFill>
                  <a:srgbClr val="087F8C"/>
                </a:solidFill>
                <a:latin typeface="Arial"/>
                <a:ea typeface="Arial"/>
                <a:cs typeface="Arial"/>
              </a:defRPr>
            </a:lvl3pPr>
            <a:lvl4pPr>
              <a:defRPr sz="4050" b="1">
                <a:solidFill>
                  <a:srgbClr val="087F8C"/>
                </a:solidFill>
                <a:latin typeface="Arial"/>
                <a:ea typeface="Arial"/>
                <a:cs typeface="Arial"/>
              </a:defRPr>
            </a:lvl4pPr>
            <a:lvl5pPr>
              <a:defRPr sz="4050" b="1">
                <a:solidFill>
                  <a:srgbClr val="087F8C"/>
                </a:solidFill>
                <a:latin typeface="Arial"/>
                <a:ea typeface="Arial"/>
                <a:cs typeface="Arial"/>
              </a:defRPr>
            </a:lvl5pPr>
            <a:lvl6pPr>
              <a:defRPr sz="4050" b="1">
                <a:solidFill>
                  <a:srgbClr val="087F8C"/>
                </a:solidFill>
                <a:latin typeface="Arial"/>
                <a:ea typeface="Arial"/>
                <a:cs typeface="Arial"/>
              </a:defRPr>
            </a:lvl6pPr>
            <a:lvl7pPr>
              <a:defRPr sz="4050" b="1">
                <a:solidFill>
                  <a:srgbClr val="087F8C"/>
                </a:solidFill>
                <a:latin typeface="Arial"/>
                <a:ea typeface="Arial"/>
                <a:cs typeface="Arial"/>
              </a:defRPr>
            </a:lvl7pPr>
            <a:lvl8pPr>
              <a:defRPr sz="4050" b="1">
                <a:solidFill>
                  <a:srgbClr val="087F8C"/>
                </a:solidFill>
                <a:latin typeface="Arial"/>
                <a:ea typeface="Arial"/>
                <a:cs typeface="Arial"/>
              </a:defRPr>
            </a:lvl8pPr>
            <a:lvl9pPr>
              <a:defRPr sz="4050" b="1">
                <a:solidFill>
                  <a:srgbClr val="087F8C"/>
                </a:solidFill>
                <a:latin typeface="Arial"/>
                <a:ea typeface="Arial"/>
                <a:cs typeface="Arial"/>
              </a:defRPr>
            </a:lvl9pPr>
          </a:lstStyle>
          <a:p xmlns:a="http://schemas.openxmlformats.org/drawingml/2006/main">
            <a:pPr>
              <a:defRPr sz="4050" b="1">
                <a:solidFill>
                  <a:srgbClr val="087F8C"/>
                </a:solidFill>
                <a:latin typeface="Arial"/>
                <a:ea typeface="Arial"/>
                <a:cs typeface="Arial"/>
              </a:defRPr>
            </a:pPr>
            <a:r>
              <a:rPr sz="4050" b="1">
                <a:solidFill>
                  <a:srgbClr val="087F8C"/>
                </a:solidFill>
                <a:latin typeface="Arial"/>
                <a:ea typeface="Arial"/>
                <a:cs typeface="Arial"/>
              </a:rPr>
              <a:t>5 + 4 = 9</a:t>
            </a:r>
          </a:p>
        </p:txBody>
      </p:sp>
      <p:sp>
        <p:nvSpPr>
          <p:cNvPr id="12" name="">
            <a:extLst xmlns:a="http://schemas.openxmlformats.org/drawingml/2006/main">
              <a:ext uri="{FF2B5EF4-FFF2-40B4-BE49-F238E27FC236}">
                <a16:creationId xmlns:a16="http://schemas.microsoft.com/office/drawing/2014/main" id="{E6416233-CF61-4D32-87D4-ACFF6DB3BA20}"/>
              </a:ext>
            </a:extLst>
          </p:cNvPr>
          <p:cNvSpPr>
            <a:spLocks xmlns:a="http://schemas.openxmlformats.org/drawingml/2006/main" noGrp="1"/>
          </p:cNvSpPr>
          <p:nvPr/>
        </p:nvSpPr>
        <p:spPr>
          <a:xfrm xmlns:a="http://schemas.openxmlformats.org/drawingml/2006/main">
            <a:off x="7486650" y="26860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86779"/>
                </a:solidFill>
                <a:latin typeface="Arial"/>
                <a:ea typeface="Arial"/>
                <a:cs typeface="Arial"/>
              </a:defRPr>
            </a:defPPr>
            <a:lvl1pPr>
              <a:defRPr sz="2100" b="0">
                <a:solidFill>
                  <a:srgbClr val="586779"/>
                </a:solidFill>
                <a:latin typeface="Arial"/>
                <a:ea typeface="Arial"/>
                <a:cs typeface="Arial"/>
              </a:defRPr>
            </a:lvl1pPr>
            <a:lvl2pPr>
              <a:defRPr sz="2100" b="0">
                <a:solidFill>
                  <a:srgbClr val="586779"/>
                </a:solidFill>
                <a:latin typeface="Arial"/>
                <a:ea typeface="Arial"/>
                <a:cs typeface="Arial"/>
              </a:defRPr>
            </a:lvl2pPr>
            <a:lvl3pPr>
              <a:defRPr sz="2100" b="0">
                <a:solidFill>
                  <a:srgbClr val="586779"/>
                </a:solidFill>
                <a:latin typeface="Arial"/>
                <a:ea typeface="Arial"/>
                <a:cs typeface="Arial"/>
              </a:defRPr>
            </a:lvl3pPr>
            <a:lvl4pPr>
              <a:defRPr sz="2100" b="0">
                <a:solidFill>
                  <a:srgbClr val="586779"/>
                </a:solidFill>
                <a:latin typeface="Arial"/>
                <a:ea typeface="Arial"/>
                <a:cs typeface="Arial"/>
              </a:defRPr>
            </a:lvl4pPr>
            <a:lvl5pPr>
              <a:defRPr sz="2100" b="0">
                <a:solidFill>
                  <a:srgbClr val="586779"/>
                </a:solidFill>
                <a:latin typeface="Arial"/>
                <a:ea typeface="Arial"/>
                <a:cs typeface="Arial"/>
              </a:defRPr>
            </a:lvl5pPr>
            <a:lvl6pPr>
              <a:defRPr sz="2100" b="0">
                <a:solidFill>
                  <a:srgbClr val="586779"/>
                </a:solidFill>
                <a:latin typeface="Arial"/>
                <a:ea typeface="Arial"/>
                <a:cs typeface="Arial"/>
              </a:defRPr>
            </a:lvl6pPr>
            <a:lvl7pPr>
              <a:defRPr sz="2100" b="0">
                <a:solidFill>
                  <a:srgbClr val="586779"/>
                </a:solidFill>
                <a:latin typeface="Arial"/>
                <a:ea typeface="Arial"/>
                <a:cs typeface="Arial"/>
              </a:defRPr>
            </a:lvl7pPr>
            <a:lvl8pPr>
              <a:defRPr sz="2100" b="0">
                <a:solidFill>
                  <a:srgbClr val="586779"/>
                </a:solidFill>
                <a:latin typeface="Arial"/>
                <a:ea typeface="Arial"/>
                <a:cs typeface="Arial"/>
              </a:defRPr>
            </a:lvl8pPr>
            <a:lvl9pPr>
              <a:defRPr sz="2100" b="0">
                <a:solidFill>
                  <a:srgbClr val="586779"/>
                </a:solidFill>
                <a:latin typeface="Arial"/>
                <a:ea typeface="Arial"/>
                <a:cs typeface="Arial"/>
              </a:defRPr>
            </a:lvl9pPr>
          </a:lstStyle>
          <a:p xmlns:a="http://schemas.openxmlformats.org/drawingml/2006/main">
            <a:pPr>
              <a:defRPr sz="2100" b="0">
                <a:solidFill>
                  <a:srgbClr val="586779"/>
                </a:solidFill>
                <a:latin typeface="Arial"/>
                <a:ea typeface="Arial"/>
                <a:cs typeface="Arial"/>
              </a:defRPr>
            </a:pPr>
            <a:r>
              <a:rPr sz="2100" b="0">
                <a:solidFill>
                  <a:srgbClr val="586779"/>
                </a:solidFill>
                <a:latin typeface="Arial"/>
                <a:ea typeface="Arial"/>
                <a:cs typeface="Arial"/>
              </a:rPr>
              <a:t>validation task slots</a:t>
            </a:r>
          </a:p>
        </p:txBody>
      </p:sp>
      <p:sp>
        <p:nvSpPr>
          <p:cNvPr id="13" name="">
            <a:extLst xmlns:a="http://schemas.openxmlformats.org/drawingml/2006/main">
              <a:ext uri="{FF2B5EF4-FFF2-40B4-BE49-F238E27FC236}">
                <a16:creationId xmlns:a16="http://schemas.microsoft.com/office/drawing/2014/main" id="{7695F819-8CF0-4644-A5C3-98323293C395}"/>
              </a:ext>
            </a:extLst>
          </p:cNvPr>
          <p:cNvSpPr>
            <a:spLocks xmlns:a="http://schemas.openxmlformats.org/drawingml/2006/main" noGrp="1"/>
          </p:cNvSpPr>
          <p:nvPr/>
        </p:nvSpPr>
        <p:spPr>
          <a:xfrm xmlns:a="http://schemas.openxmlformats.org/drawingml/2006/main">
            <a:off x="6953250" y="3486150"/>
            <a:ext cx="457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Why it might help</a:t>
            </a:r>
          </a:p>
        </p:txBody>
      </p:sp>
      <p:sp>
        <p:nvSpPr>
          <p:cNvPr id="14" name="">
            <a:extLst xmlns:a="http://schemas.openxmlformats.org/drawingml/2006/main">
              <a:ext uri="{FF2B5EF4-FFF2-40B4-BE49-F238E27FC236}">
                <a16:creationId xmlns:a16="http://schemas.microsoft.com/office/drawing/2014/main" id="{D1ECD627-348B-4AC8-AB35-185250C17757}"/>
              </a:ext>
            </a:extLst>
          </p:cNvPr>
          <p:cNvSpPr>
            <a:spLocks xmlns:a="http://schemas.openxmlformats.org/drawingml/2006/main" noGrp="1"/>
          </p:cNvSpPr>
          <p:nvPr/>
        </p:nvSpPr>
        <p:spPr>
          <a:xfrm xmlns:a="http://schemas.openxmlformats.org/drawingml/2006/main">
            <a:off x="6953250" y="39052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547"/>
                </a:solidFill>
                <a:latin typeface="Arial"/>
                <a:ea typeface="Arial"/>
                <a:cs typeface="Arial"/>
              </a:defRPr>
            </a:defPPr>
            <a:lvl1pPr>
              <a:defRPr sz="2025" b="0">
                <a:solidFill>
                  <a:srgbClr val="263547"/>
                </a:solidFill>
                <a:latin typeface="Arial"/>
                <a:ea typeface="Arial"/>
                <a:cs typeface="Arial"/>
              </a:defRPr>
            </a:lvl1pPr>
            <a:lvl2pPr>
              <a:defRPr sz="2025" b="0">
                <a:solidFill>
                  <a:srgbClr val="263547"/>
                </a:solidFill>
                <a:latin typeface="Arial"/>
                <a:ea typeface="Arial"/>
                <a:cs typeface="Arial"/>
              </a:defRPr>
            </a:lvl2pPr>
            <a:lvl3pPr>
              <a:defRPr sz="2025" b="0">
                <a:solidFill>
                  <a:srgbClr val="263547"/>
                </a:solidFill>
                <a:latin typeface="Arial"/>
                <a:ea typeface="Arial"/>
                <a:cs typeface="Arial"/>
              </a:defRPr>
            </a:lvl3pPr>
            <a:lvl4pPr>
              <a:defRPr sz="2025" b="0">
                <a:solidFill>
                  <a:srgbClr val="263547"/>
                </a:solidFill>
                <a:latin typeface="Arial"/>
                <a:ea typeface="Arial"/>
                <a:cs typeface="Arial"/>
              </a:defRPr>
            </a:lvl4pPr>
            <a:lvl5pPr>
              <a:defRPr sz="2025" b="0">
                <a:solidFill>
                  <a:srgbClr val="263547"/>
                </a:solidFill>
                <a:latin typeface="Arial"/>
                <a:ea typeface="Arial"/>
                <a:cs typeface="Arial"/>
              </a:defRPr>
            </a:lvl5pPr>
            <a:lvl6pPr>
              <a:defRPr sz="2025" b="0">
                <a:solidFill>
                  <a:srgbClr val="263547"/>
                </a:solidFill>
                <a:latin typeface="Arial"/>
                <a:ea typeface="Arial"/>
                <a:cs typeface="Arial"/>
              </a:defRPr>
            </a:lvl6pPr>
            <a:lvl7pPr>
              <a:defRPr sz="2025" b="0">
                <a:solidFill>
                  <a:srgbClr val="263547"/>
                </a:solidFill>
                <a:latin typeface="Arial"/>
                <a:ea typeface="Arial"/>
                <a:cs typeface="Arial"/>
              </a:defRPr>
            </a:lvl7pPr>
            <a:lvl8pPr>
              <a:defRPr sz="2025" b="0">
                <a:solidFill>
                  <a:srgbClr val="263547"/>
                </a:solidFill>
                <a:latin typeface="Arial"/>
                <a:ea typeface="Arial"/>
                <a:cs typeface="Arial"/>
              </a:defRPr>
            </a:lvl8pPr>
            <a:lvl9pPr>
              <a:defRPr sz="2025" b="0">
                <a:solidFill>
                  <a:srgbClr val="263547"/>
                </a:solidFill>
                <a:latin typeface="Arial"/>
                <a:ea typeface="Arial"/>
                <a:cs typeface="Arial"/>
              </a:defRPr>
            </a:lvl9pPr>
          </a:lstStyle>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Reject weak configurations before full evaluation.</a:t>
            </a:r>
          </a:p>
        </p:txBody>
      </p:sp>
      <p:sp>
        <p:nvSpPr>
          <p:cNvPr id="15" name="">
            <a:extLst xmlns:a="http://schemas.openxmlformats.org/drawingml/2006/main">
              <a:ext uri="{FF2B5EF4-FFF2-40B4-BE49-F238E27FC236}">
                <a16:creationId xmlns:a16="http://schemas.microsoft.com/office/drawing/2014/main" id="{48E7EF50-93B6-491A-B50D-D008AB84409E}"/>
              </a:ext>
            </a:extLst>
          </p:cNvPr>
          <p:cNvSpPr>
            <a:spLocks xmlns:a="http://schemas.openxmlformats.org/drawingml/2006/main" noGrp="1"/>
          </p:cNvSpPr>
          <p:nvPr/>
        </p:nvSpPr>
        <p:spPr>
          <a:xfrm xmlns:a="http://schemas.openxmlformats.org/drawingml/2006/main">
            <a:off x="6953250" y="4743450"/>
            <a:ext cx="457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What happened here</a:t>
            </a:r>
          </a:p>
        </p:txBody>
      </p:sp>
      <p:sp>
        <p:nvSpPr>
          <p:cNvPr id="16" name="">
            <a:extLst xmlns:a="http://schemas.openxmlformats.org/drawingml/2006/main">
              <a:ext uri="{FF2B5EF4-FFF2-40B4-BE49-F238E27FC236}">
                <a16:creationId xmlns:a16="http://schemas.microsoft.com/office/drawing/2014/main" id="{FB41B037-B242-4D0E-A5C9-8BE34F998CDD}"/>
              </a:ext>
            </a:extLst>
          </p:cNvPr>
          <p:cNvSpPr>
            <a:spLocks xmlns:a="http://schemas.openxmlformats.org/drawingml/2006/main" noGrp="1"/>
          </p:cNvSpPr>
          <p:nvPr/>
        </p:nvSpPr>
        <p:spPr>
          <a:xfrm xmlns:a="http://schemas.openxmlformats.org/drawingml/2006/main">
            <a:off x="6953250" y="51625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547"/>
                </a:solidFill>
                <a:latin typeface="Arial"/>
                <a:ea typeface="Arial"/>
                <a:cs typeface="Arial"/>
              </a:defRPr>
            </a:defPPr>
            <a:lvl1pPr>
              <a:defRPr sz="1950" b="0">
                <a:solidFill>
                  <a:srgbClr val="263547"/>
                </a:solidFill>
                <a:latin typeface="Arial"/>
                <a:ea typeface="Arial"/>
                <a:cs typeface="Arial"/>
              </a:defRPr>
            </a:lvl1pPr>
            <a:lvl2pPr>
              <a:defRPr sz="1950" b="0">
                <a:solidFill>
                  <a:srgbClr val="263547"/>
                </a:solidFill>
                <a:latin typeface="Arial"/>
                <a:ea typeface="Arial"/>
                <a:cs typeface="Arial"/>
              </a:defRPr>
            </a:lvl2pPr>
            <a:lvl3pPr>
              <a:defRPr sz="1950" b="0">
                <a:solidFill>
                  <a:srgbClr val="263547"/>
                </a:solidFill>
                <a:latin typeface="Arial"/>
                <a:ea typeface="Arial"/>
                <a:cs typeface="Arial"/>
              </a:defRPr>
            </a:lvl3pPr>
            <a:lvl4pPr>
              <a:defRPr sz="1950" b="0">
                <a:solidFill>
                  <a:srgbClr val="263547"/>
                </a:solidFill>
                <a:latin typeface="Arial"/>
                <a:ea typeface="Arial"/>
                <a:cs typeface="Arial"/>
              </a:defRPr>
            </a:lvl4pPr>
            <a:lvl5pPr>
              <a:defRPr sz="1950" b="0">
                <a:solidFill>
                  <a:srgbClr val="263547"/>
                </a:solidFill>
                <a:latin typeface="Arial"/>
                <a:ea typeface="Arial"/>
                <a:cs typeface="Arial"/>
              </a:defRPr>
            </a:lvl5pPr>
            <a:lvl6pPr>
              <a:defRPr sz="1950" b="0">
                <a:solidFill>
                  <a:srgbClr val="263547"/>
                </a:solidFill>
                <a:latin typeface="Arial"/>
                <a:ea typeface="Arial"/>
                <a:cs typeface="Arial"/>
              </a:defRPr>
            </a:lvl6pPr>
            <a:lvl7pPr>
              <a:defRPr sz="1950" b="0">
                <a:solidFill>
                  <a:srgbClr val="263547"/>
                </a:solidFill>
                <a:latin typeface="Arial"/>
                <a:ea typeface="Arial"/>
                <a:cs typeface="Arial"/>
              </a:defRPr>
            </a:lvl7pPr>
            <a:lvl8pPr>
              <a:defRPr sz="1950" b="0">
                <a:solidFill>
                  <a:srgbClr val="263547"/>
                </a:solidFill>
                <a:latin typeface="Arial"/>
                <a:ea typeface="Arial"/>
                <a:cs typeface="Arial"/>
              </a:defRPr>
            </a:lvl8pPr>
            <a:lvl9pPr>
              <a:defRPr sz="1950" b="0">
                <a:solidFill>
                  <a:srgbClr val="263547"/>
                </a:solidFill>
                <a:latin typeface="Arial"/>
                <a:ea typeface="Arial"/>
                <a:cs typeface="Arial"/>
              </a:defRPr>
            </a:lvl9pPr>
          </a:lstStyle>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All screening rewards were 0.</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The proxy task provided no success separation.</a:t>
            </a:r>
          </a:p>
        </p:txBody>
      </p:sp>
    </p:spTree>
    <p:extLst>
      <p:ext uri="{BB962C8B-B14F-4D97-AF65-F5344CB8AC3E}">
        <p14:creationId xmlns:p14="http://schemas.microsoft.com/office/powerpoint/2010/main" val="9550496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F82480-39B0-42AB-BBC1-16A8D6ED9928}"/>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Implementation and outcome accounting</a:t>
            </a:r>
          </a:p>
        </p:txBody>
      </p:sp>
      <p:sp>
        <p:nvSpPr>
          <p:cNvPr id="2" name="">
            <a:extLst xmlns:a="http://schemas.openxmlformats.org/drawingml/2006/main">
              <a:ext uri="{FF2B5EF4-FFF2-40B4-BE49-F238E27FC236}">
                <a16:creationId xmlns:a16="http://schemas.microsoft.com/office/drawing/2014/main" id="{6259A314-F904-4C0D-BDD4-1CAE1911BB0C}"/>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A persisted ledger connects configuration generation, execution, scoring and cost</a:t>
            </a:r>
          </a:p>
        </p:txBody>
      </p:sp>
      <p:sp>
        <p:nvSpPr>
          <p:cNvPr id="3" name="">
            <a:extLst xmlns:a="http://schemas.openxmlformats.org/drawingml/2006/main">
              <a:ext uri="{FF2B5EF4-FFF2-40B4-BE49-F238E27FC236}">
                <a16:creationId xmlns:a16="http://schemas.microsoft.com/office/drawing/2014/main" id="{8E577727-3FD3-469A-AAC6-4D1606B84C5A}"/>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25175D69-3440-4DAA-9761-B6E871E949FF}"/>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8EF5AD68-0155-4E17-8E3D-E02788B59EF4}"/>
              </a:ext>
            </a:extLst>
          </p:cNvPr>
          <p:cNvGraphicFramePr/>
          <p:nvPr/>
        </p:nvGraphicFramePr>
        <p:xfrm>
          <a:off xmlns:a="http://schemas.openxmlformats.org/drawingml/2006/main" x="609600" y="1752600"/>
          <a:ext xmlns:a="http://schemas.openxmlformats.org/drawingml/2006/main" cx="6858000" cy="2857500"/>
        </p:xfrm>
        <a:graphic xmlns:a="http://schemas.openxmlformats.org/drawingml/2006/main">
          <a:graphicData uri="http://schemas.openxmlformats.org/drawingml/2006/table">
            <a:tbl>
              <a:tblPr/>
              <a:tblGrid>
                <a:gridCol w="2238375"/>
                <a:gridCol w="4619625"/>
              </a:tblGrid>
              <a:tr h="571500">
                <a:tc>
                  <a:txBody>
                    <a:bodyPr/>
                    <a:lstStyle/>
                    <a:p>
                      <a:r>
                        <a:rPr sz="1725" b="1">
                          <a:solidFill>
                            <a:srgbClr val="FFFFFF"/>
                          </a:solidFill>
                          <a:latin typeface="Arial"/>
                          <a:ea typeface="Arial"/>
                          <a:cs typeface="Arial"/>
                        </a:rPr>
                        <a:t>Pipeline step</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725" b="1">
                          <a:solidFill>
                            <a:srgbClr val="FFFFFF"/>
                          </a:solidFill>
                          <a:latin typeface="Arial"/>
                          <a:ea typeface="Arial"/>
                          <a:cs typeface="Arial"/>
                        </a:rPr>
                        <a:t>Implementation artifact</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571500">
                <a:tc>
                  <a:txBody>
                    <a:bodyPr/>
                    <a:lstStyle/>
                    <a:p>
                      <a:r>
                        <a:rPr sz="1725" b="0">
                          <a:solidFill>
                            <a:srgbClr val="263547"/>
                          </a:solidFill>
                          <a:latin typeface="Arial"/>
                          <a:ea typeface="Arial"/>
                          <a:cs typeface="Arial"/>
                        </a:rPr>
                        <a:t>Generate / schedule</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run_search.py; seed 20261028</a:t>
                      </a:r>
                    </a:p>
                  </a:txBody>
                  <a:tcPr marL="91440" marR="91440" marT="45720" marB="45720">
                    <a:lnR w="6668">
                      <a:solidFill>
                        <a:srgbClr val="DCE4EB"/>
                      </a:solidFill>
                      <a:prstDash val="solid"/>
                    </a:lnR>
                    <a:lnB w="6668">
                      <a:solidFill>
                        <a:srgbClr val="DCE4EB"/>
                      </a:solidFill>
                      <a:prstDash val="solid"/>
                    </a:lnB>
                    <a:solidFill>
                      <a:srgbClr val="EFF3F7"/>
                    </a:solidFill>
                  </a:tcPr>
                </a:tc>
              </a:tr>
              <a:tr h="571500">
                <a:tc>
                  <a:txBody>
                    <a:bodyPr/>
                    <a:lstStyle/>
                    <a:p>
                      <a:r>
                        <a:rPr sz="1725" b="0">
                          <a:solidFill>
                            <a:srgbClr val="263547"/>
                          </a:solidFill>
                          <a:latin typeface="Arial"/>
                          <a:ea typeface="Arial"/>
                          <a:cs typeface="Arial"/>
                        </a:rPr>
                        <a:t>Execute fixed harness</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725" b="0">
                          <a:solidFill>
                            <a:srgbClr val="263547"/>
                          </a:solidFill>
                          <a:latin typeface="Arial"/>
                          <a:ea typeface="Arial"/>
                          <a:cs typeface="Arial"/>
                        </a:rPr>
                        <a:t>bench_hardened.py → BenchFlow / PI</a:t>
                      </a:r>
                    </a:p>
                  </a:txBody>
                  <a:tcPr marL="91440" marR="91440" marT="45720" marB="45720">
                    <a:lnR w="6668">
                      <a:solidFill>
                        <a:srgbClr val="DCE4EB"/>
                      </a:solidFill>
                      <a:prstDash val="solid"/>
                    </a:lnR>
                    <a:lnB w="6668">
                      <a:solidFill>
                        <a:srgbClr val="DCE4EB"/>
                      </a:solidFill>
                      <a:prstDash val="solid"/>
                    </a:lnB>
                    <a:solidFill>
                      <a:srgbClr val="FFFFFF"/>
                    </a:solidFill>
                  </a:tcPr>
                </a:tc>
              </a:tr>
              <a:tr h="571500">
                <a:tc>
                  <a:txBody>
                    <a:bodyPr/>
                    <a:lstStyle/>
                    <a:p>
                      <a:r>
                        <a:rPr sz="1725" b="0">
                          <a:solidFill>
                            <a:srgbClr val="263547"/>
                          </a:solidFill>
                          <a:latin typeface="Arial"/>
                          <a:ea typeface="Arial"/>
                          <a:cs typeface="Arial"/>
                        </a:rPr>
                        <a:t>Verify / account</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result.json + dedicated-key usage deltas</a:t>
                      </a:r>
                    </a:p>
                  </a:txBody>
                  <a:tcPr marL="91440" marR="91440" marT="45720" marB="45720">
                    <a:lnR w="6668">
                      <a:solidFill>
                        <a:srgbClr val="DCE4EB"/>
                      </a:solidFill>
                      <a:prstDash val="solid"/>
                    </a:lnR>
                    <a:lnB w="6668">
                      <a:solidFill>
                        <a:srgbClr val="DCE4EB"/>
                      </a:solidFill>
                      <a:prstDash val="solid"/>
                    </a:lnB>
                    <a:solidFill>
                      <a:srgbClr val="EFF3F7"/>
                    </a:solidFill>
                  </a:tcPr>
                </a:tc>
              </a:tr>
              <a:tr h="571500">
                <a:tc>
                  <a:txBody>
                    <a:bodyPr/>
                    <a:lstStyle/>
                    <a:p>
                      <a:r>
                        <a:rPr sz="1725" b="0">
                          <a:solidFill>
                            <a:srgbClr val="263547"/>
                          </a:solidFill>
                          <a:latin typeface="Arial"/>
                          <a:ea typeface="Arial"/>
                          <a:cs typeface="Arial"/>
                        </a:rPr>
                        <a:t>Freeze / test</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725" b="0">
                          <a:solidFill>
                            <a:srgbClr val="263547"/>
                          </a:solidFill>
                          <a:latin typeface="Arial"/>
                          <a:ea typeface="Arial"/>
                          <a:cs typeface="Arial"/>
                        </a:rPr>
                        <a:t>final_test_protocol.json + run_test.py</a:t>
                      </a:r>
                    </a:p>
                  </a:txBody>
                  <a:tcPr marL="91440" marR="91440" marT="45720" marB="45720">
                    <a:lnR w="6668">
                      <a:solidFill>
                        <a:srgbClr val="DCE4EB"/>
                      </a:solidFill>
                      <a:prstDash val="solid"/>
                    </a:lnR>
                    <a:lnB w="6668">
                      <a:solidFill>
                        <a:srgbClr val="DCE4EB"/>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89225F1-275D-465B-9BBC-273F394AE079}"/>
              </a:ext>
            </a:extLst>
          </p:cNvPr>
          <p:cNvSpPr>
            <a:spLocks xmlns:a="http://schemas.openxmlformats.org/drawingml/2006/main" noGrp="1"/>
          </p:cNvSpPr>
          <p:nvPr/>
        </p:nvSpPr>
        <p:spPr>
          <a:xfrm xmlns:a="http://schemas.openxmlformats.org/drawingml/2006/main">
            <a:off x="7953375" y="1762125"/>
            <a:ext cx="3667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Key safeguards</a:t>
            </a:r>
          </a:p>
        </p:txBody>
      </p:sp>
      <p:sp>
        <p:nvSpPr>
          <p:cNvPr id="7" name="">
            <a:extLst xmlns:a="http://schemas.openxmlformats.org/drawingml/2006/main">
              <a:ext uri="{FF2B5EF4-FFF2-40B4-BE49-F238E27FC236}">
                <a16:creationId xmlns:a16="http://schemas.microsoft.com/office/drawing/2014/main" id="{58F17A39-0F56-4898-8B65-0C3CA0DED93A}"/>
              </a:ext>
            </a:extLst>
          </p:cNvPr>
          <p:cNvSpPr>
            <a:spLocks xmlns:a="http://schemas.openxmlformats.org/drawingml/2006/main" noGrp="1"/>
          </p:cNvSpPr>
          <p:nvPr/>
        </p:nvSpPr>
        <p:spPr>
          <a:xfrm xmlns:a="http://schemas.openxmlformats.org/drawingml/2006/main">
            <a:off x="7953375" y="2181225"/>
            <a:ext cx="36671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547"/>
                </a:solidFill>
                <a:latin typeface="Arial"/>
                <a:ea typeface="Arial"/>
                <a:cs typeface="Arial"/>
              </a:defRPr>
            </a:defPPr>
            <a:lvl1pPr>
              <a:defRPr sz="1800" b="0">
                <a:solidFill>
                  <a:srgbClr val="263547"/>
                </a:solidFill>
                <a:latin typeface="Arial"/>
                <a:ea typeface="Arial"/>
                <a:cs typeface="Arial"/>
              </a:defRPr>
            </a:lvl1pPr>
            <a:lvl2pPr>
              <a:defRPr sz="1800" b="0">
                <a:solidFill>
                  <a:srgbClr val="263547"/>
                </a:solidFill>
                <a:latin typeface="Arial"/>
                <a:ea typeface="Arial"/>
                <a:cs typeface="Arial"/>
              </a:defRPr>
            </a:lvl2pPr>
            <a:lvl3pPr>
              <a:defRPr sz="1800" b="0">
                <a:solidFill>
                  <a:srgbClr val="263547"/>
                </a:solidFill>
                <a:latin typeface="Arial"/>
                <a:ea typeface="Arial"/>
                <a:cs typeface="Arial"/>
              </a:defRPr>
            </a:lvl3pPr>
            <a:lvl4pPr>
              <a:defRPr sz="1800" b="0">
                <a:solidFill>
                  <a:srgbClr val="263547"/>
                </a:solidFill>
                <a:latin typeface="Arial"/>
                <a:ea typeface="Arial"/>
                <a:cs typeface="Arial"/>
              </a:defRPr>
            </a:lvl4pPr>
            <a:lvl5pPr>
              <a:defRPr sz="1800" b="0">
                <a:solidFill>
                  <a:srgbClr val="263547"/>
                </a:solidFill>
                <a:latin typeface="Arial"/>
                <a:ea typeface="Arial"/>
                <a:cs typeface="Arial"/>
              </a:defRPr>
            </a:lvl5pPr>
            <a:lvl6pPr>
              <a:defRPr sz="1800" b="0">
                <a:solidFill>
                  <a:srgbClr val="263547"/>
                </a:solidFill>
                <a:latin typeface="Arial"/>
                <a:ea typeface="Arial"/>
                <a:cs typeface="Arial"/>
              </a:defRPr>
            </a:lvl6pPr>
            <a:lvl7pPr>
              <a:defRPr sz="1800" b="0">
                <a:solidFill>
                  <a:srgbClr val="263547"/>
                </a:solidFill>
                <a:latin typeface="Arial"/>
                <a:ea typeface="Arial"/>
                <a:cs typeface="Arial"/>
              </a:defRPr>
            </a:lvl7pPr>
            <a:lvl8pPr>
              <a:defRPr sz="1800" b="0">
                <a:solidFill>
                  <a:srgbClr val="263547"/>
                </a:solidFill>
                <a:latin typeface="Arial"/>
                <a:ea typeface="Arial"/>
                <a:cs typeface="Arial"/>
              </a:defRPr>
            </a:lvl8pPr>
            <a:lvl9pPr>
              <a:defRPr sz="1800" b="0">
                <a:solidFill>
                  <a:srgbClr val="263547"/>
                </a:solidFill>
                <a:latin typeface="Arial"/>
                <a:ea typeface="Arial"/>
                <a:cs typeface="Arial"/>
              </a:defRPr>
            </a:lvl9pPr>
          </a:lstStyle>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Persist before launch.</a:t>
            </a:r>
          </a:p>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Check task / protocol fingerprints.</a:t>
            </a:r>
          </a:p>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Serialize runs with a shared lock.</a:t>
            </a:r>
          </a:p>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Retain raw evidence and billing checks.</a:t>
            </a:r>
          </a:p>
        </p:txBody>
      </p:sp>
      <p:sp>
        <p:nvSpPr>
          <p:cNvPr id="8" name="">
            <a:extLst xmlns:a="http://schemas.openxmlformats.org/drawingml/2006/main">
              <a:ext uri="{FF2B5EF4-FFF2-40B4-BE49-F238E27FC236}">
                <a16:creationId xmlns:a16="http://schemas.microsoft.com/office/drawing/2014/main" id="{DD13AD4B-2C28-4199-A323-3F0675379EDC}"/>
              </a:ext>
            </a:extLst>
          </p:cNvPr>
          <p:cNvSpPr>
            <a:spLocks xmlns:a="http://schemas.openxmlformats.org/drawingml/2006/main" noGrp="1"/>
          </p:cNvSpPr>
          <p:nvPr/>
        </p:nvSpPr>
        <p:spPr>
          <a:xfrm xmlns:a="http://schemas.openxmlformats.org/drawingml/2006/main">
            <a:off x="666750" y="5076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Scored zero ≠ missing reward ≠ unresolved billing</a:t>
            </a:r>
          </a:p>
        </p:txBody>
      </p:sp>
      <p:sp>
        <p:nvSpPr>
          <p:cNvPr id="9" name="">
            <a:extLst xmlns:a="http://schemas.openxmlformats.org/drawingml/2006/main">
              <a:ext uri="{FF2B5EF4-FFF2-40B4-BE49-F238E27FC236}">
                <a16:creationId xmlns:a16="http://schemas.microsoft.com/office/drawing/2014/main" id="{FDB2722C-49FA-4CD2-BDCA-EDEE6D76EBEB}"/>
              </a:ext>
            </a:extLst>
          </p:cNvPr>
          <p:cNvSpPr>
            <a:spLocks xmlns:a="http://schemas.openxmlformats.org/drawingml/2006/main" noGrp="1"/>
          </p:cNvSpPr>
          <p:nvPr/>
        </p:nvSpPr>
        <p:spPr>
          <a:xfrm xmlns:a="http://schemas.openxmlformats.org/drawingml/2006/main">
            <a:off x="666750" y="574357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Installation retries and later failure-rule amendments are documented operational changes.</a:t>
            </a:r>
          </a:p>
        </p:txBody>
      </p:sp>
    </p:spTree>
    <p:extLst>
      <p:ext uri="{BB962C8B-B14F-4D97-AF65-F5344CB8AC3E}">
        <p14:creationId xmlns:p14="http://schemas.microsoft.com/office/powerpoint/2010/main" val="17364547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33D2FF-83F2-4D80-8FC1-FBE83BB34FF2}"/>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Validation incumbent and configuration selection</a:t>
            </a:r>
          </a:p>
        </p:txBody>
      </p:sp>
      <p:sp>
        <p:nvSpPr>
          <p:cNvPr id="2" name="">
            <a:extLst xmlns:a="http://schemas.openxmlformats.org/drawingml/2006/main">
              <a:ext uri="{FF2B5EF4-FFF2-40B4-BE49-F238E27FC236}">
                <a16:creationId xmlns:a16="http://schemas.microsoft.com/office/drawing/2014/main" id="{9D8CCDB6-23C9-43C9-9580-4904BB9393BE}"/>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Best-so-far performance includes only complete, eligible validation candidates</a:t>
            </a:r>
          </a:p>
        </p:txBody>
      </p:sp>
      <p:sp>
        <p:nvSpPr>
          <p:cNvPr id="3" name="">
            <a:extLst xmlns:a="http://schemas.openxmlformats.org/drawingml/2006/main">
              <a:ext uri="{FF2B5EF4-FFF2-40B4-BE49-F238E27FC236}">
                <a16:creationId xmlns:a16="http://schemas.microsoft.com/office/drawing/2014/main" id="{717251E1-247A-4DAC-B8DC-0C62FA6B9403}"/>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3DBB29A9-9CFF-4F2C-90A2-9CA1B502582F}"/>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C17BB7D7-D3DB-4606-BD3A-68D4CA09599D}"/>
              </a:ext>
            </a:extLst>
          </p:cNvPr>
          <p:cNvGraphicFramePr/>
          <p:nvPr/>
        </p:nvGraphicFramePr>
        <p:xfrm>
          <a:off xmlns:a="http://schemas.openxmlformats.org/drawingml/2006/main" x="552450" y="1752600"/>
          <a:ext xmlns:a="http://schemas.openxmlformats.org/drawingml/2006/main" cx="7762875" cy="3724275"/>
        </p:xfrm>
        <a:graphic xmlns:a="http://schemas.openxmlformats.org/drawingml/2006/main">
          <a:graphicData uri="http://schemas.openxmlformats.org/drawingml/2006/chart">
            <c:chart xmlns:r="http://schemas.openxmlformats.org/officeDocument/2006/relationships" xmlns:c="http://schemas.openxmlformats.org/drawingml/2006/chart" r:id="R60eeb91d016e479c"/>
          </a:graphicData>
        </a:graphic>
      </p:graphicFrame>
      <p:sp>
        <p:nvSpPr>
          <p:cNvPr id="6" name="">
            <a:extLst xmlns:a="http://schemas.openxmlformats.org/drawingml/2006/main">
              <a:ext uri="{FF2B5EF4-FFF2-40B4-BE49-F238E27FC236}">
                <a16:creationId xmlns:a16="http://schemas.microsoft.com/office/drawing/2014/main" id="{3FCE33E2-FA2C-4AC9-86E4-B08D481A2902}"/>
              </a:ext>
            </a:extLst>
          </p:cNvPr>
          <p:cNvSpPr>
            <a:spLocks xmlns:a="http://schemas.openxmlformats.org/drawingml/2006/main" noGrp="1"/>
          </p:cNvSpPr>
          <p:nvPr/>
        </p:nvSpPr>
        <p:spPr>
          <a:xfrm xmlns:a="http://schemas.openxmlformats.org/drawingml/2006/main">
            <a:off x="8639175" y="1771650"/>
            <a:ext cx="295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Selected settings</a:t>
            </a:r>
          </a:p>
        </p:txBody>
      </p:sp>
      <p:sp>
        <p:nvSpPr>
          <p:cNvPr id="7" name="">
            <a:extLst xmlns:a="http://schemas.openxmlformats.org/drawingml/2006/main">
              <a:ext uri="{FF2B5EF4-FFF2-40B4-BE49-F238E27FC236}">
                <a16:creationId xmlns:a16="http://schemas.microsoft.com/office/drawing/2014/main" id="{C6DC0EB3-0653-446B-A416-0069A92DCBC2}"/>
              </a:ext>
            </a:extLst>
          </p:cNvPr>
          <p:cNvSpPr>
            <a:spLocks xmlns:a="http://schemas.openxmlformats.org/drawingml/2006/main" noGrp="1"/>
          </p:cNvSpPr>
          <p:nvPr/>
        </p:nvSpPr>
        <p:spPr>
          <a:xfrm xmlns:a="http://schemas.openxmlformats.org/drawingml/2006/main">
            <a:off x="8639175" y="2190750"/>
            <a:ext cx="295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63547"/>
                </a:solidFill>
                <a:latin typeface="Arial"/>
                <a:ea typeface="Arial"/>
                <a:cs typeface="Arial"/>
              </a:defRPr>
            </a:defPPr>
            <a:lvl1pPr>
              <a:defRPr sz="1650" b="0">
                <a:solidFill>
                  <a:srgbClr val="263547"/>
                </a:solidFill>
                <a:latin typeface="Arial"/>
                <a:ea typeface="Arial"/>
                <a:cs typeface="Arial"/>
              </a:defRPr>
            </a:lvl1pPr>
            <a:lvl2pPr>
              <a:defRPr sz="1650" b="0">
                <a:solidFill>
                  <a:srgbClr val="263547"/>
                </a:solidFill>
                <a:latin typeface="Arial"/>
                <a:ea typeface="Arial"/>
                <a:cs typeface="Arial"/>
              </a:defRPr>
            </a:lvl2pPr>
            <a:lvl3pPr>
              <a:defRPr sz="1650" b="0">
                <a:solidFill>
                  <a:srgbClr val="263547"/>
                </a:solidFill>
                <a:latin typeface="Arial"/>
                <a:ea typeface="Arial"/>
                <a:cs typeface="Arial"/>
              </a:defRPr>
            </a:lvl3pPr>
            <a:lvl4pPr>
              <a:defRPr sz="1650" b="0">
                <a:solidFill>
                  <a:srgbClr val="263547"/>
                </a:solidFill>
                <a:latin typeface="Arial"/>
                <a:ea typeface="Arial"/>
                <a:cs typeface="Arial"/>
              </a:defRPr>
            </a:lvl4pPr>
            <a:lvl5pPr>
              <a:defRPr sz="1650" b="0">
                <a:solidFill>
                  <a:srgbClr val="263547"/>
                </a:solidFill>
                <a:latin typeface="Arial"/>
                <a:ea typeface="Arial"/>
                <a:cs typeface="Arial"/>
              </a:defRPr>
            </a:lvl5pPr>
            <a:lvl6pPr>
              <a:defRPr sz="1650" b="0">
                <a:solidFill>
                  <a:srgbClr val="263547"/>
                </a:solidFill>
                <a:latin typeface="Arial"/>
                <a:ea typeface="Arial"/>
                <a:cs typeface="Arial"/>
              </a:defRPr>
            </a:lvl6pPr>
            <a:lvl7pPr>
              <a:defRPr sz="1650" b="0">
                <a:solidFill>
                  <a:srgbClr val="263547"/>
                </a:solidFill>
                <a:latin typeface="Arial"/>
                <a:ea typeface="Arial"/>
                <a:cs typeface="Arial"/>
              </a:defRPr>
            </a:lvl7pPr>
            <a:lvl8pPr>
              <a:defRPr sz="1650" b="0">
                <a:solidFill>
                  <a:srgbClr val="263547"/>
                </a:solidFill>
                <a:latin typeface="Arial"/>
                <a:ea typeface="Arial"/>
                <a:cs typeface="Arial"/>
              </a:defRPr>
            </a:lvl8pPr>
            <a:lvl9pPr>
              <a:defRPr sz="1650" b="0">
                <a:solidFill>
                  <a:srgbClr val="263547"/>
                </a:solidFill>
                <a:latin typeface="Arial"/>
                <a:ea typeface="Arial"/>
                <a:cs typeface="Arial"/>
              </a:defRPr>
            </a:lvl9pPr>
          </a:lstStyle>
          <a:p xmlns:a="http://schemas.openxmlformats.org/drawingml/2006/main">
            <a:pPr>
              <a:defRPr sz="1650" b="0">
                <a:solidFill>
                  <a:srgbClr val="263547"/>
                </a:solidFill>
                <a:latin typeface="Arial"/>
                <a:ea typeface="Arial"/>
                <a:cs typeface="Arial"/>
              </a:defRPr>
            </a:pPr>
            <a:r>
              <a:rPr sz="1650" b="0">
                <a:solidFill>
                  <a:srgbClr val="263547"/>
                </a:solidFill>
                <a:latin typeface="Arial"/>
                <a:ea typeface="Arial"/>
                <a:cs typeface="Arial"/>
              </a:rPr>
              <a:t>Random 64k / 16384: 0/3</a:t>
            </a:r>
          </a:p>
          <a:p xmlns:a="http://schemas.openxmlformats.org/drawingml/2006/main">
            <a:pPr>
              <a:defRPr sz="1650" b="0">
                <a:solidFill>
                  <a:srgbClr val="263547"/>
                </a:solidFill>
                <a:latin typeface="Arial"/>
                <a:ea typeface="Arial"/>
                <a:cs typeface="Arial"/>
              </a:defRPr>
            </a:pPr>
            <a:r>
              <a:rPr sz="1650" b="0">
                <a:solidFill>
                  <a:srgbClr val="263547"/>
                </a:solidFill>
                <a:latin typeface="Arial"/>
                <a:ea typeface="Arial"/>
                <a:cs typeface="Arial"/>
              </a:rPr>
              <a:t>TPE 128k / 4096: 1/3</a:t>
            </a:r>
          </a:p>
          <a:p xmlns:a="http://schemas.openxmlformats.org/drawingml/2006/main">
            <a:pPr>
              <a:defRPr sz="1650" b="0">
                <a:solidFill>
                  <a:srgbClr val="263547"/>
                </a:solidFill>
                <a:latin typeface="Arial"/>
                <a:ea typeface="Arial"/>
                <a:cs typeface="Arial"/>
              </a:defRPr>
            </a:pPr>
            <a:r>
              <a:rPr sz="1650" b="0">
                <a:solidFill>
                  <a:srgbClr val="263547"/>
                </a:solidFill>
                <a:latin typeface="Arial"/>
                <a:ea typeface="Arial"/>
                <a:cs typeface="Arial"/>
              </a:rPr>
              <a:t>Multi-fid. 64k / 16384: 0/3</a:t>
            </a:r>
          </a:p>
        </p:txBody>
      </p:sp>
      <p:sp>
        <p:nvSpPr>
          <p:cNvPr id="8" name="">
            <a:extLst xmlns:a="http://schemas.openxmlformats.org/drawingml/2006/main">
              <a:ext uri="{FF2B5EF4-FFF2-40B4-BE49-F238E27FC236}">
                <a16:creationId xmlns:a16="http://schemas.microsoft.com/office/drawing/2014/main" id="{B7DEA85B-0101-403F-AF8A-B7CAA842531D}"/>
              </a:ext>
            </a:extLst>
          </p:cNvPr>
          <p:cNvSpPr>
            <a:spLocks xmlns:a="http://schemas.openxmlformats.org/drawingml/2006/main" noGrp="1"/>
          </p:cNvSpPr>
          <p:nvPr/>
        </p:nvSpPr>
        <p:spPr>
          <a:xfrm xmlns:a="http://schemas.openxmlformats.org/drawingml/2006/main">
            <a:off x="8639175" y="3714750"/>
            <a:ext cx="295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Interpreting the curve</a:t>
            </a:r>
          </a:p>
        </p:txBody>
      </p:sp>
      <p:sp>
        <p:nvSpPr>
          <p:cNvPr id="9" name="">
            <a:extLst xmlns:a="http://schemas.openxmlformats.org/drawingml/2006/main">
              <a:ext uri="{FF2B5EF4-FFF2-40B4-BE49-F238E27FC236}">
                <a16:creationId xmlns:a16="http://schemas.microsoft.com/office/drawing/2014/main" id="{492158CE-FBB3-4534-95B3-6E0DBD3F6C79}"/>
              </a:ext>
            </a:extLst>
          </p:cNvPr>
          <p:cNvSpPr>
            <a:spLocks xmlns:a="http://schemas.openxmlformats.org/drawingml/2006/main" noGrp="1"/>
          </p:cNvSpPr>
          <p:nvPr/>
        </p:nvSpPr>
        <p:spPr>
          <a:xfrm xmlns:a="http://schemas.openxmlformats.org/drawingml/2006/main">
            <a:off x="8639175" y="4133850"/>
            <a:ext cx="295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63547"/>
                </a:solidFill>
                <a:latin typeface="Arial"/>
                <a:ea typeface="Arial"/>
                <a:cs typeface="Arial"/>
              </a:defRPr>
            </a:defPPr>
            <a:lvl1pPr>
              <a:defRPr sz="1800" b="0">
                <a:solidFill>
                  <a:srgbClr val="263547"/>
                </a:solidFill>
                <a:latin typeface="Arial"/>
                <a:ea typeface="Arial"/>
                <a:cs typeface="Arial"/>
              </a:defRPr>
            </a:lvl1pPr>
            <a:lvl2pPr>
              <a:defRPr sz="1800" b="0">
                <a:solidFill>
                  <a:srgbClr val="263547"/>
                </a:solidFill>
                <a:latin typeface="Arial"/>
                <a:ea typeface="Arial"/>
                <a:cs typeface="Arial"/>
              </a:defRPr>
            </a:lvl2pPr>
            <a:lvl3pPr>
              <a:defRPr sz="1800" b="0">
                <a:solidFill>
                  <a:srgbClr val="263547"/>
                </a:solidFill>
                <a:latin typeface="Arial"/>
                <a:ea typeface="Arial"/>
                <a:cs typeface="Arial"/>
              </a:defRPr>
            </a:lvl3pPr>
            <a:lvl4pPr>
              <a:defRPr sz="1800" b="0">
                <a:solidFill>
                  <a:srgbClr val="263547"/>
                </a:solidFill>
                <a:latin typeface="Arial"/>
                <a:ea typeface="Arial"/>
                <a:cs typeface="Arial"/>
              </a:defRPr>
            </a:lvl4pPr>
            <a:lvl5pPr>
              <a:defRPr sz="1800" b="0">
                <a:solidFill>
                  <a:srgbClr val="263547"/>
                </a:solidFill>
                <a:latin typeface="Arial"/>
                <a:ea typeface="Arial"/>
                <a:cs typeface="Arial"/>
              </a:defRPr>
            </a:lvl5pPr>
            <a:lvl6pPr>
              <a:defRPr sz="1800" b="0">
                <a:solidFill>
                  <a:srgbClr val="263547"/>
                </a:solidFill>
                <a:latin typeface="Arial"/>
                <a:ea typeface="Arial"/>
                <a:cs typeface="Arial"/>
              </a:defRPr>
            </a:lvl6pPr>
            <a:lvl7pPr>
              <a:defRPr sz="1800" b="0">
                <a:solidFill>
                  <a:srgbClr val="263547"/>
                </a:solidFill>
                <a:latin typeface="Arial"/>
                <a:ea typeface="Arial"/>
                <a:cs typeface="Arial"/>
              </a:defRPr>
            </a:lvl7pPr>
            <a:lvl8pPr>
              <a:defRPr sz="1800" b="0">
                <a:solidFill>
                  <a:srgbClr val="263547"/>
                </a:solidFill>
                <a:latin typeface="Arial"/>
                <a:ea typeface="Arial"/>
                <a:cs typeface="Arial"/>
              </a:defRPr>
            </a:lvl8pPr>
            <a:lvl9pPr>
              <a:defRPr sz="1800" b="0">
                <a:solidFill>
                  <a:srgbClr val="263547"/>
                </a:solidFill>
                <a:latin typeface="Arial"/>
                <a:ea typeface="Arial"/>
                <a:cs typeface="Arial"/>
              </a:defRPr>
            </a:lvl9pPr>
          </a:lstStyle>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TPE repeats one setting.</a:t>
            </a:r>
          </a:p>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Multi-fidelity completes its</a:t>
            </a:r>
          </a:p>
          <a:p xmlns:a="http://schemas.openxmlformats.org/drawingml/2006/main">
            <a:pPr>
              <a:defRPr sz="1800" b="0">
                <a:solidFill>
                  <a:srgbClr val="263547"/>
                </a:solidFill>
                <a:latin typeface="Arial"/>
                <a:ea typeface="Arial"/>
                <a:cs typeface="Arial"/>
              </a:defRPr>
            </a:pPr>
            <a:r>
              <a:rPr sz="1800" b="0">
                <a:solidFill>
                  <a:srgbClr val="263547"/>
                </a:solidFill>
                <a:latin typeface="Arial"/>
                <a:ea typeface="Arial"/>
                <a:cs typeface="Arial"/>
              </a:rPr>
              <a:t>only incumbent at slot 9.</a:t>
            </a:r>
          </a:p>
        </p:txBody>
      </p:sp>
      <p:sp>
        <p:nvSpPr>
          <p:cNvPr id="10" name="">
            <a:extLst xmlns:a="http://schemas.openxmlformats.org/drawingml/2006/main">
              <a:ext uri="{FF2B5EF4-FFF2-40B4-BE49-F238E27FC236}">
                <a16:creationId xmlns:a16="http://schemas.microsoft.com/office/drawing/2014/main" id="{700AF056-1E16-45FF-BD62-1168FD710605}"/>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A single success and a small task set do not establish a general optimizer ranking.</a:t>
            </a:r>
          </a:p>
        </p:txBody>
      </p:sp>
    </p:spTree>
    <p:extLst>
      <p:ext uri="{BB962C8B-B14F-4D97-AF65-F5344CB8AC3E}">
        <p14:creationId xmlns:p14="http://schemas.microsoft.com/office/powerpoint/2010/main" val="875452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924317-0665-4891-9DB8-3C74DAED77D1}"/>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Held-out performance and generalization</a:t>
            </a:r>
          </a:p>
        </p:txBody>
      </p:sp>
      <p:sp>
        <p:nvSpPr>
          <p:cNvPr id="2" name="">
            <a:extLst xmlns:a="http://schemas.openxmlformats.org/drawingml/2006/main">
              <a:ext uri="{FF2B5EF4-FFF2-40B4-BE49-F238E27FC236}">
                <a16:creationId xmlns:a16="http://schemas.microsoft.com/office/drawing/2014/main" id="{2481D6A6-BCBB-4885-897B-86BA9704F4C4}"/>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The selected configurations are evaluated separately from validation</a:t>
            </a:r>
          </a:p>
        </p:txBody>
      </p:sp>
      <p:sp>
        <p:nvSpPr>
          <p:cNvPr id="3" name="">
            <a:extLst xmlns:a="http://schemas.openxmlformats.org/drawingml/2006/main">
              <a:ext uri="{FF2B5EF4-FFF2-40B4-BE49-F238E27FC236}">
                <a16:creationId xmlns:a16="http://schemas.microsoft.com/office/drawing/2014/main" id="{530C5E72-F842-4EFD-94F7-748727E2DB12}"/>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B6E82257-2508-43D8-BD10-68C9C20BA858}"/>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6AFDE7E5-5600-4B14-9298-056BFC9C36CE}"/>
              </a:ext>
            </a:extLst>
          </p:cNvPr>
          <p:cNvGraphicFramePr/>
          <p:nvPr/>
        </p:nvGraphicFramePr>
        <p:xfrm>
          <a:off xmlns:a="http://schemas.openxmlformats.org/drawingml/2006/main" x="609600" y="1733550"/>
          <a:ext xmlns:a="http://schemas.openxmlformats.org/drawingml/2006/main" cx="10972800" cy="2876550"/>
        </p:xfrm>
        <a:graphic xmlns:a="http://schemas.openxmlformats.org/drawingml/2006/main">
          <a:graphicData uri="http://schemas.openxmlformats.org/drawingml/2006/table">
            <a:tbl>
              <a:tblPr/>
              <a:tblGrid>
                <a:gridCol w="2209800"/>
                <a:gridCol w="2857500"/>
                <a:gridCol w="2667000"/>
                <a:gridCol w="3238500"/>
              </a:tblGrid>
              <a:tr h="575310">
                <a:tc>
                  <a:txBody>
                    <a:bodyPr/>
                    <a:lstStyle/>
                    <a:p>
                      <a:r>
                        <a:rPr sz="1800" b="1">
                          <a:solidFill>
                            <a:srgbClr val="FFFFFF"/>
                          </a:solidFill>
                          <a:latin typeface="Arial"/>
                          <a:ea typeface="Arial"/>
                          <a:cs typeface="Arial"/>
                        </a:rPr>
                        <a:t>Method</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00" b="1">
                          <a:solidFill>
                            <a:srgbClr val="FFFFFF"/>
                          </a:solidFill>
                          <a:latin typeface="Arial"/>
                          <a:ea typeface="Arial"/>
                          <a:cs typeface="Arial"/>
                        </a:rPr>
                        <a:t>Validation result</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00" b="1">
                          <a:solidFill>
                            <a:srgbClr val="FFFFFF"/>
                          </a:solidFill>
                          <a:latin typeface="Arial"/>
                          <a:ea typeface="Arial"/>
                          <a:cs typeface="Arial"/>
                        </a:rPr>
                        <a:t>Original test</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00" b="1">
                          <a:solidFill>
                            <a:srgbClr val="FFFFFF"/>
                          </a:solidFill>
                          <a:latin typeface="Arial"/>
                          <a:ea typeface="Arial"/>
                          <a:cs typeface="Arial"/>
                        </a:rPr>
                        <a:t>After supplementation</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575310">
                <a:tc>
                  <a:txBody>
                    <a:bodyPr/>
                    <a:lstStyle/>
                    <a:p>
                      <a:r>
                        <a:rPr sz="1800" b="0">
                          <a:solidFill>
                            <a:srgbClr val="263547"/>
                          </a:solidFill>
                          <a:latin typeface="Arial"/>
                          <a:ea typeface="Arial"/>
                          <a:cs typeface="Arial"/>
                        </a:rPr>
                        <a:t>Default</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1/3 historical baseline</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0/2 + 1 missing</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0/3 (0%)</a:t>
                      </a:r>
                    </a:p>
                  </a:txBody>
                  <a:tcPr marL="91440" marR="91440" marT="45720" marB="45720">
                    <a:lnR w="6668">
                      <a:solidFill>
                        <a:srgbClr val="DCE4EB"/>
                      </a:solidFill>
                      <a:prstDash val="solid"/>
                    </a:lnR>
                    <a:lnB w="6668">
                      <a:solidFill>
                        <a:srgbClr val="DCE4EB"/>
                      </a:solidFill>
                      <a:prstDash val="solid"/>
                    </a:lnB>
                    <a:solidFill>
                      <a:srgbClr val="EFF3F7"/>
                    </a:solidFill>
                  </a:tcPr>
                </a:tc>
              </a:tr>
              <a:tr h="575310">
                <a:tc>
                  <a:txBody>
                    <a:bodyPr/>
                    <a:lstStyle/>
                    <a:p>
                      <a:r>
                        <a:rPr sz="1800" b="0">
                          <a:solidFill>
                            <a:srgbClr val="263547"/>
                          </a:solidFill>
                          <a:latin typeface="Arial"/>
                          <a:ea typeface="Arial"/>
                          <a:cs typeface="Arial"/>
                        </a:rPr>
                        <a:t>Random</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0/3 selected candidate</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0/3</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0/3 (0%)</a:t>
                      </a:r>
                    </a:p>
                  </a:txBody>
                  <a:tcPr marL="91440" marR="91440" marT="45720" marB="45720">
                    <a:lnR w="6668">
                      <a:solidFill>
                        <a:srgbClr val="DCE4EB"/>
                      </a:solidFill>
                      <a:prstDash val="solid"/>
                    </a:lnR>
                    <a:lnB w="6668">
                      <a:solidFill>
                        <a:srgbClr val="DCE4EB"/>
                      </a:solidFill>
                      <a:prstDash val="solid"/>
                    </a:lnB>
                    <a:solidFill>
                      <a:srgbClr val="FFFFFF"/>
                    </a:solidFill>
                  </a:tcPr>
                </a:tc>
              </a:tr>
              <a:tr h="575310">
                <a:tc>
                  <a:txBody>
                    <a:bodyPr/>
                    <a:lstStyle/>
                    <a:p>
                      <a:r>
                        <a:rPr sz="1800" b="0">
                          <a:solidFill>
                            <a:srgbClr val="263547"/>
                          </a:solidFill>
                          <a:latin typeface="Arial"/>
                          <a:ea typeface="Arial"/>
                          <a:cs typeface="Arial"/>
                        </a:rPr>
                        <a:t>Bayesian / TPE</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1/3 selected candidate</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0/2 + 1 missing</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0/3 (0%)</a:t>
                      </a:r>
                    </a:p>
                  </a:txBody>
                  <a:tcPr marL="91440" marR="91440" marT="45720" marB="45720">
                    <a:lnR w="6668">
                      <a:solidFill>
                        <a:srgbClr val="DCE4EB"/>
                      </a:solidFill>
                      <a:prstDash val="solid"/>
                    </a:lnR>
                    <a:lnB w="6668">
                      <a:solidFill>
                        <a:srgbClr val="DCE4EB"/>
                      </a:solidFill>
                      <a:prstDash val="solid"/>
                    </a:lnB>
                    <a:solidFill>
                      <a:srgbClr val="EFF3F7"/>
                    </a:solidFill>
                  </a:tcPr>
                </a:tc>
              </a:tr>
              <a:tr h="575310">
                <a:tc>
                  <a:txBody>
                    <a:bodyPr/>
                    <a:lstStyle/>
                    <a:p>
                      <a:r>
                        <a:rPr sz="1800" b="0">
                          <a:solidFill>
                            <a:srgbClr val="263547"/>
                          </a:solidFill>
                          <a:latin typeface="Arial"/>
                          <a:ea typeface="Arial"/>
                          <a:cs typeface="Arial"/>
                        </a:rPr>
                        <a:t>Multi-fidelity</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0/3 selected candidate</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0/3</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0/3 (0%)</a:t>
                      </a:r>
                    </a:p>
                  </a:txBody>
                  <a:tcPr marL="91440" marR="91440" marT="45720" marB="45720">
                    <a:lnR w="6668">
                      <a:solidFill>
                        <a:srgbClr val="DCE4EB"/>
                      </a:solidFill>
                      <a:prstDash val="solid"/>
                    </a:lnR>
                    <a:lnB w="6668">
                      <a:solidFill>
                        <a:srgbClr val="DCE4EB"/>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7DE8702-034E-4FF1-85FD-124DBC24CC08}"/>
              </a:ext>
            </a:extLst>
          </p:cNvPr>
          <p:cNvSpPr>
            <a:spLocks xmlns:a="http://schemas.openxmlformats.org/drawingml/2006/main" noGrp="1"/>
          </p:cNvSpPr>
          <p:nvPr/>
        </p:nvSpPr>
        <p:spPr>
          <a:xfrm xmlns:a="http://schemas.openxmlformats.org/drawingml/2006/main">
            <a:off x="647700" y="4933950"/>
            <a:ext cx="5334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Generalization gap</a:t>
            </a:r>
          </a:p>
        </p:txBody>
      </p:sp>
      <p:sp>
        <p:nvSpPr>
          <p:cNvPr id="7" name="">
            <a:extLst xmlns:a="http://schemas.openxmlformats.org/drawingml/2006/main">
              <a:ext uri="{FF2B5EF4-FFF2-40B4-BE49-F238E27FC236}">
                <a16:creationId xmlns:a16="http://schemas.microsoft.com/office/drawing/2014/main" id="{C540DAB8-7539-44EA-BD04-47475757A239}"/>
              </a:ext>
            </a:extLst>
          </p:cNvPr>
          <p:cNvSpPr>
            <a:spLocks xmlns:a="http://schemas.openxmlformats.org/drawingml/2006/main" noGrp="1"/>
          </p:cNvSpPr>
          <p:nvPr/>
        </p:nvSpPr>
        <p:spPr>
          <a:xfrm xmlns:a="http://schemas.openxmlformats.org/drawingml/2006/main">
            <a:off x="647700" y="5353050"/>
            <a:ext cx="5334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547"/>
                </a:solidFill>
                <a:latin typeface="Arial"/>
                <a:ea typeface="Arial"/>
                <a:cs typeface="Arial"/>
              </a:defRPr>
            </a:defPPr>
            <a:lvl1pPr>
              <a:defRPr sz="1950" b="0">
                <a:solidFill>
                  <a:srgbClr val="263547"/>
                </a:solidFill>
                <a:latin typeface="Arial"/>
                <a:ea typeface="Arial"/>
                <a:cs typeface="Arial"/>
              </a:defRPr>
            </a:lvl1pPr>
            <a:lvl2pPr>
              <a:defRPr sz="1950" b="0">
                <a:solidFill>
                  <a:srgbClr val="263547"/>
                </a:solidFill>
                <a:latin typeface="Arial"/>
                <a:ea typeface="Arial"/>
                <a:cs typeface="Arial"/>
              </a:defRPr>
            </a:lvl2pPr>
            <a:lvl3pPr>
              <a:defRPr sz="1950" b="0">
                <a:solidFill>
                  <a:srgbClr val="263547"/>
                </a:solidFill>
                <a:latin typeface="Arial"/>
                <a:ea typeface="Arial"/>
                <a:cs typeface="Arial"/>
              </a:defRPr>
            </a:lvl3pPr>
            <a:lvl4pPr>
              <a:defRPr sz="1950" b="0">
                <a:solidFill>
                  <a:srgbClr val="263547"/>
                </a:solidFill>
                <a:latin typeface="Arial"/>
                <a:ea typeface="Arial"/>
                <a:cs typeface="Arial"/>
              </a:defRPr>
            </a:lvl4pPr>
            <a:lvl5pPr>
              <a:defRPr sz="1950" b="0">
                <a:solidFill>
                  <a:srgbClr val="263547"/>
                </a:solidFill>
                <a:latin typeface="Arial"/>
                <a:ea typeface="Arial"/>
                <a:cs typeface="Arial"/>
              </a:defRPr>
            </a:lvl5pPr>
            <a:lvl6pPr>
              <a:defRPr sz="1950" b="0">
                <a:solidFill>
                  <a:srgbClr val="263547"/>
                </a:solidFill>
                <a:latin typeface="Arial"/>
                <a:ea typeface="Arial"/>
                <a:cs typeface="Arial"/>
              </a:defRPr>
            </a:lvl6pPr>
            <a:lvl7pPr>
              <a:defRPr sz="1950" b="0">
                <a:solidFill>
                  <a:srgbClr val="263547"/>
                </a:solidFill>
                <a:latin typeface="Arial"/>
                <a:ea typeface="Arial"/>
                <a:cs typeface="Arial"/>
              </a:defRPr>
            </a:lvl7pPr>
            <a:lvl8pPr>
              <a:defRPr sz="1950" b="0">
                <a:solidFill>
                  <a:srgbClr val="263547"/>
                </a:solidFill>
                <a:latin typeface="Arial"/>
                <a:ea typeface="Arial"/>
                <a:cs typeface="Arial"/>
              </a:defRPr>
            </a:lvl8pPr>
            <a:lvl9pPr>
              <a:defRPr sz="1950" b="0">
                <a:solidFill>
                  <a:srgbClr val="263547"/>
                </a:solidFill>
                <a:latin typeface="Arial"/>
                <a:ea typeface="Arial"/>
                <a:cs typeface="Arial"/>
              </a:defRPr>
            </a:lvl9pPr>
          </a:lstStyle>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Bayesian: 1/3 validation → 0/3 test</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Gap: −33.3 pp; descriptive only.</a:t>
            </a:r>
          </a:p>
        </p:txBody>
      </p:sp>
      <p:sp>
        <p:nvSpPr>
          <p:cNvPr id="8" name="">
            <a:extLst xmlns:a="http://schemas.openxmlformats.org/drawingml/2006/main">
              <a:ext uri="{FF2B5EF4-FFF2-40B4-BE49-F238E27FC236}">
                <a16:creationId xmlns:a16="http://schemas.microsoft.com/office/drawing/2014/main" id="{9B2412CA-5F0B-42A8-ACF5-F7B498C4A8CD}"/>
              </a:ext>
            </a:extLst>
          </p:cNvPr>
          <p:cNvSpPr>
            <a:spLocks xmlns:a="http://schemas.openxmlformats.org/drawingml/2006/main" noGrp="1"/>
          </p:cNvSpPr>
          <p:nvPr/>
        </p:nvSpPr>
        <p:spPr>
          <a:xfrm xmlns:a="http://schemas.openxmlformats.org/drawingml/2006/main">
            <a:off x="6429375" y="49339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Protocol disclosure</a:t>
            </a:r>
          </a:p>
        </p:txBody>
      </p:sp>
      <p:sp>
        <p:nvSpPr>
          <p:cNvPr id="9" name="">
            <a:extLst xmlns:a="http://schemas.openxmlformats.org/drawingml/2006/main">
              <a:ext uri="{FF2B5EF4-FFF2-40B4-BE49-F238E27FC236}">
                <a16:creationId xmlns:a16="http://schemas.microsoft.com/office/drawing/2014/main" id="{B0D56F55-0720-4D59-B6F1-237FA0902946}"/>
              </a:ext>
            </a:extLst>
          </p:cNvPr>
          <p:cNvSpPr>
            <a:spLocks xmlns:a="http://schemas.openxmlformats.org/drawingml/2006/main" noGrp="1"/>
          </p:cNvSpPr>
          <p:nvPr/>
        </p:nvSpPr>
        <p:spPr>
          <a:xfrm xmlns:a="http://schemas.openxmlformats.org/drawingml/2006/main">
            <a:off x="6429375" y="5353050"/>
            <a:ext cx="5095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63547"/>
                </a:solidFill>
                <a:latin typeface="Arial"/>
                <a:ea typeface="Arial"/>
                <a:cs typeface="Arial"/>
              </a:defRPr>
            </a:defPPr>
            <a:lvl1pPr>
              <a:defRPr sz="1875" b="0">
                <a:solidFill>
                  <a:srgbClr val="263547"/>
                </a:solidFill>
                <a:latin typeface="Arial"/>
                <a:ea typeface="Arial"/>
                <a:cs typeface="Arial"/>
              </a:defRPr>
            </a:lvl1pPr>
            <a:lvl2pPr>
              <a:defRPr sz="1875" b="0">
                <a:solidFill>
                  <a:srgbClr val="263547"/>
                </a:solidFill>
                <a:latin typeface="Arial"/>
                <a:ea typeface="Arial"/>
                <a:cs typeface="Arial"/>
              </a:defRPr>
            </a:lvl2pPr>
            <a:lvl3pPr>
              <a:defRPr sz="1875" b="0">
                <a:solidFill>
                  <a:srgbClr val="263547"/>
                </a:solidFill>
                <a:latin typeface="Arial"/>
                <a:ea typeface="Arial"/>
                <a:cs typeface="Arial"/>
              </a:defRPr>
            </a:lvl3pPr>
            <a:lvl4pPr>
              <a:defRPr sz="1875" b="0">
                <a:solidFill>
                  <a:srgbClr val="263547"/>
                </a:solidFill>
                <a:latin typeface="Arial"/>
                <a:ea typeface="Arial"/>
                <a:cs typeface="Arial"/>
              </a:defRPr>
            </a:lvl4pPr>
            <a:lvl5pPr>
              <a:defRPr sz="1875" b="0">
                <a:solidFill>
                  <a:srgbClr val="263547"/>
                </a:solidFill>
                <a:latin typeface="Arial"/>
                <a:ea typeface="Arial"/>
                <a:cs typeface="Arial"/>
              </a:defRPr>
            </a:lvl5pPr>
            <a:lvl6pPr>
              <a:defRPr sz="1875" b="0">
                <a:solidFill>
                  <a:srgbClr val="263547"/>
                </a:solidFill>
                <a:latin typeface="Arial"/>
                <a:ea typeface="Arial"/>
                <a:cs typeface="Arial"/>
              </a:defRPr>
            </a:lvl6pPr>
            <a:lvl7pPr>
              <a:defRPr sz="1875" b="0">
                <a:solidFill>
                  <a:srgbClr val="263547"/>
                </a:solidFill>
                <a:latin typeface="Arial"/>
                <a:ea typeface="Arial"/>
                <a:cs typeface="Arial"/>
              </a:defRPr>
            </a:lvl7pPr>
            <a:lvl8pPr>
              <a:defRPr sz="1875" b="0">
                <a:solidFill>
                  <a:srgbClr val="263547"/>
                </a:solidFill>
                <a:latin typeface="Arial"/>
                <a:ea typeface="Arial"/>
                <a:cs typeface="Arial"/>
              </a:defRPr>
            </a:lvl8pPr>
            <a:lvl9pPr>
              <a:defRPr sz="1875" b="0">
                <a:solidFill>
                  <a:srgbClr val="263547"/>
                </a:solidFill>
                <a:latin typeface="Arial"/>
                <a:ea typeface="Arial"/>
                <a:cs typeface="Arial"/>
              </a:defRPr>
            </a:lvl9pPr>
          </a:lstStyle>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One extra Scala attempt for each missing slot.</a:t>
            </a:r>
          </a:p>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No tuning, no best-of-attempt replacement.</a:t>
            </a:r>
          </a:p>
        </p:txBody>
      </p:sp>
    </p:spTree>
    <p:extLst>
      <p:ext uri="{BB962C8B-B14F-4D97-AF65-F5344CB8AC3E}">
        <p14:creationId xmlns:p14="http://schemas.microsoft.com/office/powerpoint/2010/main" val="12436534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19C113-2978-48D2-B278-E31488B8F92A}"/>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Search cost versus selected-configuration runtime cost</a:t>
            </a:r>
          </a:p>
        </p:txBody>
      </p:sp>
      <p:sp>
        <p:nvSpPr>
          <p:cNvPr id="2" name="">
            <a:extLst xmlns:a="http://schemas.openxmlformats.org/drawingml/2006/main">
              <a:ext uri="{FF2B5EF4-FFF2-40B4-BE49-F238E27FC236}">
                <a16:creationId xmlns:a16="http://schemas.microsoft.com/office/drawing/2014/main" id="{4B422F3D-97C8-451F-B8A5-A8F72B229616}"/>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No observed held-out gain is available to offset the one-time optimization expense</a:t>
            </a:r>
          </a:p>
        </p:txBody>
      </p:sp>
      <p:sp>
        <p:nvSpPr>
          <p:cNvPr id="3" name="">
            <a:extLst xmlns:a="http://schemas.openxmlformats.org/drawingml/2006/main">
              <a:ext uri="{FF2B5EF4-FFF2-40B4-BE49-F238E27FC236}">
                <a16:creationId xmlns:a16="http://schemas.microsoft.com/office/drawing/2014/main" id="{93E43BCD-92F4-4353-BBEC-E3E219292DBA}"/>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B4065866-3350-404C-AEE1-567479D2F34A}"/>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10</a:t>
            </a:r>
          </a:p>
        </p:txBody>
      </p:sp>
      <p:graphicFrame>
        <p:nvGraphicFramePr>
          <p:cNvPr id="5" name="Chart">
            <a:extLst xmlns:a="http://schemas.openxmlformats.org/drawingml/2006/main">
              <a:ext uri="{FF2B5EF4-FFF2-40B4-BE49-F238E27FC236}">
                <a16:creationId xmlns:a16="http://schemas.microsoft.com/office/drawing/2014/main" id="{5AD23EB9-EC68-448A-8ED5-84594FA3F22D}"/>
              </a:ext>
            </a:extLst>
          </p:cNvPr>
          <p:cNvGraphicFramePr/>
          <p:nvPr/>
        </p:nvGraphicFramePr>
        <p:xfrm>
          <a:off xmlns:a="http://schemas.openxmlformats.org/drawingml/2006/main" x="533400" y="1733550"/>
          <a:ext xmlns:a="http://schemas.openxmlformats.org/drawingml/2006/main" cx="6858000" cy="3609975"/>
        </p:xfrm>
        <a:graphic xmlns:a="http://schemas.openxmlformats.org/drawingml/2006/main">
          <a:graphicData uri="http://schemas.openxmlformats.org/drawingml/2006/chart">
            <c:chart xmlns:r="http://schemas.openxmlformats.org/officeDocument/2006/relationships" xmlns:c="http://schemas.openxmlformats.org/drawingml/2006/chart" r:id="Ra62608aeb363484f"/>
          </a:graphicData>
        </a:graphic>
      </p:graphicFrame>
      <p:graphicFrame>
        <p:nvGraphicFramePr>
          <p:cNvPr id="6" name="">
            <a:extLst xmlns:a="http://schemas.openxmlformats.org/drawingml/2006/main">
              <a:ext uri="{FF2B5EF4-FFF2-40B4-BE49-F238E27FC236}">
                <a16:creationId xmlns:a16="http://schemas.microsoft.com/office/drawing/2014/main" id="{76AE6CB4-3277-4397-A793-E7EC416C74B5}"/>
              </a:ext>
            </a:extLst>
          </p:cNvPr>
          <p:cNvGraphicFramePr/>
          <p:nvPr/>
        </p:nvGraphicFramePr>
        <p:xfrm>
          <a:off xmlns:a="http://schemas.openxmlformats.org/drawingml/2006/main" x="7772400" y="1781175"/>
          <a:ext xmlns:a="http://schemas.openxmlformats.org/drawingml/2006/main" cx="3810000" cy="2324100"/>
        </p:xfrm>
        <a:graphic xmlns:a="http://schemas.openxmlformats.org/drawingml/2006/main">
          <a:graphicData uri="http://schemas.openxmlformats.org/drawingml/2006/table">
            <a:tbl>
              <a:tblPr/>
              <a:tblGrid>
                <a:gridCol w="2428875"/>
                <a:gridCol w="1381125"/>
              </a:tblGrid>
              <a:tr h="581025">
                <a:tc>
                  <a:txBody>
                    <a:bodyPr/>
                    <a:lstStyle/>
                    <a:p>
                      <a:r>
                        <a:rPr sz="1650" b="1">
                          <a:solidFill>
                            <a:srgbClr val="FFFFFF"/>
                          </a:solidFill>
                          <a:latin typeface="Arial"/>
                          <a:ea typeface="Arial"/>
                          <a:cs typeface="Arial"/>
                        </a:rPr>
                        <a:t>Accounted phase</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650" b="1">
                          <a:solidFill>
                            <a:srgbClr val="FFFFFF"/>
                          </a:solidFill>
                          <a:latin typeface="Arial"/>
                          <a:ea typeface="Arial"/>
                          <a:cs typeface="Arial"/>
                        </a:rPr>
                        <a:t>USD</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581025">
                <a:tc>
                  <a:txBody>
                    <a:bodyPr/>
                    <a:lstStyle/>
                    <a:p>
                      <a:r>
                        <a:rPr sz="1650" b="0">
                          <a:solidFill>
                            <a:srgbClr val="263547"/>
                          </a:solidFill>
                          <a:latin typeface="Arial"/>
                          <a:ea typeface="Arial"/>
                          <a:cs typeface="Arial"/>
                        </a:rPr>
                        <a:t>Optimizer search</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0.65175928</a:t>
                      </a:r>
                    </a:p>
                  </a:txBody>
                  <a:tcPr marL="91440" marR="91440" marT="45720" marB="45720">
                    <a:lnR w="6668">
                      <a:solidFill>
                        <a:srgbClr val="DCE4EB"/>
                      </a:solidFill>
                      <a:prstDash val="solid"/>
                    </a:lnR>
                    <a:lnB w="6668">
                      <a:solidFill>
                        <a:srgbClr val="DCE4EB"/>
                      </a:solidFill>
                      <a:prstDash val="solid"/>
                    </a:lnB>
                    <a:solidFill>
                      <a:srgbClr val="EFF3F7"/>
                    </a:solidFill>
                  </a:tcPr>
                </a:tc>
              </a:tr>
              <a:tr h="581025">
                <a:tc>
                  <a:txBody>
                    <a:bodyPr/>
                    <a:lstStyle/>
                    <a:p>
                      <a:r>
                        <a:rPr sz="1650" b="0">
                          <a:solidFill>
                            <a:srgbClr val="263547"/>
                          </a:solidFill>
                          <a:latin typeface="Arial"/>
                          <a:ea typeface="Arial"/>
                          <a:cs typeface="Arial"/>
                        </a:rPr>
                        <a:t>Test + supplements</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0.33955972</a:t>
                      </a:r>
                    </a:p>
                  </a:txBody>
                  <a:tcPr marL="91440" marR="91440" marT="45720" marB="45720">
                    <a:lnR w="6668">
                      <a:solidFill>
                        <a:srgbClr val="DCE4EB"/>
                      </a:solidFill>
                      <a:prstDash val="solid"/>
                    </a:lnR>
                    <a:lnB w="6668">
                      <a:solidFill>
                        <a:srgbClr val="DCE4EB"/>
                      </a:solidFill>
                      <a:prstDash val="solid"/>
                    </a:lnB>
                    <a:solidFill>
                      <a:srgbClr val="FFFFFF"/>
                    </a:solidFill>
                  </a:tcPr>
                </a:tc>
              </a:tr>
              <a:tr h="581025">
                <a:tc>
                  <a:txBody>
                    <a:bodyPr/>
                    <a:lstStyle/>
                    <a:p>
                      <a:r>
                        <a:rPr sz="1650" b="0">
                          <a:solidFill>
                            <a:srgbClr val="263547"/>
                          </a:solidFill>
                          <a:latin typeface="Arial"/>
                          <a:ea typeface="Arial"/>
                          <a:cs typeface="Arial"/>
                        </a:rPr>
                        <a:t>Combined scope</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0.99131900</a:t>
                      </a:r>
                    </a:p>
                  </a:txBody>
                  <a:tcPr marL="91440" marR="91440" marT="45720" marB="45720">
                    <a:lnR w="6668">
                      <a:solidFill>
                        <a:srgbClr val="DCE4EB"/>
                      </a:solidFill>
                      <a:prstDash val="solid"/>
                    </a:lnR>
                    <a:lnB w="6668">
                      <a:solidFill>
                        <a:srgbClr val="DCE4EB"/>
                      </a:solidFill>
                      <a:prstDash val="solid"/>
                    </a:lnB>
                    <a:solidFill>
                      <a:srgbClr val="EFF3F7"/>
                    </a:solidFill>
                  </a:tcPr>
                </a:tc>
              </a:tr>
            </a:tbl>
          </a:graphicData>
        </a:graphic>
      </p:graphicFrame>
      <p:sp>
        <p:nvSpPr>
          <p:cNvPr id="7" name="">
            <a:extLst xmlns:a="http://schemas.openxmlformats.org/drawingml/2006/main">
              <a:ext uri="{FF2B5EF4-FFF2-40B4-BE49-F238E27FC236}">
                <a16:creationId xmlns:a16="http://schemas.microsoft.com/office/drawing/2014/main" id="{FEB29CD5-20D1-48C2-B059-3EFCB7B42532}"/>
              </a:ext>
            </a:extLst>
          </p:cNvPr>
          <p:cNvSpPr>
            <a:spLocks xmlns:a="http://schemas.openxmlformats.org/drawingml/2006/main" noGrp="1"/>
          </p:cNvSpPr>
          <p:nvPr/>
        </p:nvSpPr>
        <p:spPr>
          <a:xfrm xmlns:a="http://schemas.openxmlformats.org/drawingml/2006/main">
            <a:off x="7905750" y="4419600"/>
            <a:ext cx="357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86779"/>
                </a:solidFill>
                <a:latin typeface="Arial"/>
                <a:ea typeface="Arial"/>
                <a:cs typeface="Arial"/>
              </a:defRPr>
            </a:defPPr>
            <a:lvl1pPr>
              <a:defRPr sz="1575" b="0">
                <a:solidFill>
                  <a:srgbClr val="586779"/>
                </a:solidFill>
                <a:latin typeface="Arial"/>
                <a:ea typeface="Arial"/>
                <a:cs typeface="Arial"/>
              </a:defRPr>
            </a:lvl1pPr>
            <a:lvl2pPr>
              <a:defRPr sz="1575" b="0">
                <a:solidFill>
                  <a:srgbClr val="586779"/>
                </a:solidFill>
                <a:latin typeface="Arial"/>
                <a:ea typeface="Arial"/>
                <a:cs typeface="Arial"/>
              </a:defRPr>
            </a:lvl2pPr>
            <a:lvl3pPr>
              <a:defRPr sz="1575" b="0">
                <a:solidFill>
                  <a:srgbClr val="586779"/>
                </a:solidFill>
                <a:latin typeface="Arial"/>
                <a:ea typeface="Arial"/>
                <a:cs typeface="Arial"/>
              </a:defRPr>
            </a:lvl3pPr>
            <a:lvl4pPr>
              <a:defRPr sz="1575" b="0">
                <a:solidFill>
                  <a:srgbClr val="586779"/>
                </a:solidFill>
                <a:latin typeface="Arial"/>
                <a:ea typeface="Arial"/>
                <a:cs typeface="Arial"/>
              </a:defRPr>
            </a:lvl4pPr>
            <a:lvl5pPr>
              <a:defRPr sz="1575" b="0">
                <a:solidFill>
                  <a:srgbClr val="586779"/>
                </a:solidFill>
                <a:latin typeface="Arial"/>
                <a:ea typeface="Arial"/>
                <a:cs typeface="Arial"/>
              </a:defRPr>
            </a:lvl5pPr>
            <a:lvl6pPr>
              <a:defRPr sz="1575" b="0">
                <a:solidFill>
                  <a:srgbClr val="586779"/>
                </a:solidFill>
                <a:latin typeface="Arial"/>
                <a:ea typeface="Arial"/>
                <a:cs typeface="Arial"/>
              </a:defRPr>
            </a:lvl6pPr>
            <a:lvl7pPr>
              <a:defRPr sz="1575" b="0">
                <a:solidFill>
                  <a:srgbClr val="586779"/>
                </a:solidFill>
                <a:latin typeface="Arial"/>
                <a:ea typeface="Arial"/>
                <a:cs typeface="Arial"/>
              </a:defRPr>
            </a:lvl7pPr>
            <a:lvl8pPr>
              <a:defRPr sz="1575" b="0">
                <a:solidFill>
                  <a:srgbClr val="586779"/>
                </a:solidFill>
                <a:latin typeface="Arial"/>
                <a:ea typeface="Arial"/>
                <a:cs typeface="Arial"/>
              </a:defRPr>
            </a:lvl8pPr>
            <a:lvl9pPr>
              <a:defRPr sz="1575" b="0">
                <a:solidFill>
                  <a:srgbClr val="586779"/>
                </a:solidFill>
                <a:latin typeface="Arial"/>
                <a:ea typeface="Arial"/>
                <a:cs typeface="Arial"/>
              </a:defRPr>
            </a:lvl9pPr>
          </a:lstStyle>
          <a:p xmlns:a="http://schemas.openxmlformats.org/drawingml/2006/main">
            <a:pPr>
              <a:defRPr sz="1575" b="0">
                <a:solidFill>
                  <a:srgbClr val="586779"/>
                </a:solidFill>
                <a:latin typeface="Arial"/>
                <a:ea typeface="Arial"/>
                <a:cs typeface="Arial"/>
              </a:defRPr>
            </a:pPr>
            <a:r>
              <a:rPr sz="1575" b="0">
                <a:solidFill>
                  <a:srgbClr val="586779"/>
                </a:solidFill>
                <a:latin typeface="Arial"/>
                <a:ea typeface="Arial"/>
                <a:cs typeface="Arial"/>
              </a:rPr>
              <a:t>Earlier Default validation baseline:</a:t>
            </a:r>
          </a:p>
          <a:p xmlns:a="http://schemas.openxmlformats.org/drawingml/2006/main">
            <a:pPr>
              <a:defRPr sz="1575" b="0">
                <a:solidFill>
                  <a:srgbClr val="586779"/>
                </a:solidFill>
                <a:latin typeface="Arial"/>
                <a:ea typeface="Arial"/>
                <a:cs typeface="Arial"/>
              </a:defRPr>
            </a:pPr>
            <a:r>
              <a:rPr sz="1575" b="0">
                <a:solidFill>
                  <a:srgbClr val="586779"/>
                </a:solidFill>
                <a:latin typeface="Arial"/>
                <a:ea typeface="Arial"/>
                <a:cs typeface="Arial"/>
              </a:rPr>
              <a:t>USD 0.14043120, reported separately.</a:t>
            </a:r>
          </a:p>
          <a:p xmlns:a="http://schemas.openxmlformats.org/drawingml/2006/main">
            <a:pPr>
              <a:defRPr sz="1575" b="0">
                <a:solidFill>
                  <a:srgbClr val="586779"/>
                </a:solidFill>
                <a:latin typeface="Arial"/>
                <a:ea typeface="Arial"/>
                <a:cs typeface="Arial"/>
              </a:defRPr>
            </a:pPr>
            <a:r>
              <a:rPr sz="1575" b="0">
                <a:solidFill>
                  <a:srgbClr val="586779"/>
                </a:solidFill>
                <a:latin typeface="Arial"/>
                <a:ea typeface="Arial"/>
                <a:cs typeface="Arial"/>
              </a:rPr>
              <a:t>Probes / preparation excluded.</a:t>
            </a:r>
          </a:p>
        </p:txBody>
      </p:sp>
      <p:sp>
        <p:nvSpPr>
          <p:cNvPr id="8" name="">
            <a:extLst xmlns:a="http://schemas.openxmlformats.org/drawingml/2006/main">
              <a:ext uri="{FF2B5EF4-FFF2-40B4-BE49-F238E27FC236}">
                <a16:creationId xmlns:a16="http://schemas.microsoft.com/office/drawing/2014/main" id="{EA920CA6-EAD7-446D-A0CA-80673C34ABEF}"/>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Admission caps are not hard spending caps; observed Key deltas are subject to delayed billing.</a:t>
            </a:r>
          </a:p>
        </p:txBody>
      </p:sp>
    </p:spTree>
    <p:extLst>
      <p:ext uri="{BB962C8B-B14F-4D97-AF65-F5344CB8AC3E}">
        <p14:creationId xmlns:p14="http://schemas.microsoft.com/office/powerpoint/2010/main" val="5950591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B93982-0346-4C92-BF41-B0355D0420B5}"/>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Parameter sensitivity: matched validation observations</a:t>
            </a:r>
          </a:p>
        </p:txBody>
      </p:sp>
      <p:sp>
        <p:nvSpPr>
          <p:cNvPr id="2" name="">
            <a:extLst xmlns:a="http://schemas.openxmlformats.org/drawingml/2006/main">
              <a:ext uri="{FF2B5EF4-FFF2-40B4-BE49-F238E27FC236}">
                <a16:creationId xmlns:a16="http://schemas.microsoft.com/office/drawing/2014/main" id="{C265F0D6-9466-44DA-9F6A-BB6CD8E74DF7}"/>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Same task; change one field while holding the other fixed</a:t>
            </a:r>
          </a:p>
        </p:txBody>
      </p:sp>
      <p:sp>
        <p:nvSpPr>
          <p:cNvPr id="3" name="">
            <a:extLst xmlns:a="http://schemas.openxmlformats.org/drawingml/2006/main">
              <a:ext uri="{FF2B5EF4-FFF2-40B4-BE49-F238E27FC236}">
                <a16:creationId xmlns:a16="http://schemas.microsoft.com/office/drawing/2014/main" id="{18073BBE-80C6-4604-A7D4-3927836F75C1}"/>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6540859D-2857-4F7B-AFAF-F587409AEFA4}"/>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0732A7D3-2DC7-4EB2-B3CC-ABE7DC0F224B}"/>
              </a:ext>
            </a:extLst>
          </p:cNvPr>
          <p:cNvGraphicFramePr/>
          <p:nvPr/>
        </p:nvGraphicFramePr>
        <p:xfrm>
          <a:off xmlns:a="http://schemas.openxmlformats.org/drawingml/2006/main" x="609600" y="1724025"/>
          <a:ext xmlns:a="http://schemas.openxmlformats.org/drawingml/2006/main" cx="10972800" cy="2676525"/>
        </p:xfrm>
        <a:graphic xmlns:a="http://schemas.openxmlformats.org/drawingml/2006/main">
          <a:graphicData uri="http://schemas.openxmlformats.org/drawingml/2006/table">
            <a:tbl>
              <a:tblPr/>
              <a:tblGrid>
                <a:gridCol w="2762250"/>
                <a:gridCol w="3143250"/>
                <a:gridCol w="1524000"/>
                <a:gridCol w="1571625"/>
                <a:gridCol w="1971675"/>
              </a:tblGrid>
              <a:tr h="669131">
                <a:tc>
                  <a:txBody>
                    <a:bodyPr/>
                    <a:lstStyle/>
                    <a:p>
                      <a:r>
                        <a:rPr sz="1725" b="1">
                          <a:solidFill>
                            <a:srgbClr val="FFFFFF"/>
                          </a:solidFill>
                          <a:latin typeface="Arial"/>
                          <a:ea typeface="Arial"/>
                          <a:cs typeface="Arial"/>
                        </a:rPr>
                        <a:t>Fixed task / field</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725" b="1">
                          <a:solidFill>
                            <a:srgbClr val="FFFFFF"/>
                          </a:solidFill>
                          <a:latin typeface="Arial"/>
                          <a:ea typeface="Arial"/>
                          <a:cs typeface="Arial"/>
                        </a:rPr>
                        <a:t>Parameter contrast</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725" b="1">
                          <a:solidFill>
                            <a:srgbClr val="FFFFFF"/>
                          </a:solidFill>
                          <a:latin typeface="Arial"/>
                          <a:ea typeface="Arial"/>
                          <a:cs typeface="Arial"/>
                        </a:rPr>
                        <a:t>n low / high</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725" b="1">
                          <a:solidFill>
                            <a:srgbClr val="FFFFFF"/>
                          </a:solidFill>
                          <a:latin typeface="Arial"/>
                          <a:ea typeface="Arial"/>
                          <a:cs typeface="Arial"/>
                        </a:rPr>
                        <a:t>Success Δ</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725" b="1">
                          <a:solidFill>
                            <a:srgbClr val="FFFFFF"/>
                          </a:solidFill>
                          <a:latin typeface="Arial"/>
                          <a:ea typeface="Arial"/>
                          <a:cs typeface="Arial"/>
                        </a:rPr>
                        <a:t>Mean USD Δ</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669131">
                <a:tc>
                  <a:txBody>
                    <a:bodyPr/>
                    <a:lstStyle/>
                    <a:p>
                      <a:r>
                        <a:rPr sz="1725" b="0">
                          <a:solidFill>
                            <a:srgbClr val="263547"/>
                          </a:solidFill>
                          <a:latin typeface="Arial"/>
                          <a:ea typeface="Arial"/>
                          <a:cs typeface="Arial"/>
                        </a:rPr>
                        <a:t>Financial / context 128k</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tokens 4096 → 8192</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5 / 1</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0 pp</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+0.14353</a:t>
                      </a:r>
                    </a:p>
                  </a:txBody>
                  <a:tcPr marL="91440" marR="91440" marT="45720" marB="45720">
                    <a:lnR w="6668">
                      <a:solidFill>
                        <a:srgbClr val="DCE4EB"/>
                      </a:solidFill>
                      <a:prstDash val="solid"/>
                    </a:lnR>
                    <a:lnB w="6668">
                      <a:solidFill>
                        <a:srgbClr val="DCE4EB"/>
                      </a:solidFill>
                      <a:prstDash val="solid"/>
                    </a:lnB>
                    <a:solidFill>
                      <a:srgbClr val="EFF3F7"/>
                    </a:solidFill>
                  </a:tcPr>
                </a:tc>
              </a:tr>
              <a:tr h="669131">
                <a:tc>
                  <a:txBody>
                    <a:bodyPr/>
                    <a:lstStyle/>
                    <a:p>
                      <a:r>
                        <a:rPr sz="1725" b="0">
                          <a:solidFill>
                            <a:srgbClr val="263547"/>
                          </a:solidFill>
                          <a:latin typeface="Arial"/>
                          <a:ea typeface="Arial"/>
                          <a:cs typeface="Arial"/>
                        </a:rPr>
                        <a:t>JAX / tokens 4096</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725" b="0">
                          <a:solidFill>
                            <a:srgbClr val="263547"/>
                          </a:solidFill>
                          <a:latin typeface="Arial"/>
                          <a:ea typeface="Arial"/>
                          <a:cs typeface="Arial"/>
                        </a:rPr>
                        <a:t>context 96k → 128k</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725" b="0">
                          <a:solidFill>
                            <a:srgbClr val="263547"/>
                          </a:solidFill>
                          <a:latin typeface="Arial"/>
                          <a:ea typeface="Arial"/>
                          <a:cs typeface="Arial"/>
                        </a:rPr>
                        <a:t>2 / 3</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725" b="0">
                          <a:solidFill>
                            <a:srgbClr val="263547"/>
                          </a:solidFill>
                          <a:latin typeface="Arial"/>
                          <a:ea typeface="Arial"/>
                          <a:cs typeface="Arial"/>
                        </a:rPr>
                        <a:t>+33.3 pp</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725" b="0">
                          <a:solidFill>
                            <a:srgbClr val="263547"/>
                          </a:solidFill>
                          <a:latin typeface="Arial"/>
                          <a:ea typeface="Arial"/>
                          <a:cs typeface="Arial"/>
                        </a:rPr>
                        <a:t>+0.00123</a:t>
                      </a:r>
                    </a:p>
                  </a:txBody>
                  <a:tcPr marL="91440" marR="91440" marT="45720" marB="45720">
                    <a:lnR w="6668">
                      <a:solidFill>
                        <a:srgbClr val="DCE4EB"/>
                      </a:solidFill>
                      <a:prstDash val="solid"/>
                    </a:lnR>
                    <a:lnB w="6668">
                      <a:solidFill>
                        <a:srgbClr val="DCE4EB"/>
                      </a:solidFill>
                      <a:prstDash val="solid"/>
                    </a:lnB>
                    <a:solidFill>
                      <a:srgbClr val="FFFFFF"/>
                    </a:solidFill>
                  </a:tcPr>
                </a:tc>
              </a:tr>
              <a:tr h="669131">
                <a:tc>
                  <a:txBody>
                    <a:bodyPr/>
                    <a:lstStyle/>
                    <a:p>
                      <a:r>
                        <a:rPr sz="1725" b="0">
                          <a:solidFill>
                            <a:srgbClr val="263547"/>
                          </a:solidFill>
                          <a:latin typeface="Arial"/>
                          <a:ea typeface="Arial"/>
                          <a:cs typeface="Arial"/>
                        </a:rPr>
                        <a:t>Travel / tokens 4096</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context 96k → 128k</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1 / 4</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+25.0 pp</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725" b="0">
                          <a:solidFill>
                            <a:srgbClr val="263547"/>
                          </a:solidFill>
                          <a:latin typeface="Arial"/>
                          <a:ea typeface="Arial"/>
                          <a:cs typeface="Arial"/>
                        </a:rPr>
                        <a:t>−0.05064</a:t>
                      </a:r>
                    </a:p>
                  </a:txBody>
                  <a:tcPr marL="91440" marR="91440" marT="45720" marB="45720">
                    <a:lnR w="6668">
                      <a:solidFill>
                        <a:srgbClr val="DCE4EB"/>
                      </a:solidFill>
                      <a:prstDash val="solid"/>
                    </a:lnR>
                    <a:lnB w="6668">
                      <a:solidFill>
                        <a:srgbClr val="DCE4EB"/>
                      </a:solidFill>
                      <a:prstDash val="solid"/>
                    </a:lnB>
                    <a:solidFill>
                      <a:srgbClr val="EFF3F7"/>
                    </a:solidFill>
                  </a:tcPr>
                </a:tc>
              </a:tr>
            </a:tbl>
          </a:graphicData>
        </a:graphic>
      </p:graphicFrame>
      <p:sp>
        <p:nvSpPr>
          <p:cNvPr id="6" name="">
            <a:extLst xmlns:a="http://schemas.openxmlformats.org/drawingml/2006/main">
              <a:ext uri="{FF2B5EF4-FFF2-40B4-BE49-F238E27FC236}">
                <a16:creationId xmlns:a16="http://schemas.microsoft.com/office/drawing/2014/main" id="{B90130FF-84C5-4955-A21F-2B42133168D2}"/>
              </a:ext>
            </a:extLst>
          </p:cNvPr>
          <p:cNvSpPr>
            <a:spLocks xmlns:a="http://schemas.openxmlformats.org/drawingml/2006/main" noGrp="1"/>
          </p:cNvSpPr>
          <p:nvPr/>
        </p:nvSpPr>
        <p:spPr>
          <a:xfrm xmlns:a="http://schemas.openxmlformats.org/drawingml/2006/main">
            <a:off x="647700" y="472440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Observed pattern</a:t>
            </a:r>
          </a:p>
        </p:txBody>
      </p:sp>
      <p:sp>
        <p:nvSpPr>
          <p:cNvPr id="7" name="">
            <a:extLst xmlns:a="http://schemas.openxmlformats.org/drawingml/2006/main">
              <a:ext uri="{FF2B5EF4-FFF2-40B4-BE49-F238E27FC236}">
                <a16:creationId xmlns:a16="http://schemas.microsoft.com/office/drawing/2014/main" id="{633DE6E8-FBAF-4D6B-A5DC-914E434C7AC4}"/>
              </a:ext>
            </a:extLst>
          </p:cNvPr>
          <p:cNvSpPr>
            <a:spLocks xmlns:a="http://schemas.openxmlformats.org/drawingml/2006/main" noGrp="1"/>
          </p:cNvSpPr>
          <p:nvPr/>
        </p:nvSpPr>
        <p:spPr>
          <a:xfrm xmlns:a="http://schemas.openxmlformats.org/drawingml/2006/main">
            <a:off x="647700" y="5143500"/>
            <a:ext cx="5286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547"/>
                </a:solidFill>
                <a:latin typeface="Arial"/>
                <a:ea typeface="Arial"/>
                <a:cs typeface="Arial"/>
              </a:defRPr>
            </a:defPPr>
            <a:lvl1pPr>
              <a:defRPr sz="1950" b="0">
                <a:solidFill>
                  <a:srgbClr val="263547"/>
                </a:solidFill>
                <a:latin typeface="Arial"/>
                <a:ea typeface="Arial"/>
                <a:cs typeface="Arial"/>
              </a:defRPr>
            </a:lvl1pPr>
            <a:lvl2pPr>
              <a:defRPr sz="1950" b="0">
                <a:solidFill>
                  <a:srgbClr val="263547"/>
                </a:solidFill>
                <a:latin typeface="Arial"/>
                <a:ea typeface="Arial"/>
                <a:cs typeface="Arial"/>
              </a:defRPr>
            </a:lvl2pPr>
            <a:lvl3pPr>
              <a:defRPr sz="1950" b="0">
                <a:solidFill>
                  <a:srgbClr val="263547"/>
                </a:solidFill>
                <a:latin typeface="Arial"/>
                <a:ea typeface="Arial"/>
                <a:cs typeface="Arial"/>
              </a:defRPr>
            </a:lvl3pPr>
            <a:lvl4pPr>
              <a:defRPr sz="1950" b="0">
                <a:solidFill>
                  <a:srgbClr val="263547"/>
                </a:solidFill>
                <a:latin typeface="Arial"/>
                <a:ea typeface="Arial"/>
                <a:cs typeface="Arial"/>
              </a:defRPr>
            </a:lvl4pPr>
            <a:lvl5pPr>
              <a:defRPr sz="1950" b="0">
                <a:solidFill>
                  <a:srgbClr val="263547"/>
                </a:solidFill>
                <a:latin typeface="Arial"/>
                <a:ea typeface="Arial"/>
                <a:cs typeface="Arial"/>
              </a:defRPr>
            </a:lvl5pPr>
            <a:lvl6pPr>
              <a:defRPr sz="1950" b="0">
                <a:solidFill>
                  <a:srgbClr val="263547"/>
                </a:solidFill>
                <a:latin typeface="Arial"/>
                <a:ea typeface="Arial"/>
                <a:cs typeface="Arial"/>
              </a:defRPr>
            </a:lvl6pPr>
            <a:lvl7pPr>
              <a:defRPr sz="1950" b="0">
                <a:solidFill>
                  <a:srgbClr val="263547"/>
                </a:solidFill>
                <a:latin typeface="Arial"/>
                <a:ea typeface="Arial"/>
                <a:cs typeface="Arial"/>
              </a:defRPr>
            </a:lvl7pPr>
            <a:lvl8pPr>
              <a:defRPr sz="1950" b="0">
                <a:solidFill>
                  <a:srgbClr val="263547"/>
                </a:solidFill>
                <a:latin typeface="Arial"/>
                <a:ea typeface="Arial"/>
                <a:cs typeface="Arial"/>
              </a:defRPr>
            </a:lvl8pPr>
            <a:lvl9pPr>
              <a:defRPr sz="1950" b="0">
                <a:solidFill>
                  <a:srgbClr val="263547"/>
                </a:solidFill>
                <a:latin typeface="Arial"/>
                <a:ea typeface="Arial"/>
                <a:cs typeface="Arial"/>
              </a:defRPr>
            </a:lvl9pPr>
          </a:lstStyle>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Parameter changes correlate with cost</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and occasional successes.</a:t>
            </a:r>
          </a:p>
        </p:txBody>
      </p:sp>
      <p:sp>
        <p:nvSpPr>
          <p:cNvPr id="8" name="">
            <a:extLst xmlns:a="http://schemas.openxmlformats.org/drawingml/2006/main">
              <a:ext uri="{FF2B5EF4-FFF2-40B4-BE49-F238E27FC236}">
                <a16:creationId xmlns:a16="http://schemas.microsoft.com/office/drawing/2014/main" id="{CA1A88BE-77D0-43C4-B106-6094485D527D}"/>
              </a:ext>
            </a:extLst>
          </p:cNvPr>
          <p:cNvSpPr>
            <a:spLocks xmlns:a="http://schemas.openxmlformats.org/drawingml/2006/main" noGrp="1"/>
          </p:cNvSpPr>
          <p:nvPr/>
        </p:nvSpPr>
        <p:spPr>
          <a:xfrm xmlns:a="http://schemas.openxmlformats.org/drawingml/2006/main">
            <a:off x="6429375" y="472440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Evidence limit</a:t>
            </a:r>
          </a:p>
        </p:txBody>
      </p:sp>
      <p:sp>
        <p:nvSpPr>
          <p:cNvPr id="9" name="">
            <a:extLst xmlns:a="http://schemas.openxmlformats.org/drawingml/2006/main">
              <a:ext uri="{FF2B5EF4-FFF2-40B4-BE49-F238E27FC236}">
                <a16:creationId xmlns:a16="http://schemas.microsoft.com/office/drawing/2014/main" id="{DFC183FB-4648-494A-BDA9-E563A93FCC14}"/>
              </a:ext>
            </a:extLst>
          </p:cNvPr>
          <p:cNvSpPr>
            <a:spLocks xmlns:a="http://schemas.openxmlformats.org/drawingml/2006/main" noGrp="1"/>
          </p:cNvSpPr>
          <p:nvPr/>
        </p:nvSpPr>
        <p:spPr>
          <a:xfrm xmlns:a="http://schemas.openxmlformats.org/drawingml/2006/main">
            <a:off x="6429375" y="5143500"/>
            <a:ext cx="5095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63547"/>
                </a:solidFill>
                <a:latin typeface="Arial"/>
                <a:ea typeface="Arial"/>
                <a:cs typeface="Arial"/>
              </a:defRPr>
            </a:defPPr>
            <a:lvl1pPr>
              <a:defRPr sz="1950" b="0">
                <a:solidFill>
                  <a:srgbClr val="263547"/>
                </a:solidFill>
                <a:latin typeface="Arial"/>
                <a:ea typeface="Arial"/>
                <a:cs typeface="Arial"/>
              </a:defRPr>
            </a:lvl1pPr>
            <a:lvl2pPr>
              <a:defRPr sz="1950" b="0">
                <a:solidFill>
                  <a:srgbClr val="263547"/>
                </a:solidFill>
                <a:latin typeface="Arial"/>
                <a:ea typeface="Arial"/>
                <a:cs typeface="Arial"/>
              </a:defRPr>
            </a:lvl2pPr>
            <a:lvl3pPr>
              <a:defRPr sz="1950" b="0">
                <a:solidFill>
                  <a:srgbClr val="263547"/>
                </a:solidFill>
                <a:latin typeface="Arial"/>
                <a:ea typeface="Arial"/>
                <a:cs typeface="Arial"/>
              </a:defRPr>
            </a:lvl3pPr>
            <a:lvl4pPr>
              <a:defRPr sz="1950" b="0">
                <a:solidFill>
                  <a:srgbClr val="263547"/>
                </a:solidFill>
                <a:latin typeface="Arial"/>
                <a:ea typeface="Arial"/>
                <a:cs typeface="Arial"/>
              </a:defRPr>
            </a:lvl4pPr>
            <a:lvl5pPr>
              <a:defRPr sz="1950" b="0">
                <a:solidFill>
                  <a:srgbClr val="263547"/>
                </a:solidFill>
                <a:latin typeface="Arial"/>
                <a:ea typeface="Arial"/>
                <a:cs typeface="Arial"/>
              </a:defRPr>
            </a:lvl5pPr>
            <a:lvl6pPr>
              <a:defRPr sz="1950" b="0">
                <a:solidFill>
                  <a:srgbClr val="263547"/>
                </a:solidFill>
                <a:latin typeface="Arial"/>
                <a:ea typeface="Arial"/>
                <a:cs typeface="Arial"/>
              </a:defRPr>
            </a:lvl6pPr>
            <a:lvl7pPr>
              <a:defRPr sz="1950" b="0">
                <a:solidFill>
                  <a:srgbClr val="263547"/>
                </a:solidFill>
                <a:latin typeface="Arial"/>
                <a:ea typeface="Arial"/>
                <a:cs typeface="Arial"/>
              </a:defRPr>
            </a:lvl7pPr>
            <a:lvl8pPr>
              <a:defRPr sz="1950" b="0">
                <a:solidFill>
                  <a:srgbClr val="263547"/>
                </a:solidFill>
                <a:latin typeface="Arial"/>
                <a:ea typeface="Arial"/>
                <a:cs typeface="Arial"/>
              </a:defRPr>
            </a:lvl8pPr>
            <a:lvl9pPr>
              <a:defRPr sz="1950" b="0">
                <a:solidFill>
                  <a:srgbClr val="263547"/>
                </a:solidFill>
                <a:latin typeface="Arial"/>
                <a:ea typeface="Arial"/>
                <a:cs typeface="Arial"/>
              </a:defRPr>
            </a:lvl9pPr>
          </a:lstStyle>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Unequal repeats; one costly run.</a:t>
            </a:r>
          </a:p>
          <a:p xmlns:a="http://schemas.openxmlformats.org/drawingml/2006/main">
            <a:pPr>
              <a:defRPr sz="1950" b="0">
                <a:solidFill>
                  <a:srgbClr val="263547"/>
                </a:solidFill>
                <a:latin typeface="Arial"/>
                <a:ea typeface="Arial"/>
                <a:cs typeface="Arial"/>
              </a:defRPr>
            </a:pPr>
            <a:r>
              <a:rPr sz="1950" b="0">
                <a:solidFill>
                  <a:srgbClr val="263547"/>
                </a:solidFill>
                <a:latin typeface="Arial"/>
                <a:ea typeface="Arial"/>
                <a:cs typeface="Arial"/>
              </a:rPr>
              <a:t>No reliable importance ranking.</a:t>
            </a:r>
          </a:p>
        </p:txBody>
      </p:sp>
      <p:sp>
        <p:nvSpPr>
          <p:cNvPr id="10" name="">
            <a:extLst xmlns:a="http://schemas.openxmlformats.org/drawingml/2006/main">
              <a:ext uri="{FF2B5EF4-FFF2-40B4-BE49-F238E27FC236}">
                <a16:creationId xmlns:a16="http://schemas.microsoft.com/office/drawing/2014/main" id="{2CE779F6-4087-4EED-A812-A9AFE05085DA}"/>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6 matched pairs; 25 scored observations. Missing outcomes are excluded.</a:t>
            </a:r>
          </a:p>
        </p:txBody>
      </p:sp>
    </p:spTree>
    <p:extLst>
      <p:ext uri="{BB962C8B-B14F-4D97-AF65-F5344CB8AC3E}">
        <p14:creationId xmlns:p14="http://schemas.microsoft.com/office/powerpoint/2010/main" val="3412961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89C715C-FDA1-41B3-9C63-545C4C00E0F8}"/>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Validation reversals and held-out failure evidence</a:t>
            </a:r>
          </a:p>
        </p:txBody>
      </p:sp>
      <p:sp>
        <p:nvSpPr>
          <p:cNvPr id="2" name="">
            <a:extLst xmlns:a="http://schemas.openxmlformats.org/drawingml/2006/main">
              <a:ext uri="{FF2B5EF4-FFF2-40B4-BE49-F238E27FC236}">
                <a16:creationId xmlns:a16="http://schemas.microsoft.com/office/drawing/2014/main" id="{3A8A44AC-A051-4F1A-BE2A-1B0908A2817F}"/>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The selected Bayesian candidate trades success across tasks rather than dominating Default</a:t>
            </a:r>
          </a:p>
        </p:txBody>
      </p:sp>
      <p:sp>
        <p:nvSpPr>
          <p:cNvPr id="3" name="">
            <a:extLst xmlns:a="http://schemas.openxmlformats.org/drawingml/2006/main">
              <a:ext uri="{FF2B5EF4-FFF2-40B4-BE49-F238E27FC236}">
                <a16:creationId xmlns:a16="http://schemas.microsoft.com/office/drawing/2014/main" id="{4F71CE75-C7B1-49ED-9F92-B159227C3D53}"/>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44CB6E4E-D78A-4E3B-ADDD-E6EBF3788E82}"/>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7F8A8144-699B-47C6-9202-9F9EDDA27984}"/>
              </a:ext>
            </a:extLst>
          </p:cNvPr>
          <p:cNvGraphicFramePr/>
          <p:nvPr/>
        </p:nvGraphicFramePr>
        <p:xfrm>
          <a:off xmlns:a="http://schemas.openxmlformats.org/drawingml/2006/main" x="609600" y="1762125"/>
          <a:ext xmlns:a="http://schemas.openxmlformats.org/drawingml/2006/main" cx="5238750" cy="1876425"/>
        </p:xfrm>
        <a:graphic xmlns:a="http://schemas.openxmlformats.org/drawingml/2006/main">
          <a:graphicData uri="http://schemas.openxmlformats.org/drawingml/2006/table">
            <a:tbl>
              <a:tblPr/>
              <a:tblGrid>
                <a:gridCol w="2552700"/>
                <a:gridCol w="1238250"/>
                <a:gridCol w="1447800"/>
              </a:tblGrid>
              <a:tr h="625475">
                <a:tc>
                  <a:txBody>
                    <a:bodyPr/>
                    <a:lstStyle/>
                    <a:p>
                      <a:r>
                        <a:rPr sz="1875" b="1">
                          <a:solidFill>
                            <a:srgbClr val="FFFFFF"/>
                          </a:solidFill>
                          <a:latin typeface="Arial"/>
                          <a:ea typeface="Arial"/>
                          <a:cs typeface="Arial"/>
                        </a:rPr>
                        <a:t>Validation task</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75" b="1">
                          <a:solidFill>
                            <a:srgbClr val="FFFFFF"/>
                          </a:solidFill>
                          <a:latin typeface="Arial"/>
                          <a:ea typeface="Arial"/>
                          <a:cs typeface="Arial"/>
                        </a:rPr>
                        <a:t>Default</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75" b="1">
                          <a:solidFill>
                            <a:srgbClr val="FFFFFF"/>
                          </a:solidFill>
                          <a:latin typeface="Arial"/>
                          <a:ea typeface="Arial"/>
                          <a:cs typeface="Arial"/>
                        </a:rPr>
                        <a:t>Selected TPE</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625475">
                <a:tc>
                  <a:txBody>
                    <a:bodyPr/>
                    <a:lstStyle/>
                    <a:p>
                      <a:r>
                        <a:rPr sz="1875" b="0">
                          <a:solidFill>
                            <a:srgbClr val="263547"/>
                          </a:solidFill>
                          <a:latin typeface="Arial"/>
                          <a:ea typeface="Arial"/>
                          <a:cs typeface="Arial"/>
                        </a:rPr>
                        <a:t>JAX basics</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875"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75" b="0">
                          <a:solidFill>
                            <a:srgbClr val="263547"/>
                          </a:solidFill>
                          <a:latin typeface="Arial"/>
                          <a:ea typeface="Arial"/>
                          <a:cs typeface="Arial"/>
                        </a:rPr>
                        <a:t>1</a:t>
                      </a:r>
                    </a:p>
                  </a:txBody>
                  <a:tcPr marL="91440" marR="91440" marT="45720" marB="45720">
                    <a:lnR w="6668">
                      <a:solidFill>
                        <a:srgbClr val="DCE4EB"/>
                      </a:solidFill>
                      <a:prstDash val="solid"/>
                    </a:lnR>
                    <a:lnB w="6668">
                      <a:solidFill>
                        <a:srgbClr val="DCE4EB"/>
                      </a:solidFill>
                      <a:prstDash val="solid"/>
                    </a:lnB>
                    <a:solidFill>
                      <a:srgbClr val="EFF3F7"/>
                    </a:solidFill>
                  </a:tcPr>
                </a:tc>
              </a:tr>
              <a:tr h="625475">
                <a:tc>
                  <a:txBody>
                    <a:bodyPr/>
                    <a:lstStyle/>
                    <a:p>
                      <a:r>
                        <a:rPr sz="1875" b="0">
                          <a:solidFill>
                            <a:srgbClr val="263547"/>
                          </a:solidFill>
                          <a:latin typeface="Arial"/>
                          <a:ea typeface="Arial"/>
                          <a:cs typeface="Arial"/>
                        </a:rPr>
                        <a:t>Travel planning</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875" b="0">
                          <a:solidFill>
                            <a:srgbClr val="263547"/>
                          </a:solidFill>
                          <a:latin typeface="Arial"/>
                          <a:ea typeface="Arial"/>
                          <a:cs typeface="Arial"/>
                        </a:rPr>
                        <a:t>1</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875"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0B9DDE3-95D3-4BD6-8022-F23199ADAADD}"/>
              </a:ext>
            </a:extLst>
          </p:cNvPr>
          <p:cNvSpPr>
            <a:spLocks xmlns:a="http://schemas.openxmlformats.org/drawingml/2006/main" noGrp="1"/>
          </p:cNvSpPr>
          <p:nvPr/>
        </p:nvSpPr>
        <p:spPr>
          <a:xfrm xmlns:a="http://schemas.openxmlformats.org/drawingml/2006/main">
            <a:off x="647700" y="4095750"/>
            <a:ext cx="5191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What this comparison means</a:t>
            </a:r>
          </a:p>
        </p:txBody>
      </p:sp>
      <p:sp>
        <p:nvSpPr>
          <p:cNvPr id="7" name="">
            <a:extLst xmlns:a="http://schemas.openxmlformats.org/drawingml/2006/main">
              <a:ext uri="{FF2B5EF4-FFF2-40B4-BE49-F238E27FC236}">
                <a16:creationId xmlns:a16="http://schemas.microsoft.com/office/drawing/2014/main" id="{01670B0A-333C-4A3F-9B03-5A11A697E763}"/>
              </a:ext>
            </a:extLst>
          </p:cNvPr>
          <p:cNvSpPr>
            <a:spLocks xmlns:a="http://schemas.openxmlformats.org/drawingml/2006/main" noGrp="1"/>
          </p:cNvSpPr>
          <p:nvPr/>
        </p:nvSpPr>
        <p:spPr>
          <a:xfrm xmlns:a="http://schemas.openxmlformats.org/drawingml/2006/main">
            <a:off x="647700" y="4514850"/>
            <a:ext cx="51911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63547"/>
                </a:solidFill>
                <a:latin typeface="Arial"/>
                <a:ea typeface="Arial"/>
                <a:cs typeface="Arial"/>
              </a:defRPr>
            </a:defPPr>
            <a:lvl1pPr>
              <a:defRPr sz="1875" b="0">
                <a:solidFill>
                  <a:srgbClr val="263547"/>
                </a:solidFill>
                <a:latin typeface="Arial"/>
                <a:ea typeface="Arial"/>
                <a:cs typeface="Arial"/>
              </a:defRPr>
            </a:lvl1pPr>
            <a:lvl2pPr>
              <a:defRPr sz="1875" b="0">
                <a:solidFill>
                  <a:srgbClr val="263547"/>
                </a:solidFill>
                <a:latin typeface="Arial"/>
                <a:ea typeface="Arial"/>
                <a:cs typeface="Arial"/>
              </a:defRPr>
            </a:lvl2pPr>
            <a:lvl3pPr>
              <a:defRPr sz="1875" b="0">
                <a:solidFill>
                  <a:srgbClr val="263547"/>
                </a:solidFill>
                <a:latin typeface="Arial"/>
                <a:ea typeface="Arial"/>
                <a:cs typeface="Arial"/>
              </a:defRPr>
            </a:lvl3pPr>
            <a:lvl4pPr>
              <a:defRPr sz="1875" b="0">
                <a:solidFill>
                  <a:srgbClr val="263547"/>
                </a:solidFill>
                <a:latin typeface="Arial"/>
                <a:ea typeface="Arial"/>
                <a:cs typeface="Arial"/>
              </a:defRPr>
            </a:lvl4pPr>
            <a:lvl5pPr>
              <a:defRPr sz="1875" b="0">
                <a:solidFill>
                  <a:srgbClr val="263547"/>
                </a:solidFill>
                <a:latin typeface="Arial"/>
                <a:ea typeface="Arial"/>
                <a:cs typeface="Arial"/>
              </a:defRPr>
            </a:lvl5pPr>
            <a:lvl6pPr>
              <a:defRPr sz="1875" b="0">
                <a:solidFill>
                  <a:srgbClr val="263547"/>
                </a:solidFill>
                <a:latin typeface="Arial"/>
                <a:ea typeface="Arial"/>
                <a:cs typeface="Arial"/>
              </a:defRPr>
            </a:lvl6pPr>
            <a:lvl7pPr>
              <a:defRPr sz="1875" b="0">
                <a:solidFill>
                  <a:srgbClr val="263547"/>
                </a:solidFill>
                <a:latin typeface="Arial"/>
                <a:ea typeface="Arial"/>
                <a:cs typeface="Arial"/>
              </a:defRPr>
            </a:lvl7pPr>
            <a:lvl8pPr>
              <a:defRPr sz="1875" b="0">
                <a:solidFill>
                  <a:srgbClr val="263547"/>
                </a:solidFill>
                <a:latin typeface="Arial"/>
                <a:ea typeface="Arial"/>
                <a:cs typeface="Arial"/>
              </a:defRPr>
            </a:lvl8pPr>
            <a:lvl9pPr>
              <a:defRPr sz="1875" b="0">
                <a:solidFill>
                  <a:srgbClr val="263547"/>
                </a:solidFill>
                <a:latin typeface="Arial"/>
                <a:ea typeface="Arial"/>
                <a:cs typeface="Arial"/>
              </a:defRPr>
            </a:lvl9pPr>
          </a:lstStyle>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Both directions are observed on validation.</a:t>
            </a:r>
          </a:p>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Different times, wrapper versions and model</a:t>
            </a:r>
          </a:p>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randomness prevent causal attribution.</a:t>
            </a:r>
          </a:p>
        </p:txBody>
      </p:sp>
      <p:sp>
        <p:nvSpPr>
          <p:cNvPr id="8" name="">
            <a:extLst xmlns:a="http://schemas.openxmlformats.org/drawingml/2006/main">
              <a:ext uri="{FF2B5EF4-FFF2-40B4-BE49-F238E27FC236}">
                <a16:creationId xmlns:a16="http://schemas.microsoft.com/office/drawing/2014/main" id="{2E429860-8C9F-48A8-BF1E-B7CB3D4F06A1}"/>
              </a:ext>
            </a:extLst>
          </p:cNvPr>
          <p:cNvSpPr>
            <a:spLocks xmlns:a="http://schemas.openxmlformats.org/drawingml/2006/main" noGrp="1"/>
          </p:cNvSpPr>
          <p:nvPr/>
        </p:nvSpPr>
        <p:spPr>
          <a:xfrm xmlns:a="http://schemas.openxmlformats.org/drawingml/2006/main">
            <a:off x="6381750" y="1762125"/>
            <a:ext cx="5191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Held-out verifier findings</a:t>
            </a:r>
          </a:p>
        </p:txBody>
      </p:sp>
      <p:sp>
        <p:nvSpPr>
          <p:cNvPr id="9" name="">
            <a:extLst xmlns:a="http://schemas.openxmlformats.org/drawingml/2006/main">
              <a:ext uri="{FF2B5EF4-FFF2-40B4-BE49-F238E27FC236}">
                <a16:creationId xmlns:a16="http://schemas.microsoft.com/office/drawing/2014/main" id="{D95413CF-EF80-4613-874D-B8C3D5A8B297}"/>
              </a:ext>
            </a:extLst>
          </p:cNvPr>
          <p:cNvSpPr>
            <a:spLocks xmlns:a="http://schemas.openxmlformats.org/drawingml/2006/main" noGrp="1"/>
          </p:cNvSpPr>
          <p:nvPr/>
        </p:nvSpPr>
        <p:spPr>
          <a:xfrm xmlns:a="http://schemas.openxmlformats.org/drawingml/2006/main">
            <a:off x="6381750" y="2181225"/>
            <a:ext cx="5191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63547"/>
                </a:solidFill>
                <a:latin typeface="Arial"/>
                <a:ea typeface="Arial"/>
                <a:cs typeface="Arial"/>
              </a:defRPr>
            </a:defPPr>
            <a:lvl1pPr>
              <a:defRPr sz="1875" b="0">
                <a:solidFill>
                  <a:srgbClr val="263547"/>
                </a:solidFill>
                <a:latin typeface="Arial"/>
                <a:ea typeface="Arial"/>
                <a:cs typeface="Arial"/>
              </a:defRPr>
            </a:lvl1pPr>
            <a:lvl2pPr>
              <a:defRPr sz="1875" b="0">
                <a:solidFill>
                  <a:srgbClr val="263547"/>
                </a:solidFill>
                <a:latin typeface="Arial"/>
                <a:ea typeface="Arial"/>
                <a:cs typeface="Arial"/>
              </a:defRPr>
            </a:lvl2pPr>
            <a:lvl3pPr>
              <a:defRPr sz="1875" b="0">
                <a:solidFill>
                  <a:srgbClr val="263547"/>
                </a:solidFill>
                <a:latin typeface="Arial"/>
                <a:ea typeface="Arial"/>
                <a:cs typeface="Arial"/>
              </a:defRPr>
            </a:lvl3pPr>
            <a:lvl4pPr>
              <a:defRPr sz="1875" b="0">
                <a:solidFill>
                  <a:srgbClr val="263547"/>
                </a:solidFill>
                <a:latin typeface="Arial"/>
                <a:ea typeface="Arial"/>
                <a:cs typeface="Arial"/>
              </a:defRPr>
            </a:lvl4pPr>
            <a:lvl5pPr>
              <a:defRPr sz="1875" b="0">
                <a:solidFill>
                  <a:srgbClr val="263547"/>
                </a:solidFill>
                <a:latin typeface="Arial"/>
                <a:ea typeface="Arial"/>
                <a:cs typeface="Arial"/>
              </a:defRPr>
            </a:lvl5pPr>
            <a:lvl6pPr>
              <a:defRPr sz="1875" b="0">
                <a:solidFill>
                  <a:srgbClr val="263547"/>
                </a:solidFill>
                <a:latin typeface="Arial"/>
                <a:ea typeface="Arial"/>
                <a:cs typeface="Arial"/>
              </a:defRPr>
            </a:lvl6pPr>
            <a:lvl7pPr>
              <a:defRPr sz="1875" b="0">
                <a:solidFill>
                  <a:srgbClr val="263547"/>
                </a:solidFill>
                <a:latin typeface="Arial"/>
                <a:ea typeface="Arial"/>
                <a:cs typeface="Arial"/>
              </a:defRPr>
            </a:lvl7pPr>
            <a:lvl8pPr>
              <a:defRPr sz="1875" b="0">
                <a:solidFill>
                  <a:srgbClr val="263547"/>
                </a:solidFill>
                <a:latin typeface="Arial"/>
                <a:ea typeface="Arial"/>
                <a:cs typeface="Arial"/>
              </a:defRPr>
            </a:lvl8pPr>
            <a:lvl9pPr>
              <a:defRPr sz="1875" b="0">
                <a:solidFill>
                  <a:srgbClr val="263547"/>
                </a:solidFill>
                <a:latin typeface="Arial"/>
                <a:ea typeface="Arial"/>
                <a:cs typeface="Arial"/>
              </a:defRPr>
            </a:lvl9pPr>
          </a:lstStyle>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Excel: required formulas missing.</a:t>
            </a:r>
          </a:p>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Three.js: cabin instances / vertices missing.</a:t>
            </a:r>
          </a:p>
          <a:p xmlns:a="http://schemas.openxmlformats.org/drawingml/2006/main">
            <a:pPr>
              <a:defRPr sz="1875" b="0">
                <a:solidFill>
                  <a:srgbClr val="263547"/>
                </a:solidFill>
                <a:latin typeface="Arial"/>
                <a:ea typeface="Arial"/>
                <a:cs typeface="Arial"/>
              </a:defRPr>
            </a:pPr>
            <a:r>
              <a:rPr sz="1875" b="0">
                <a:solidFill>
                  <a:srgbClr val="263547"/>
                </a:solidFill>
                <a:latin typeface="Arial"/>
                <a:ea typeface="Arial"/>
                <a:cs typeface="Arial"/>
              </a:rPr>
              <a:t>Scala: compilation or test-integration errors.</a:t>
            </a:r>
          </a:p>
        </p:txBody>
      </p:sp>
      <p:sp>
        <p:nvSpPr>
          <p:cNvPr id="10" name="">
            <a:extLst xmlns:a="http://schemas.openxmlformats.org/drawingml/2006/main">
              <a:ext uri="{FF2B5EF4-FFF2-40B4-BE49-F238E27FC236}">
                <a16:creationId xmlns:a16="http://schemas.microsoft.com/office/drawing/2014/main" id="{6083B1A8-93A5-495B-9C54-B9FE92DC74F0}"/>
              </a:ext>
            </a:extLst>
          </p:cNvPr>
          <p:cNvSpPr>
            <a:spLocks xmlns:a="http://schemas.openxmlformats.org/drawingml/2006/main" noGrp="1"/>
          </p:cNvSpPr>
          <p:nvPr/>
        </p:nvSpPr>
        <p:spPr>
          <a:xfrm xmlns:a="http://schemas.openxmlformats.org/drawingml/2006/main">
            <a:off x="6429375" y="3810000"/>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Scala supplementary log excerpt</a:t>
            </a:r>
          </a:p>
        </p:txBody>
      </p:sp>
      <p:sp>
        <p:nvSpPr>
          <p:cNvPr id="11" name="">
            <a:extLst xmlns:a="http://schemas.openxmlformats.org/drawingml/2006/main">
              <a:ext uri="{FF2B5EF4-FFF2-40B4-BE49-F238E27FC236}">
                <a16:creationId xmlns:a16="http://schemas.microsoft.com/office/drawing/2014/main" id="{21C32C0D-AC1D-467E-8ADB-DBD566537017}"/>
              </a:ext>
            </a:extLst>
          </p:cNvPr>
          <p:cNvSpPr>
            <a:spLocks xmlns:a="http://schemas.openxmlformats.org/drawingml/2006/main" noGrp="1"/>
          </p:cNvSpPr>
          <p:nvPr/>
        </p:nvSpPr>
        <p:spPr>
          <a:xfrm xmlns:a="http://schemas.openxmlformats.org/drawingml/2006/main">
            <a:off x="6429375" y="4286250"/>
            <a:ext cx="5095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Compilation successful</a:t>
            </a:r>
          </a:p>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Test / compileIncremental failed</a:t>
            </a:r>
          </a:p>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TokenType: not found</a:t>
            </a:r>
          </a:p>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21 errors found</a:t>
            </a:r>
          </a:p>
        </p:txBody>
      </p:sp>
      <p:sp>
        <p:nvSpPr>
          <p:cNvPr id="12" name="">
            <a:extLst xmlns:a="http://schemas.openxmlformats.org/drawingml/2006/main">
              <a:ext uri="{FF2B5EF4-FFF2-40B4-BE49-F238E27FC236}">
                <a16:creationId xmlns:a16="http://schemas.microsoft.com/office/drawing/2014/main" id="{F4E69D30-3520-47FB-9638-B0B475071BC8}"/>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Official rewards remain 0; 88% / 96% code-quality scores are not pass rates.</a:t>
            </a:r>
          </a:p>
        </p:txBody>
      </p:sp>
    </p:spTree>
    <p:extLst>
      <p:ext uri="{BB962C8B-B14F-4D97-AF65-F5344CB8AC3E}">
        <p14:creationId xmlns:p14="http://schemas.microsoft.com/office/powerpoint/2010/main" val="2721160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6D1D8A8-44BB-4B6C-BF07-4F4E1B93E7FA}"/>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Interpretation, fairness and validity limits</a:t>
            </a:r>
          </a:p>
        </p:txBody>
      </p:sp>
      <p:sp>
        <p:nvSpPr>
          <p:cNvPr id="2" name="">
            <a:extLst xmlns:a="http://schemas.openxmlformats.org/drawingml/2006/main">
              <a:ext uri="{FF2B5EF4-FFF2-40B4-BE49-F238E27FC236}">
                <a16:creationId xmlns:a16="http://schemas.microsoft.com/office/drawing/2014/main" id="{3D28FFFC-C365-4C64-AF8F-E4BBA1869577}"/>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Evidence supports a pilot-study conclusion, not a robust ranking of HPO algorithms</a:t>
            </a:r>
          </a:p>
        </p:txBody>
      </p:sp>
      <p:sp>
        <p:nvSpPr>
          <p:cNvPr id="3" name="">
            <a:extLst xmlns:a="http://schemas.openxmlformats.org/drawingml/2006/main">
              <a:ext uri="{FF2B5EF4-FFF2-40B4-BE49-F238E27FC236}">
                <a16:creationId xmlns:a16="http://schemas.microsoft.com/office/drawing/2014/main" id="{A4AF4B31-067A-4651-B111-E54E568C9C2F}"/>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F3FA1FE9-97B9-44AB-A42C-456E9F096B39}"/>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947DF4EC-991A-4174-AB0F-0E256AE05FC5}"/>
              </a:ext>
            </a:extLst>
          </p:cNvPr>
          <p:cNvSpPr>
            <a:spLocks xmlns:a="http://schemas.openxmlformats.org/drawingml/2006/main" noGrp="1"/>
          </p:cNvSpPr>
          <p:nvPr/>
        </p:nvSpPr>
        <p:spPr>
          <a:xfrm xmlns:a="http://schemas.openxmlformats.org/drawingml/2006/main">
            <a:off x="647700" y="180975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Sample and exploration</a:t>
            </a:r>
          </a:p>
        </p:txBody>
      </p:sp>
      <p:sp>
        <p:nvSpPr>
          <p:cNvPr id="6" name="">
            <a:extLst xmlns:a="http://schemas.openxmlformats.org/drawingml/2006/main">
              <a:ext uri="{FF2B5EF4-FFF2-40B4-BE49-F238E27FC236}">
                <a16:creationId xmlns:a16="http://schemas.microsoft.com/office/drawing/2014/main" id="{9B4DABDD-9E7C-43D9-A9CF-16A1F42AF090}"/>
              </a:ext>
            </a:extLst>
          </p:cNvPr>
          <p:cNvSpPr>
            <a:spLocks xmlns:a="http://schemas.openxmlformats.org/drawingml/2006/main" noGrp="1"/>
          </p:cNvSpPr>
          <p:nvPr/>
        </p:nvSpPr>
        <p:spPr>
          <a:xfrm xmlns:a="http://schemas.openxmlformats.org/drawingml/2006/main">
            <a:off x="647700" y="2228850"/>
            <a:ext cx="5286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547"/>
                </a:solidFill>
                <a:latin typeface="Arial"/>
                <a:ea typeface="Arial"/>
                <a:cs typeface="Arial"/>
              </a:defRPr>
            </a:defPPr>
            <a:lvl1pPr>
              <a:defRPr sz="2025" b="0">
                <a:solidFill>
                  <a:srgbClr val="263547"/>
                </a:solidFill>
                <a:latin typeface="Arial"/>
                <a:ea typeface="Arial"/>
                <a:cs typeface="Arial"/>
              </a:defRPr>
            </a:lvl1pPr>
            <a:lvl2pPr>
              <a:defRPr sz="2025" b="0">
                <a:solidFill>
                  <a:srgbClr val="263547"/>
                </a:solidFill>
                <a:latin typeface="Arial"/>
                <a:ea typeface="Arial"/>
                <a:cs typeface="Arial"/>
              </a:defRPr>
            </a:lvl2pPr>
            <a:lvl3pPr>
              <a:defRPr sz="2025" b="0">
                <a:solidFill>
                  <a:srgbClr val="263547"/>
                </a:solidFill>
                <a:latin typeface="Arial"/>
                <a:ea typeface="Arial"/>
                <a:cs typeface="Arial"/>
              </a:defRPr>
            </a:lvl3pPr>
            <a:lvl4pPr>
              <a:defRPr sz="2025" b="0">
                <a:solidFill>
                  <a:srgbClr val="263547"/>
                </a:solidFill>
                <a:latin typeface="Arial"/>
                <a:ea typeface="Arial"/>
                <a:cs typeface="Arial"/>
              </a:defRPr>
            </a:lvl4pPr>
            <a:lvl5pPr>
              <a:defRPr sz="2025" b="0">
                <a:solidFill>
                  <a:srgbClr val="263547"/>
                </a:solidFill>
                <a:latin typeface="Arial"/>
                <a:ea typeface="Arial"/>
                <a:cs typeface="Arial"/>
              </a:defRPr>
            </a:lvl5pPr>
            <a:lvl6pPr>
              <a:defRPr sz="2025" b="0">
                <a:solidFill>
                  <a:srgbClr val="263547"/>
                </a:solidFill>
                <a:latin typeface="Arial"/>
                <a:ea typeface="Arial"/>
                <a:cs typeface="Arial"/>
              </a:defRPr>
            </a:lvl6pPr>
            <a:lvl7pPr>
              <a:defRPr sz="2025" b="0">
                <a:solidFill>
                  <a:srgbClr val="263547"/>
                </a:solidFill>
                <a:latin typeface="Arial"/>
                <a:ea typeface="Arial"/>
                <a:cs typeface="Arial"/>
              </a:defRPr>
            </a:lvl7pPr>
            <a:lvl8pPr>
              <a:defRPr sz="2025" b="0">
                <a:solidFill>
                  <a:srgbClr val="263547"/>
                </a:solidFill>
                <a:latin typeface="Arial"/>
                <a:ea typeface="Arial"/>
                <a:cs typeface="Arial"/>
              </a:defRPr>
            </a:lvl8pPr>
            <a:lvl9pPr>
              <a:defRPr sz="2025" b="0">
                <a:solidFill>
                  <a:srgbClr val="263547"/>
                </a:solidFill>
                <a:latin typeface="Arial"/>
                <a:ea typeface="Arial"/>
                <a:cs typeface="Arial"/>
              </a:defRPr>
            </a:lvl9pPr>
          </a:lstStyle>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3 held-out tasks; sparse replication.</a:t>
            </a:r>
          </a:p>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TPE evaluated one unique setting three times.</a:t>
            </a:r>
          </a:p>
        </p:txBody>
      </p:sp>
      <p:sp>
        <p:nvSpPr>
          <p:cNvPr id="7" name="">
            <a:extLst xmlns:a="http://schemas.openxmlformats.org/drawingml/2006/main">
              <a:ext uri="{FF2B5EF4-FFF2-40B4-BE49-F238E27FC236}">
                <a16:creationId xmlns:a16="http://schemas.microsoft.com/office/drawing/2014/main" id="{5B199E35-57BB-4927-9912-45AA68F4C037}"/>
              </a:ext>
            </a:extLst>
          </p:cNvPr>
          <p:cNvSpPr>
            <a:spLocks xmlns:a="http://schemas.openxmlformats.org/drawingml/2006/main" noGrp="1"/>
          </p:cNvSpPr>
          <p:nvPr/>
        </p:nvSpPr>
        <p:spPr>
          <a:xfrm xmlns:a="http://schemas.openxmlformats.org/drawingml/2006/main">
            <a:off x="6429375" y="18097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Budget and operations</a:t>
            </a:r>
          </a:p>
        </p:txBody>
      </p:sp>
      <p:sp>
        <p:nvSpPr>
          <p:cNvPr id="8" name="">
            <a:extLst xmlns:a="http://schemas.openxmlformats.org/drawingml/2006/main">
              <a:ext uri="{FF2B5EF4-FFF2-40B4-BE49-F238E27FC236}">
                <a16:creationId xmlns:a16="http://schemas.microsoft.com/office/drawing/2014/main" id="{4F5CAD86-15D1-4EE8-ADD1-09991A7B0804}"/>
              </a:ext>
            </a:extLst>
          </p:cNvPr>
          <p:cNvSpPr>
            <a:spLocks xmlns:a="http://schemas.openxmlformats.org/drawingml/2006/main" noGrp="1"/>
          </p:cNvSpPr>
          <p:nvPr/>
        </p:nvSpPr>
        <p:spPr>
          <a:xfrm xmlns:a="http://schemas.openxmlformats.org/drawingml/2006/main">
            <a:off x="6429375" y="22288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547"/>
                </a:solidFill>
                <a:latin typeface="Arial"/>
                <a:ea typeface="Arial"/>
                <a:cs typeface="Arial"/>
              </a:defRPr>
            </a:defPPr>
            <a:lvl1pPr>
              <a:defRPr sz="2025" b="0">
                <a:solidFill>
                  <a:srgbClr val="263547"/>
                </a:solidFill>
                <a:latin typeface="Arial"/>
                <a:ea typeface="Arial"/>
                <a:cs typeface="Arial"/>
              </a:defRPr>
            </a:lvl1pPr>
            <a:lvl2pPr>
              <a:defRPr sz="2025" b="0">
                <a:solidFill>
                  <a:srgbClr val="263547"/>
                </a:solidFill>
                <a:latin typeface="Arial"/>
                <a:ea typeface="Arial"/>
                <a:cs typeface="Arial"/>
              </a:defRPr>
            </a:lvl2pPr>
            <a:lvl3pPr>
              <a:defRPr sz="2025" b="0">
                <a:solidFill>
                  <a:srgbClr val="263547"/>
                </a:solidFill>
                <a:latin typeface="Arial"/>
                <a:ea typeface="Arial"/>
                <a:cs typeface="Arial"/>
              </a:defRPr>
            </a:lvl3pPr>
            <a:lvl4pPr>
              <a:defRPr sz="2025" b="0">
                <a:solidFill>
                  <a:srgbClr val="263547"/>
                </a:solidFill>
                <a:latin typeface="Arial"/>
                <a:ea typeface="Arial"/>
                <a:cs typeface="Arial"/>
              </a:defRPr>
            </a:lvl4pPr>
            <a:lvl5pPr>
              <a:defRPr sz="2025" b="0">
                <a:solidFill>
                  <a:srgbClr val="263547"/>
                </a:solidFill>
                <a:latin typeface="Arial"/>
                <a:ea typeface="Arial"/>
                <a:cs typeface="Arial"/>
              </a:defRPr>
            </a:lvl5pPr>
            <a:lvl6pPr>
              <a:defRPr sz="2025" b="0">
                <a:solidFill>
                  <a:srgbClr val="263547"/>
                </a:solidFill>
                <a:latin typeface="Arial"/>
                <a:ea typeface="Arial"/>
                <a:cs typeface="Arial"/>
              </a:defRPr>
            </a:lvl6pPr>
            <a:lvl7pPr>
              <a:defRPr sz="2025" b="0">
                <a:solidFill>
                  <a:srgbClr val="263547"/>
                </a:solidFill>
                <a:latin typeface="Arial"/>
                <a:ea typeface="Arial"/>
                <a:cs typeface="Arial"/>
              </a:defRPr>
            </a:lvl7pPr>
            <a:lvl8pPr>
              <a:defRPr sz="2025" b="0">
                <a:solidFill>
                  <a:srgbClr val="263547"/>
                </a:solidFill>
                <a:latin typeface="Arial"/>
                <a:ea typeface="Arial"/>
                <a:cs typeface="Arial"/>
              </a:defRPr>
            </a:lvl8pPr>
            <a:lvl9pPr>
              <a:defRPr sz="2025" b="0">
                <a:solidFill>
                  <a:srgbClr val="263547"/>
                </a:solidFill>
                <a:latin typeface="Arial"/>
                <a:ea typeface="Arial"/>
                <a:cs typeface="Arial"/>
              </a:defRPr>
            </a:lvl9pPr>
          </a:lstStyle>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Common caps, asymmetric recovery attempts.</a:t>
            </a:r>
          </a:p>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Installation hardening introduced mid-validation.</a:t>
            </a:r>
          </a:p>
        </p:txBody>
      </p:sp>
      <p:sp>
        <p:nvSpPr>
          <p:cNvPr id="9" name="">
            <a:extLst xmlns:a="http://schemas.openxmlformats.org/drawingml/2006/main">
              <a:ext uri="{FF2B5EF4-FFF2-40B4-BE49-F238E27FC236}">
                <a16:creationId xmlns:a16="http://schemas.microsoft.com/office/drawing/2014/main" id="{16F02014-7608-4639-86F0-FEBB6A4C5EFD}"/>
              </a:ext>
            </a:extLst>
          </p:cNvPr>
          <p:cNvSpPr>
            <a:spLocks xmlns:a="http://schemas.openxmlformats.org/drawingml/2006/main" noGrp="1"/>
          </p:cNvSpPr>
          <p:nvPr/>
        </p:nvSpPr>
        <p:spPr>
          <a:xfrm xmlns:a="http://schemas.openxmlformats.org/drawingml/2006/main">
            <a:off x="647700" y="382905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Post hoc changes</a:t>
            </a:r>
          </a:p>
        </p:txBody>
      </p:sp>
      <p:sp>
        <p:nvSpPr>
          <p:cNvPr id="10" name="">
            <a:extLst xmlns:a="http://schemas.openxmlformats.org/drawingml/2006/main">
              <a:ext uri="{FF2B5EF4-FFF2-40B4-BE49-F238E27FC236}">
                <a16:creationId xmlns:a16="http://schemas.microsoft.com/office/drawing/2014/main" id="{3CFFE6B0-0231-4618-ACEB-A20934F1FB2C}"/>
              </a:ext>
            </a:extLst>
          </p:cNvPr>
          <p:cNvSpPr>
            <a:spLocks xmlns:a="http://schemas.openxmlformats.org/drawingml/2006/main" noGrp="1"/>
          </p:cNvSpPr>
          <p:nvPr/>
        </p:nvSpPr>
        <p:spPr>
          <a:xfrm xmlns:a="http://schemas.openxmlformats.org/drawingml/2006/main">
            <a:off x="647700" y="4248150"/>
            <a:ext cx="5286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547"/>
                </a:solidFill>
                <a:latin typeface="Arial"/>
                <a:ea typeface="Arial"/>
                <a:cs typeface="Arial"/>
              </a:defRPr>
            </a:defPPr>
            <a:lvl1pPr>
              <a:defRPr sz="2025" b="0">
                <a:solidFill>
                  <a:srgbClr val="263547"/>
                </a:solidFill>
                <a:latin typeface="Arial"/>
                <a:ea typeface="Arial"/>
                <a:cs typeface="Arial"/>
              </a:defRPr>
            </a:lvl1pPr>
            <a:lvl2pPr>
              <a:defRPr sz="2025" b="0">
                <a:solidFill>
                  <a:srgbClr val="263547"/>
                </a:solidFill>
                <a:latin typeface="Arial"/>
                <a:ea typeface="Arial"/>
                <a:cs typeface="Arial"/>
              </a:defRPr>
            </a:lvl2pPr>
            <a:lvl3pPr>
              <a:defRPr sz="2025" b="0">
                <a:solidFill>
                  <a:srgbClr val="263547"/>
                </a:solidFill>
                <a:latin typeface="Arial"/>
                <a:ea typeface="Arial"/>
                <a:cs typeface="Arial"/>
              </a:defRPr>
            </a:lvl3pPr>
            <a:lvl4pPr>
              <a:defRPr sz="2025" b="0">
                <a:solidFill>
                  <a:srgbClr val="263547"/>
                </a:solidFill>
                <a:latin typeface="Arial"/>
                <a:ea typeface="Arial"/>
                <a:cs typeface="Arial"/>
              </a:defRPr>
            </a:lvl4pPr>
            <a:lvl5pPr>
              <a:defRPr sz="2025" b="0">
                <a:solidFill>
                  <a:srgbClr val="263547"/>
                </a:solidFill>
                <a:latin typeface="Arial"/>
                <a:ea typeface="Arial"/>
                <a:cs typeface="Arial"/>
              </a:defRPr>
            </a:lvl5pPr>
            <a:lvl6pPr>
              <a:defRPr sz="2025" b="0">
                <a:solidFill>
                  <a:srgbClr val="263547"/>
                </a:solidFill>
                <a:latin typeface="Arial"/>
                <a:ea typeface="Arial"/>
                <a:cs typeface="Arial"/>
              </a:defRPr>
            </a:lvl6pPr>
            <a:lvl7pPr>
              <a:defRPr sz="2025" b="0">
                <a:solidFill>
                  <a:srgbClr val="263547"/>
                </a:solidFill>
                <a:latin typeface="Arial"/>
                <a:ea typeface="Arial"/>
                <a:cs typeface="Arial"/>
              </a:defRPr>
            </a:lvl7pPr>
            <a:lvl8pPr>
              <a:defRPr sz="2025" b="0">
                <a:solidFill>
                  <a:srgbClr val="263547"/>
                </a:solidFill>
                <a:latin typeface="Arial"/>
                <a:ea typeface="Arial"/>
                <a:cs typeface="Arial"/>
              </a:defRPr>
            </a:lvl8pPr>
            <a:lvl9pPr>
              <a:defRPr sz="2025" b="0">
                <a:solidFill>
                  <a:srgbClr val="263547"/>
                </a:solidFill>
                <a:latin typeface="Arial"/>
                <a:ea typeface="Arial"/>
                <a:cs typeface="Arial"/>
              </a:defRPr>
            </a:lvl9pPr>
          </a:lstStyle>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Two missing test slots supplemented once.</a:t>
            </a:r>
          </a:p>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Original failures and costs remain visible.</a:t>
            </a:r>
          </a:p>
        </p:txBody>
      </p:sp>
      <p:sp>
        <p:nvSpPr>
          <p:cNvPr id="11" name="">
            <a:extLst xmlns:a="http://schemas.openxmlformats.org/drawingml/2006/main">
              <a:ext uri="{FF2B5EF4-FFF2-40B4-BE49-F238E27FC236}">
                <a16:creationId xmlns:a16="http://schemas.microsoft.com/office/drawing/2014/main" id="{1558200E-37C5-410E-A93D-401491B1CD33}"/>
              </a:ext>
            </a:extLst>
          </p:cNvPr>
          <p:cNvSpPr>
            <a:spLocks xmlns:a="http://schemas.openxmlformats.org/drawingml/2006/main" noGrp="1"/>
          </p:cNvSpPr>
          <p:nvPr/>
        </p:nvSpPr>
        <p:spPr>
          <a:xfrm xmlns:a="http://schemas.openxmlformats.org/drawingml/2006/main">
            <a:off x="6429375" y="38290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Inference boundary</a:t>
            </a:r>
          </a:p>
        </p:txBody>
      </p:sp>
      <p:sp>
        <p:nvSpPr>
          <p:cNvPr id="12" name="">
            <a:extLst xmlns:a="http://schemas.openxmlformats.org/drawingml/2006/main">
              <a:ext uri="{FF2B5EF4-FFF2-40B4-BE49-F238E27FC236}">
                <a16:creationId xmlns:a16="http://schemas.microsoft.com/office/drawing/2014/main" id="{1D127BBC-B083-42A2-AEC9-C3CC3A5B884B}"/>
              </a:ext>
            </a:extLst>
          </p:cNvPr>
          <p:cNvSpPr>
            <a:spLocks xmlns:a="http://schemas.openxmlformats.org/drawingml/2006/main" noGrp="1"/>
          </p:cNvSpPr>
          <p:nvPr/>
        </p:nvSpPr>
        <p:spPr>
          <a:xfrm xmlns:a="http://schemas.openxmlformats.org/drawingml/2006/main">
            <a:off x="6429375" y="42481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63547"/>
                </a:solidFill>
                <a:latin typeface="Arial"/>
                <a:ea typeface="Arial"/>
                <a:cs typeface="Arial"/>
              </a:defRPr>
            </a:defPPr>
            <a:lvl1pPr>
              <a:defRPr sz="2025" b="0">
                <a:solidFill>
                  <a:srgbClr val="263547"/>
                </a:solidFill>
                <a:latin typeface="Arial"/>
                <a:ea typeface="Arial"/>
                <a:cs typeface="Arial"/>
              </a:defRPr>
            </a:lvl1pPr>
            <a:lvl2pPr>
              <a:defRPr sz="2025" b="0">
                <a:solidFill>
                  <a:srgbClr val="263547"/>
                </a:solidFill>
                <a:latin typeface="Arial"/>
                <a:ea typeface="Arial"/>
                <a:cs typeface="Arial"/>
              </a:defRPr>
            </a:lvl2pPr>
            <a:lvl3pPr>
              <a:defRPr sz="2025" b="0">
                <a:solidFill>
                  <a:srgbClr val="263547"/>
                </a:solidFill>
                <a:latin typeface="Arial"/>
                <a:ea typeface="Arial"/>
                <a:cs typeface="Arial"/>
              </a:defRPr>
            </a:lvl3pPr>
            <a:lvl4pPr>
              <a:defRPr sz="2025" b="0">
                <a:solidFill>
                  <a:srgbClr val="263547"/>
                </a:solidFill>
                <a:latin typeface="Arial"/>
                <a:ea typeface="Arial"/>
                <a:cs typeface="Arial"/>
              </a:defRPr>
            </a:lvl4pPr>
            <a:lvl5pPr>
              <a:defRPr sz="2025" b="0">
                <a:solidFill>
                  <a:srgbClr val="263547"/>
                </a:solidFill>
                <a:latin typeface="Arial"/>
                <a:ea typeface="Arial"/>
                <a:cs typeface="Arial"/>
              </a:defRPr>
            </a:lvl5pPr>
            <a:lvl6pPr>
              <a:defRPr sz="2025" b="0">
                <a:solidFill>
                  <a:srgbClr val="263547"/>
                </a:solidFill>
                <a:latin typeface="Arial"/>
                <a:ea typeface="Arial"/>
                <a:cs typeface="Arial"/>
              </a:defRPr>
            </a:lvl6pPr>
            <a:lvl7pPr>
              <a:defRPr sz="2025" b="0">
                <a:solidFill>
                  <a:srgbClr val="263547"/>
                </a:solidFill>
                <a:latin typeface="Arial"/>
                <a:ea typeface="Arial"/>
                <a:cs typeface="Arial"/>
              </a:defRPr>
            </a:lvl7pPr>
            <a:lvl8pPr>
              <a:defRPr sz="2025" b="0">
                <a:solidFill>
                  <a:srgbClr val="263547"/>
                </a:solidFill>
                <a:latin typeface="Arial"/>
                <a:ea typeface="Arial"/>
                <a:cs typeface="Arial"/>
              </a:defRPr>
            </a:lvl8pPr>
            <a:lvl9pPr>
              <a:defRPr sz="2025" b="0">
                <a:solidFill>
                  <a:srgbClr val="263547"/>
                </a:solidFill>
                <a:latin typeface="Arial"/>
                <a:ea typeface="Arial"/>
                <a:cs typeface="Arial"/>
              </a:defRPr>
            </a:lvl9pPr>
          </a:lstStyle>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No reliable importance / interaction estimate.</a:t>
            </a:r>
          </a:p>
          <a:p xmlns:a="http://schemas.openxmlformats.org/drawingml/2006/main">
            <a:pPr>
              <a:defRPr sz="2025" b="0">
                <a:solidFill>
                  <a:srgbClr val="263547"/>
                </a:solidFill>
                <a:latin typeface="Arial"/>
                <a:ea typeface="Arial"/>
                <a:cs typeface="Arial"/>
              </a:defRPr>
            </a:pPr>
            <a:r>
              <a:rPr sz="2025" b="0">
                <a:solidFill>
                  <a:srgbClr val="263547"/>
                </a:solidFill>
                <a:latin typeface="Arial"/>
                <a:ea typeface="Arial"/>
                <a:cs typeface="Arial"/>
              </a:rPr>
              <a:t>Validation reversals are not held-out success.</a:t>
            </a:r>
          </a:p>
        </p:txBody>
      </p:sp>
      <p:sp>
        <p:nvSpPr>
          <p:cNvPr id="13" name="">
            <a:extLst xmlns:a="http://schemas.openxmlformats.org/drawingml/2006/main">
              <a:ext uri="{FF2B5EF4-FFF2-40B4-BE49-F238E27FC236}">
                <a16:creationId xmlns:a16="http://schemas.microsoft.com/office/drawing/2014/main" id="{26DCC6B4-2F70-4FFC-AD12-067DF60B070B}"/>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Primary outcomes remain intact; no best-of-attempt selection or test-guided tuning.</a:t>
            </a:r>
          </a:p>
        </p:txBody>
      </p:sp>
    </p:spTree>
    <p:extLst>
      <p:ext uri="{BB962C8B-B14F-4D97-AF65-F5344CB8AC3E}">
        <p14:creationId xmlns:p14="http://schemas.microsoft.com/office/powerpoint/2010/main" val="10518239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24B3292-37C4-4EC4-A478-5B3E840D66CA}"/>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Conclusions and lessons learned</a:t>
            </a:r>
          </a:p>
        </p:txBody>
      </p:sp>
      <p:sp>
        <p:nvSpPr>
          <p:cNvPr id="2" name="">
            <a:extLst xmlns:a="http://schemas.openxmlformats.org/drawingml/2006/main">
              <a:ext uri="{FF2B5EF4-FFF2-40B4-BE49-F238E27FC236}">
                <a16:creationId xmlns:a16="http://schemas.microsoft.com/office/drawing/2014/main" id="{2ABAE72E-0998-4A92-B237-89B37DA0A997}"/>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The contribution is an auditable HPO workflow and a transparent negative result</a:t>
            </a:r>
          </a:p>
        </p:txBody>
      </p:sp>
      <p:sp>
        <p:nvSpPr>
          <p:cNvPr id="3" name="">
            <a:extLst xmlns:a="http://schemas.openxmlformats.org/drawingml/2006/main">
              <a:ext uri="{FF2B5EF4-FFF2-40B4-BE49-F238E27FC236}">
                <a16:creationId xmlns:a16="http://schemas.microsoft.com/office/drawing/2014/main" id="{E4E6E378-AED3-48DA-BD74-CD6187CB5860}"/>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826691A8-6861-435D-A0CC-DE89B7E2E19E}"/>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E8F0453C-7245-4E43-B348-2B726F6D60E4}"/>
              </a:ext>
            </a:extLst>
          </p:cNvPr>
          <p:cNvSpPr>
            <a:spLocks xmlns:a="http://schemas.openxmlformats.org/drawingml/2006/main" noGrp="1"/>
          </p:cNvSpPr>
          <p:nvPr/>
        </p:nvSpPr>
        <p:spPr>
          <a:xfrm xmlns:a="http://schemas.openxmlformats.org/drawingml/2006/main">
            <a:off x="647700" y="180975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Empirical conclusion</a:t>
            </a:r>
          </a:p>
        </p:txBody>
      </p:sp>
      <p:sp>
        <p:nvSpPr>
          <p:cNvPr id="6" name="">
            <a:extLst xmlns:a="http://schemas.openxmlformats.org/drawingml/2006/main">
              <a:ext uri="{FF2B5EF4-FFF2-40B4-BE49-F238E27FC236}">
                <a16:creationId xmlns:a16="http://schemas.microsoft.com/office/drawing/2014/main" id="{CA23A65A-FBB8-43FE-A7B3-0D184E603507}"/>
              </a:ext>
            </a:extLst>
          </p:cNvPr>
          <p:cNvSpPr>
            <a:spLocks xmlns:a="http://schemas.openxmlformats.org/drawingml/2006/main" noGrp="1"/>
          </p:cNvSpPr>
          <p:nvPr/>
        </p:nvSpPr>
        <p:spPr>
          <a:xfrm xmlns:a="http://schemas.openxmlformats.org/drawingml/2006/main">
            <a:off x="647700" y="2228850"/>
            <a:ext cx="528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547"/>
                </a:solidFill>
                <a:latin typeface="Arial"/>
                <a:ea typeface="Arial"/>
                <a:cs typeface="Arial"/>
              </a:defRPr>
            </a:defPPr>
            <a:lvl1pPr>
              <a:defRPr sz="2175" b="0">
                <a:solidFill>
                  <a:srgbClr val="263547"/>
                </a:solidFill>
                <a:latin typeface="Arial"/>
                <a:ea typeface="Arial"/>
                <a:cs typeface="Arial"/>
              </a:defRPr>
            </a:lvl1pPr>
            <a:lvl2pPr>
              <a:defRPr sz="2175" b="0">
                <a:solidFill>
                  <a:srgbClr val="263547"/>
                </a:solidFill>
                <a:latin typeface="Arial"/>
                <a:ea typeface="Arial"/>
                <a:cs typeface="Arial"/>
              </a:defRPr>
            </a:lvl2pPr>
            <a:lvl3pPr>
              <a:defRPr sz="2175" b="0">
                <a:solidFill>
                  <a:srgbClr val="263547"/>
                </a:solidFill>
                <a:latin typeface="Arial"/>
                <a:ea typeface="Arial"/>
                <a:cs typeface="Arial"/>
              </a:defRPr>
            </a:lvl3pPr>
            <a:lvl4pPr>
              <a:defRPr sz="2175" b="0">
                <a:solidFill>
                  <a:srgbClr val="263547"/>
                </a:solidFill>
                <a:latin typeface="Arial"/>
                <a:ea typeface="Arial"/>
                <a:cs typeface="Arial"/>
              </a:defRPr>
            </a:lvl4pPr>
            <a:lvl5pPr>
              <a:defRPr sz="2175" b="0">
                <a:solidFill>
                  <a:srgbClr val="263547"/>
                </a:solidFill>
                <a:latin typeface="Arial"/>
                <a:ea typeface="Arial"/>
                <a:cs typeface="Arial"/>
              </a:defRPr>
            </a:lvl5pPr>
            <a:lvl6pPr>
              <a:defRPr sz="2175" b="0">
                <a:solidFill>
                  <a:srgbClr val="263547"/>
                </a:solidFill>
                <a:latin typeface="Arial"/>
                <a:ea typeface="Arial"/>
                <a:cs typeface="Arial"/>
              </a:defRPr>
            </a:lvl6pPr>
            <a:lvl7pPr>
              <a:defRPr sz="2175" b="0">
                <a:solidFill>
                  <a:srgbClr val="263547"/>
                </a:solidFill>
                <a:latin typeface="Arial"/>
                <a:ea typeface="Arial"/>
                <a:cs typeface="Arial"/>
              </a:defRPr>
            </a:lvl7pPr>
            <a:lvl8pPr>
              <a:defRPr sz="2175" b="0">
                <a:solidFill>
                  <a:srgbClr val="263547"/>
                </a:solidFill>
                <a:latin typeface="Arial"/>
                <a:ea typeface="Arial"/>
                <a:cs typeface="Arial"/>
              </a:defRPr>
            </a:lvl8pPr>
            <a:lvl9pPr>
              <a:defRPr sz="2175" b="0">
                <a:solidFill>
                  <a:srgbClr val="263547"/>
                </a:solidFill>
                <a:latin typeface="Arial"/>
                <a:ea typeface="Arial"/>
                <a:cs typeface="Arial"/>
              </a:defRPr>
            </a:lvl9pPr>
          </a:lstStyle>
          <a:p xmlns:a="http://schemas.openxmlformats.org/drawingml/2006/main">
            <a:pPr>
              <a:defRPr sz="2175" b="0">
                <a:solidFill>
                  <a:srgbClr val="263547"/>
                </a:solidFill>
                <a:latin typeface="Arial"/>
                <a:ea typeface="Arial"/>
                <a:cs typeface="Arial"/>
              </a:defRPr>
            </a:pPr>
            <a:r>
              <a:rPr sz="2175" b="0">
                <a:solidFill>
                  <a:srgbClr val="263547"/>
                </a:solidFill>
                <a:latin typeface="Arial"/>
                <a:ea typeface="Arial"/>
                <a:cs typeface="Arial"/>
              </a:rPr>
              <a:t>All four supplemented configurations: 0/3.</a:t>
            </a:r>
          </a:p>
          <a:p xmlns:a="http://schemas.openxmlformats.org/drawingml/2006/main">
            <a:pPr>
              <a:defRPr sz="2175" b="0">
                <a:solidFill>
                  <a:srgbClr val="263547"/>
                </a:solidFill>
                <a:latin typeface="Arial"/>
                <a:ea typeface="Arial"/>
                <a:cs typeface="Arial"/>
              </a:defRPr>
            </a:pPr>
            <a:r>
              <a:rPr sz="2175" b="0">
                <a:solidFill>
                  <a:srgbClr val="263547"/>
                </a:solidFill>
                <a:latin typeface="Arial"/>
                <a:ea typeface="Arial"/>
                <a:cs typeface="Arial"/>
              </a:rPr>
              <a:t>Bayesian validation success did not generalize.</a:t>
            </a:r>
          </a:p>
        </p:txBody>
      </p:sp>
      <p:sp>
        <p:nvSpPr>
          <p:cNvPr id="7" name="">
            <a:extLst xmlns:a="http://schemas.openxmlformats.org/drawingml/2006/main">
              <a:ext uri="{FF2B5EF4-FFF2-40B4-BE49-F238E27FC236}">
                <a16:creationId xmlns:a16="http://schemas.microsoft.com/office/drawing/2014/main" id="{B1532A5A-0072-4E84-A3F3-ED369466892E}"/>
              </a:ext>
            </a:extLst>
          </p:cNvPr>
          <p:cNvSpPr>
            <a:spLocks xmlns:a="http://schemas.openxmlformats.org/drawingml/2006/main" noGrp="1"/>
          </p:cNvSpPr>
          <p:nvPr/>
        </p:nvSpPr>
        <p:spPr>
          <a:xfrm xmlns:a="http://schemas.openxmlformats.org/drawingml/2006/main">
            <a:off x="6429375" y="18097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Methodological lesson</a:t>
            </a:r>
          </a:p>
        </p:txBody>
      </p:sp>
      <p:sp>
        <p:nvSpPr>
          <p:cNvPr id="8" name="">
            <a:extLst xmlns:a="http://schemas.openxmlformats.org/drawingml/2006/main">
              <a:ext uri="{FF2B5EF4-FFF2-40B4-BE49-F238E27FC236}">
                <a16:creationId xmlns:a16="http://schemas.microsoft.com/office/drawing/2014/main" id="{F20D920C-4099-4EBE-ACB5-7B5C5B91842E}"/>
              </a:ext>
            </a:extLst>
          </p:cNvPr>
          <p:cNvSpPr>
            <a:spLocks xmlns:a="http://schemas.openxmlformats.org/drawingml/2006/main" noGrp="1"/>
          </p:cNvSpPr>
          <p:nvPr/>
        </p:nvSpPr>
        <p:spPr>
          <a:xfrm xmlns:a="http://schemas.openxmlformats.org/drawingml/2006/main">
            <a:off x="6429375" y="2228850"/>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547"/>
                </a:solidFill>
                <a:latin typeface="Arial"/>
                <a:ea typeface="Arial"/>
                <a:cs typeface="Arial"/>
              </a:defRPr>
            </a:defPPr>
            <a:lvl1pPr>
              <a:defRPr sz="2175" b="0">
                <a:solidFill>
                  <a:srgbClr val="263547"/>
                </a:solidFill>
                <a:latin typeface="Arial"/>
                <a:ea typeface="Arial"/>
                <a:cs typeface="Arial"/>
              </a:defRPr>
            </a:lvl1pPr>
            <a:lvl2pPr>
              <a:defRPr sz="2175" b="0">
                <a:solidFill>
                  <a:srgbClr val="263547"/>
                </a:solidFill>
                <a:latin typeface="Arial"/>
                <a:ea typeface="Arial"/>
                <a:cs typeface="Arial"/>
              </a:defRPr>
            </a:lvl2pPr>
            <a:lvl3pPr>
              <a:defRPr sz="2175" b="0">
                <a:solidFill>
                  <a:srgbClr val="263547"/>
                </a:solidFill>
                <a:latin typeface="Arial"/>
                <a:ea typeface="Arial"/>
                <a:cs typeface="Arial"/>
              </a:defRPr>
            </a:lvl3pPr>
            <a:lvl4pPr>
              <a:defRPr sz="2175" b="0">
                <a:solidFill>
                  <a:srgbClr val="263547"/>
                </a:solidFill>
                <a:latin typeface="Arial"/>
                <a:ea typeface="Arial"/>
                <a:cs typeface="Arial"/>
              </a:defRPr>
            </a:lvl4pPr>
            <a:lvl5pPr>
              <a:defRPr sz="2175" b="0">
                <a:solidFill>
                  <a:srgbClr val="263547"/>
                </a:solidFill>
                <a:latin typeface="Arial"/>
                <a:ea typeface="Arial"/>
                <a:cs typeface="Arial"/>
              </a:defRPr>
            </a:lvl5pPr>
            <a:lvl6pPr>
              <a:defRPr sz="2175" b="0">
                <a:solidFill>
                  <a:srgbClr val="263547"/>
                </a:solidFill>
                <a:latin typeface="Arial"/>
                <a:ea typeface="Arial"/>
                <a:cs typeface="Arial"/>
              </a:defRPr>
            </a:lvl6pPr>
            <a:lvl7pPr>
              <a:defRPr sz="2175" b="0">
                <a:solidFill>
                  <a:srgbClr val="263547"/>
                </a:solidFill>
                <a:latin typeface="Arial"/>
                <a:ea typeface="Arial"/>
                <a:cs typeface="Arial"/>
              </a:defRPr>
            </a:lvl7pPr>
            <a:lvl8pPr>
              <a:defRPr sz="2175" b="0">
                <a:solidFill>
                  <a:srgbClr val="263547"/>
                </a:solidFill>
                <a:latin typeface="Arial"/>
                <a:ea typeface="Arial"/>
                <a:cs typeface="Arial"/>
              </a:defRPr>
            </a:lvl8pPr>
            <a:lvl9pPr>
              <a:defRPr sz="2175" b="0">
                <a:solidFill>
                  <a:srgbClr val="263547"/>
                </a:solidFill>
                <a:latin typeface="Arial"/>
                <a:ea typeface="Arial"/>
                <a:cs typeface="Arial"/>
              </a:defRPr>
            </a:lvl9pPr>
          </a:lstStyle>
          <a:p xmlns:a="http://schemas.openxmlformats.org/drawingml/2006/main">
            <a:pPr>
              <a:defRPr sz="2175" b="0">
                <a:solidFill>
                  <a:srgbClr val="263547"/>
                </a:solidFill>
                <a:latin typeface="Arial"/>
                <a:ea typeface="Arial"/>
                <a:cs typeface="Arial"/>
              </a:defRPr>
            </a:pPr>
            <a:r>
              <a:rPr sz="2175" b="0">
                <a:solidFill>
                  <a:srgbClr val="263547"/>
                </a:solidFill>
                <a:latin typeface="Arial"/>
                <a:ea typeface="Arial"/>
                <a:cs typeface="Arial"/>
              </a:rPr>
              <a:t>Allocation efficiency needs a useful proxy.</a:t>
            </a:r>
          </a:p>
          <a:p xmlns:a="http://schemas.openxmlformats.org/drawingml/2006/main">
            <a:pPr>
              <a:defRPr sz="2175" b="0">
                <a:solidFill>
                  <a:srgbClr val="263547"/>
                </a:solidFill>
                <a:latin typeface="Arial"/>
                <a:ea typeface="Arial"/>
                <a:cs typeface="Arial"/>
              </a:defRPr>
            </a:pPr>
            <a:r>
              <a:rPr sz="2175" b="0">
                <a:solidFill>
                  <a:srgbClr val="263547"/>
                </a:solidFill>
                <a:latin typeface="Arial"/>
                <a:ea typeface="Arial"/>
                <a:cs typeface="Arial"/>
              </a:rPr>
              <a:t>Here all five screening rewards were 0.</a:t>
            </a:r>
          </a:p>
        </p:txBody>
      </p:sp>
      <p:sp>
        <p:nvSpPr>
          <p:cNvPr id="9" name="">
            <a:extLst xmlns:a="http://schemas.openxmlformats.org/drawingml/2006/main">
              <a:ext uri="{FF2B5EF4-FFF2-40B4-BE49-F238E27FC236}">
                <a16:creationId xmlns:a16="http://schemas.microsoft.com/office/drawing/2014/main" id="{BAA5F1F5-4B40-4F90-8385-3EB8CFFBA157}"/>
              </a:ext>
            </a:extLst>
          </p:cNvPr>
          <p:cNvSpPr>
            <a:spLocks xmlns:a="http://schemas.openxmlformats.org/drawingml/2006/main" noGrp="1"/>
          </p:cNvSpPr>
          <p:nvPr/>
        </p:nvSpPr>
        <p:spPr>
          <a:xfrm xmlns:a="http://schemas.openxmlformats.org/drawingml/2006/main">
            <a:off x="647700" y="400050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Implementation lesson</a:t>
            </a:r>
          </a:p>
        </p:txBody>
      </p:sp>
      <p:sp>
        <p:nvSpPr>
          <p:cNvPr id="10" name="">
            <a:extLst xmlns:a="http://schemas.openxmlformats.org/drawingml/2006/main">
              <a:ext uri="{FF2B5EF4-FFF2-40B4-BE49-F238E27FC236}">
                <a16:creationId xmlns:a16="http://schemas.microsoft.com/office/drawing/2014/main" id="{B959C066-B984-4E90-8736-C4766633C9F0}"/>
              </a:ext>
            </a:extLst>
          </p:cNvPr>
          <p:cNvSpPr>
            <a:spLocks xmlns:a="http://schemas.openxmlformats.org/drawingml/2006/main" noGrp="1"/>
          </p:cNvSpPr>
          <p:nvPr/>
        </p:nvSpPr>
        <p:spPr>
          <a:xfrm xmlns:a="http://schemas.openxmlformats.org/drawingml/2006/main">
            <a:off x="647700" y="4419600"/>
            <a:ext cx="528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547"/>
                </a:solidFill>
                <a:latin typeface="Arial"/>
                <a:ea typeface="Arial"/>
                <a:cs typeface="Arial"/>
              </a:defRPr>
            </a:defPPr>
            <a:lvl1pPr>
              <a:defRPr sz="2175" b="0">
                <a:solidFill>
                  <a:srgbClr val="263547"/>
                </a:solidFill>
                <a:latin typeface="Arial"/>
                <a:ea typeface="Arial"/>
                <a:cs typeface="Arial"/>
              </a:defRPr>
            </a:lvl1pPr>
            <a:lvl2pPr>
              <a:defRPr sz="2175" b="0">
                <a:solidFill>
                  <a:srgbClr val="263547"/>
                </a:solidFill>
                <a:latin typeface="Arial"/>
                <a:ea typeface="Arial"/>
                <a:cs typeface="Arial"/>
              </a:defRPr>
            </a:lvl2pPr>
            <a:lvl3pPr>
              <a:defRPr sz="2175" b="0">
                <a:solidFill>
                  <a:srgbClr val="263547"/>
                </a:solidFill>
                <a:latin typeface="Arial"/>
                <a:ea typeface="Arial"/>
                <a:cs typeface="Arial"/>
              </a:defRPr>
            </a:lvl3pPr>
            <a:lvl4pPr>
              <a:defRPr sz="2175" b="0">
                <a:solidFill>
                  <a:srgbClr val="263547"/>
                </a:solidFill>
                <a:latin typeface="Arial"/>
                <a:ea typeface="Arial"/>
                <a:cs typeface="Arial"/>
              </a:defRPr>
            </a:lvl4pPr>
            <a:lvl5pPr>
              <a:defRPr sz="2175" b="0">
                <a:solidFill>
                  <a:srgbClr val="263547"/>
                </a:solidFill>
                <a:latin typeface="Arial"/>
                <a:ea typeface="Arial"/>
                <a:cs typeface="Arial"/>
              </a:defRPr>
            </a:lvl5pPr>
            <a:lvl6pPr>
              <a:defRPr sz="2175" b="0">
                <a:solidFill>
                  <a:srgbClr val="263547"/>
                </a:solidFill>
                <a:latin typeface="Arial"/>
                <a:ea typeface="Arial"/>
                <a:cs typeface="Arial"/>
              </a:defRPr>
            </a:lvl6pPr>
            <a:lvl7pPr>
              <a:defRPr sz="2175" b="0">
                <a:solidFill>
                  <a:srgbClr val="263547"/>
                </a:solidFill>
                <a:latin typeface="Arial"/>
                <a:ea typeface="Arial"/>
                <a:cs typeface="Arial"/>
              </a:defRPr>
            </a:lvl7pPr>
            <a:lvl8pPr>
              <a:defRPr sz="2175" b="0">
                <a:solidFill>
                  <a:srgbClr val="263547"/>
                </a:solidFill>
                <a:latin typeface="Arial"/>
                <a:ea typeface="Arial"/>
                <a:cs typeface="Arial"/>
              </a:defRPr>
            </a:lvl8pPr>
            <a:lvl9pPr>
              <a:defRPr sz="2175" b="0">
                <a:solidFill>
                  <a:srgbClr val="263547"/>
                </a:solidFill>
                <a:latin typeface="Arial"/>
                <a:ea typeface="Arial"/>
                <a:cs typeface="Arial"/>
              </a:defRPr>
            </a:lvl9pPr>
          </a:lstStyle>
          <a:p xmlns:a="http://schemas.openxmlformats.org/drawingml/2006/main">
            <a:pPr>
              <a:defRPr sz="2175" b="0">
                <a:solidFill>
                  <a:srgbClr val="263547"/>
                </a:solidFill>
                <a:latin typeface="Arial"/>
                <a:ea typeface="Arial"/>
                <a:cs typeface="Arial"/>
              </a:defRPr>
            </a:pPr>
            <a:r>
              <a:rPr sz="2175" b="0">
                <a:solidFill>
                  <a:srgbClr val="263547"/>
                </a:solidFill>
                <a:latin typeface="Arial"/>
                <a:ea typeface="Arial"/>
                <a:cs typeface="Arial"/>
              </a:rPr>
              <a:t>Persist raw outcomes and costs.</a:t>
            </a:r>
          </a:p>
          <a:p xmlns:a="http://schemas.openxmlformats.org/drawingml/2006/main">
            <a:pPr>
              <a:defRPr sz="2175" b="0">
                <a:solidFill>
                  <a:srgbClr val="263547"/>
                </a:solidFill>
                <a:latin typeface="Arial"/>
                <a:ea typeface="Arial"/>
                <a:cs typeface="Arial"/>
              </a:defRPr>
            </a:pPr>
            <a:r>
              <a:rPr sz="2175" b="0">
                <a:solidFill>
                  <a:srgbClr val="263547"/>
                </a:solidFill>
                <a:latin typeface="Arial"/>
                <a:ea typeface="Arial"/>
                <a:cs typeface="Arial"/>
              </a:rPr>
              <a:t>Separate missing results from scored failures.</a:t>
            </a:r>
          </a:p>
        </p:txBody>
      </p:sp>
      <p:sp>
        <p:nvSpPr>
          <p:cNvPr id="11" name="">
            <a:extLst xmlns:a="http://schemas.openxmlformats.org/drawingml/2006/main">
              <a:ext uri="{FF2B5EF4-FFF2-40B4-BE49-F238E27FC236}">
                <a16:creationId xmlns:a16="http://schemas.microsoft.com/office/drawing/2014/main" id="{FDCC0C46-BA94-401E-B6ED-9DFAB3D075FE}"/>
              </a:ext>
            </a:extLst>
          </p:cNvPr>
          <p:cNvSpPr>
            <a:spLocks xmlns:a="http://schemas.openxmlformats.org/drawingml/2006/main" noGrp="1"/>
          </p:cNvSpPr>
          <p:nvPr/>
        </p:nvSpPr>
        <p:spPr>
          <a:xfrm xmlns:a="http://schemas.openxmlformats.org/drawingml/2006/main">
            <a:off x="6429375" y="400050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Next research step</a:t>
            </a:r>
          </a:p>
        </p:txBody>
      </p:sp>
      <p:sp>
        <p:nvSpPr>
          <p:cNvPr id="12" name="">
            <a:extLst xmlns:a="http://schemas.openxmlformats.org/drawingml/2006/main">
              <a:ext uri="{FF2B5EF4-FFF2-40B4-BE49-F238E27FC236}">
                <a16:creationId xmlns:a16="http://schemas.microsoft.com/office/drawing/2014/main" id="{B472ED7B-7EF1-4F37-9463-CF249365C84D}"/>
              </a:ext>
            </a:extLst>
          </p:cNvPr>
          <p:cNvSpPr>
            <a:spLocks xmlns:a="http://schemas.openxmlformats.org/drawingml/2006/main" noGrp="1"/>
          </p:cNvSpPr>
          <p:nvPr/>
        </p:nvSpPr>
        <p:spPr>
          <a:xfrm xmlns:a="http://schemas.openxmlformats.org/drawingml/2006/main">
            <a:off x="6429375" y="4419600"/>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63547"/>
                </a:solidFill>
                <a:latin typeface="Arial"/>
                <a:ea typeface="Arial"/>
                <a:cs typeface="Arial"/>
              </a:defRPr>
            </a:defPPr>
            <a:lvl1pPr>
              <a:defRPr sz="2175" b="0">
                <a:solidFill>
                  <a:srgbClr val="263547"/>
                </a:solidFill>
                <a:latin typeface="Arial"/>
                <a:ea typeface="Arial"/>
                <a:cs typeface="Arial"/>
              </a:defRPr>
            </a:lvl1pPr>
            <a:lvl2pPr>
              <a:defRPr sz="2175" b="0">
                <a:solidFill>
                  <a:srgbClr val="263547"/>
                </a:solidFill>
                <a:latin typeface="Arial"/>
                <a:ea typeface="Arial"/>
                <a:cs typeface="Arial"/>
              </a:defRPr>
            </a:lvl2pPr>
            <a:lvl3pPr>
              <a:defRPr sz="2175" b="0">
                <a:solidFill>
                  <a:srgbClr val="263547"/>
                </a:solidFill>
                <a:latin typeface="Arial"/>
                <a:ea typeface="Arial"/>
                <a:cs typeface="Arial"/>
              </a:defRPr>
            </a:lvl3pPr>
            <a:lvl4pPr>
              <a:defRPr sz="2175" b="0">
                <a:solidFill>
                  <a:srgbClr val="263547"/>
                </a:solidFill>
                <a:latin typeface="Arial"/>
                <a:ea typeface="Arial"/>
                <a:cs typeface="Arial"/>
              </a:defRPr>
            </a:lvl4pPr>
            <a:lvl5pPr>
              <a:defRPr sz="2175" b="0">
                <a:solidFill>
                  <a:srgbClr val="263547"/>
                </a:solidFill>
                <a:latin typeface="Arial"/>
                <a:ea typeface="Arial"/>
                <a:cs typeface="Arial"/>
              </a:defRPr>
            </a:lvl5pPr>
            <a:lvl6pPr>
              <a:defRPr sz="2175" b="0">
                <a:solidFill>
                  <a:srgbClr val="263547"/>
                </a:solidFill>
                <a:latin typeface="Arial"/>
                <a:ea typeface="Arial"/>
                <a:cs typeface="Arial"/>
              </a:defRPr>
            </a:lvl6pPr>
            <a:lvl7pPr>
              <a:defRPr sz="2175" b="0">
                <a:solidFill>
                  <a:srgbClr val="263547"/>
                </a:solidFill>
                <a:latin typeface="Arial"/>
                <a:ea typeface="Arial"/>
                <a:cs typeface="Arial"/>
              </a:defRPr>
            </a:lvl7pPr>
            <a:lvl8pPr>
              <a:defRPr sz="2175" b="0">
                <a:solidFill>
                  <a:srgbClr val="263547"/>
                </a:solidFill>
                <a:latin typeface="Arial"/>
                <a:ea typeface="Arial"/>
                <a:cs typeface="Arial"/>
              </a:defRPr>
            </a:lvl8pPr>
            <a:lvl9pPr>
              <a:defRPr sz="2175" b="0">
                <a:solidFill>
                  <a:srgbClr val="263547"/>
                </a:solidFill>
                <a:latin typeface="Arial"/>
                <a:ea typeface="Arial"/>
                <a:cs typeface="Arial"/>
              </a:defRPr>
            </a:lvl9pPr>
          </a:lstStyle>
          <a:p xmlns:a="http://schemas.openxmlformats.org/drawingml/2006/main">
            <a:pPr>
              <a:defRPr sz="2175" b="0">
                <a:solidFill>
                  <a:srgbClr val="263547"/>
                </a:solidFill>
                <a:latin typeface="Arial"/>
                <a:ea typeface="Arial"/>
                <a:cs typeface="Arial"/>
              </a:defRPr>
            </a:pPr>
            <a:r>
              <a:rPr sz="2175" b="0">
                <a:solidFill>
                  <a:srgbClr val="263547"/>
                </a:solidFill>
                <a:latin typeface="Arial"/>
                <a:ea typeface="Arial"/>
                <a:cs typeface="Arial"/>
              </a:rPr>
              <a:t>Replicated validation and balanced factor tests,</a:t>
            </a:r>
          </a:p>
          <a:p xmlns:a="http://schemas.openxmlformats.org/drawingml/2006/main">
            <a:pPr>
              <a:defRPr sz="2175" b="0">
                <a:solidFill>
                  <a:srgbClr val="263547"/>
                </a:solidFill>
                <a:latin typeface="Arial"/>
                <a:ea typeface="Arial"/>
                <a:cs typeface="Arial"/>
              </a:defRPr>
            </a:pPr>
            <a:r>
              <a:rPr sz="2175" b="0">
                <a:solidFill>
                  <a:srgbClr val="263547"/>
                </a:solidFill>
                <a:latin typeface="Arial"/>
                <a:ea typeface="Arial"/>
                <a:cs typeface="Arial"/>
              </a:rPr>
              <a:t>with failure handling declared in advance.</a:t>
            </a:r>
          </a:p>
        </p:txBody>
      </p:sp>
    </p:spTree>
    <p:extLst>
      <p:ext uri="{BB962C8B-B14F-4D97-AF65-F5344CB8AC3E}">
        <p14:creationId xmlns:p14="http://schemas.microsoft.com/office/powerpoint/2010/main" val="20709160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C21E02-7876-498F-8E35-65EA7C216EFB}"/>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Discussion and Q&amp;A</a:t>
            </a:r>
          </a:p>
        </p:txBody>
      </p:sp>
      <p:sp>
        <p:nvSpPr>
          <p:cNvPr id="2" name="">
            <a:extLst xmlns:a="http://schemas.openxmlformats.org/drawingml/2006/main">
              <a:ext uri="{FF2B5EF4-FFF2-40B4-BE49-F238E27FC236}">
                <a16:creationId xmlns:a16="http://schemas.microsoft.com/office/drawing/2014/main" id="{497F5326-FA31-497B-814A-5FC3107EE1BE}"/>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5 minutes • backup evidence follows</a:t>
            </a:r>
          </a:p>
        </p:txBody>
      </p:sp>
      <p:sp>
        <p:nvSpPr>
          <p:cNvPr id="3" name="">
            <a:extLst xmlns:a="http://schemas.openxmlformats.org/drawingml/2006/main">
              <a:ext uri="{FF2B5EF4-FFF2-40B4-BE49-F238E27FC236}">
                <a16:creationId xmlns:a16="http://schemas.microsoft.com/office/drawing/2014/main" id="{1C8AC295-095F-4DD7-A410-AD4E5DFDFA20}"/>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11AD49E8-C947-40D0-A583-45B2C6DC13C0}"/>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92101E0E-A326-4A8C-8EFF-DA3D318F2701}"/>
              </a:ext>
            </a:extLst>
          </p:cNvPr>
          <p:cNvGraphicFramePr/>
          <p:nvPr/>
        </p:nvGraphicFramePr>
        <p:xfrm>
          <a:off xmlns:a="http://schemas.openxmlformats.org/drawingml/2006/main" x="609600" y="1809750"/>
          <a:ext xmlns:a="http://schemas.openxmlformats.org/drawingml/2006/main" cx="10972800" cy="3352800"/>
        </p:xfrm>
        <a:graphic xmlns:a="http://schemas.openxmlformats.org/drawingml/2006/main">
          <a:graphicData uri="http://schemas.openxmlformats.org/drawingml/2006/table">
            <a:tbl>
              <a:tblPr/>
              <a:tblGrid>
                <a:gridCol w="3333750"/>
                <a:gridCol w="7639050"/>
              </a:tblGrid>
              <a:tr h="670560">
                <a:tc>
                  <a:txBody>
                    <a:bodyPr/>
                    <a:lstStyle/>
                    <a:p>
                      <a:r>
                        <a:rPr sz="1875" b="1">
                          <a:solidFill>
                            <a:srgbClr val="FFFFFF"/>
                          </a:solidFill>
                          <a:latin typeface="Arial"/>
                          <a:ea typeface="Arial"/>
                          <a:cs typeface="Arial"/>
                        </a:rPr>
                        <a:t>Likely question</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75" b="1">
                          <a:solidFill>
                            <a:srgbClr val="FFFFFF"/>
                          </a:solidFill>
                          <a:latin typeface="Arial"/>
                          <a:ea typeface="Arial"/>
                          <a:cs typeface="Arial"/>
                        </a:rPr>
                        <a:t>Evidence-based answer</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670560">
                <a:tc>
                  <a:txBody>
                    <a:bodyPr/>
                    <a:lstStyle/>
                    <a:p>
                      <a:r>
                        <a:rPr sz="1875" b="0">
                          <a:solidFill>
                            <a:srgbClr val="263547"/>
                          </a:solidFill>
                          <a:latin typeface="Arial"/>
                          <a:ea typeface="Arial"/>
                          <a:cs typeface="Arial"/>
                        </a:rPr>
                        <a:t>Why no improvement?</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875" b="0">
                          <a:solidFill>
                            <a:srgbClr val="263547"/>
                          </a:solidFill>
                          <a:latin typeface="Arial"/>
                          <a:ea typeface="Arial"/>
                          <a:cs typeface="Arial"/>
                        </a:rPr>
                        <a:t>Common output-structure / compilation failures; very small task set.</a:t>
                      </a:r>
                    </a:p>
                  </a:txBody>
                  <a:tcPr marL="91440" marR="91440" marT="45720" marB="45720">
                    <a:lnR w="6668">
                      <a:solidFill>
                        <a:srgbClr val="DCE4EB"/>
                      </a:solidFill>
                      <a:prstDash val="solid"/>
                    </a:lnR>
                    <a:lnB w="6668">
                      <a:solidFill>
                        <a:srgbClr val="DCE4EB"/>
                      </a:solidFill>
                      <a:prstDash val="solid"/>
                    </a:lnB>
                    <a:solidFill>
                      <a:srgbClr val="EFF3F7"/>
                    </a:solidFill>
                  </a:tcPr>
                </a:tc>
              </a:tr>
              <a:tr h="670560">
                <a:tc>
                  <a:txBody>
                    <a:bodyPr/>
                    <a:lstStyle/>
                    <a:p>
                      <a:r>
                        <a:rPr sz="1875" b="0">
                          <a:solidFill>
                            <a:srgbClr val="263547"/>
                          </a:solidFill>
                          <a:latin typeface="Arial"/>
                          <a:ea typeface="Arial"/>
                          <a:cs typeface="Arial"/>
                        </a:rPr>
                        <a:t>Why were two tasks rerun?</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875" b="0">
                          <a:solidFill>
                            <a:srgbClr val="263547"/>
                          </a:solidFill>
                          <a:latin typeface="Arial"/>
                          <a:ea typeface="Arial"/>
                          <a:cs typeface="Arial"/>
                        </a:rPr>
                        <a:t>Only missing rewards; one supplementary attempt each, separately reported.</a:t>
                      </a:r>
                    </a:p>
                  </a:txBody>
                  <a:tcPr marL="91440" marR="91440" marT="45720" marB="45720">
                    <a:lnR w="6668">
                      <a:solidFill>
                        <a:srgbClr val="DCE4EB"/>
                      </a:solidFill>
                      <a:prstDash val="solid"/>
                    </a:lnR>
                    <a:lnB w="6668">
                      <a:solidFill>
                        <a:srgbClr val="DCE4EB"/>
                      </a:solidFill>
                      <a:prstDash val="solid"/>
                    </a:lnB>
                    <a:solidFill>
                      <a:srgbClr val="FFFFFF"/>
                    </a:solidFill>
                  </a:tcPr>
                </a:tc>
              </a:tr>
              <a:tr h="670560">
                <a:tc>
                  <a:txBody>
                    <a:bodyPr/>
                    <a:lstStyle/>
                    <a:p>
                      <a:r>
                        <a:rPr sz="1875" b="0">
                          <a:solidFill>
                            <a:srgbClr val="263547"/>
                          </a:solidFill>
                          <a:latin typeface="Arial"/>
                          <a:ea typeface="Arial"/>
                          <a:cs typeface="Arial"/>
                        </a:rPr>
                        <a:t>Why not claim parameter importance?</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875" b="0">
                          <a:solidFill>
                            <a:srgbClr val="263547"/>
                          </a:solidFill>
                          <a:latin typeface="Arial"/>
                          <a:ea typeface="Arial"/>
                          <a:cs typeface="Arial"/>
                        </a:rPr>
                        <a:t>Six observational contrasts, unequal repeats and confounding.</a:t>
                      </a:r>
                    </a:p>
                  </a:txBody>
                  <a:tcPr marL="91440" marR="91440" marT="45720" marB="45720">
                    <a:lnR w="6668">
                      <a:solidFill>
                        <a:srgbClr val="DCE4EB"/>
                      </a:solidFill>
                      <a:prstDash val="solid"/>
                    </a:lnR>
                    <a:lnB w="6668">
                      <a:solidFill>
                        <a:srgbClr val="DCE4EB"/>
                      </a:solidFill>
                      <a:prstDash val="solid"/>
                    </a:lnB>
                    <a:solidFill>
                      <a:srgbClr val="EFF3F7"/>
                    </a:solidFill>
                  </a:tcPr>
                </a:tc>
              </a:tr>
              <a:tr h="670560">
                <a:tc>
                  <a:txBody>
                    <a:bodyPr/>
                    <a:lstStyle/>
                    <a:p>
                      <a:r>
                        <a:rPr sz="1875" b="0">
                          <a:solidFill>
                            <a:srgbClr val="263547"/>
                          </a:solidFill>
                          <a:latin typeface="Arial"/>
                          <a:ea typeface="Arial"/>
                          <a:cs typeface="Arial"/>
                        </a:rPr>
                        <a:t>What would improve the study?</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875" b="0">
                          <a:solidFill>
                            <a:srgbClr val="263547"/>
                          </a:solidFill>
                          <a:latin typeface="Arial"/>
                          <a:ea typeface="Arial"/>
                          <a:cs typeface="Arial"/>
                        </a:rPr>
                        <a:t>Informative screening task; prospective retry policy; balanced replication.</a:t>
                      </a:r>
                    </a:p>
                  </a:txBody>
                  <a:tcPr marL="91440" marR="91440" marT="45720" marB="45720">
                    <a:lnR w="6668">
                      <a:solidFill>
                        <a:srgbClr val="DCE4EB"/>
                      </a:solidFill>
                      <a:prstDash val="solid"/>
                    </a:lnR>
                    <a:lnB w="6668">
                      <a:solidFill>
                        <a:srgbClr val="DCE4EB"/>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B961F72-4073-49A7-9C28-7764F5DD4FAD}"/>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Backup slides: candidate history, complete sensitivity table and protocol/evidence details.</a:t>
            </a:r>
          </a:p>
        </p:txBody>
      </p:sp>
    </p:spTree>
    <p:extLst>
      <p:ext uri="{BB962C8B-B14F-4D97-AF65-F5344CB8AC3E}">
        <p14:creationId xmlns:p14="http://schemas.microsoft.com/office/powerpoint/2010/main" val="1525528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76F714-9AD2-4961-BC44-66A38F87C9FF}"/>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Backup: candidate history and final selection</a:t>
            </a:r>
          </a:p>
        </p:txBody>
      </p:sp>
      <p:sp>
        <p:nvSpPr>
          <p:cNvPr id="2" name="">
            <a:extLst xmlns:a="http://schemas.openxmlformats.org/drawingml/2006/main">
              <a:ext uri="{FF2B5EF4-FFF2-40B4-BE49-F238E27FC236}">
                <a16:creationId xmlns:a16="http://schemas.microsoft.com/office/drawing/2014/main" id="{03005583-AE31-4DD1-AC71-C05AB7F3581C}"/>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Candidate IDs are zero-based; only complete three-task candidates are eligible</a:t>
            </a:r>
          </a:p>
        </p:txBody>
      </p:sp>
      <p:sp>
        <p:nvSpPr>
          <p:cNvPr id="3" name="">
            <a:extLst xmlns:a="http://schemas.openxmlformats.org/drawingml/2006/main">
              <a:ext uri="{FF2B5EF4-FFF2-40B4-BE49-F238E27FC236}">
                <a16:creationId xmlns:a16="http://schemas.microsoft.com/office/drawing/2014/main" id="{ECC806E1-7094-4E52-A6EB-AC4AC8F4B8EA}"/>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44C22198-FA1E-4DF9-8ABD-9EF6851EA769}"/>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BE4DD8B4-D530-4816-9C52-4EBCBF847036}"/>
              </a:ext>
            </a:extLst>
          </p:cNvPr>
          <p:cNvGraphicFramePr/>
          <p:nvPr/>
        </p:nvGraphicFramePr>
        <p:xfrm>
          <a:off xmlns:a="http://schemas.openxmlformats.org/drawingml/2006/main" x="609600" y="1752600"/>
          <a:ext xmlns:a="http://schemas.openxmlformats.org/drawingml/2006/main" cx="10972800" cy="4095750"/>
        </p:xfrm>
        <a:graphic xmlns:a="http://schemas.openxmlformats.org/drawingml/2006/main">
          <a:graphicData uri="http://schemas.openxmlformats.org/drawingml/2006/table">
            <a:tbl>
              <a:tblPr/>
              <a:tblGrid>
                <a:gridCol w="1857375"/>
                <a:gridCol w="666750"/>
                <a:gridCol w="2476500"/>
                <a:gridCol w="1714500"/>
                <a:gridCol w="1238250"/>
                <a:gridCol w="1285875"/>
                <a:gridCol w="1733550"/>
              </a:tblGrid>
              <a:tr h="341313">
                <a:tc>
                  <a:txBody>
                    <a:bodyPr/>
                    <a:lstStyle/>
                    <a:p>
                      <a:r>
                        <a:rPr sz="1500" b="1">
                          <a:solidFill>
                            <a:srgbClr val="FFFFFF"/>
                          </a:solidFill>
                          <a:latin typeface="Arial"/>
                          <a:ea typeface="Arial"/>
                          <a:cs typeface="Arial"/>
                        </a:rPr>
                        <a:t>Method</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500" b="1">
                          <a:solidFill>
                            <a:srgbClr val="FFFFFF"/>
                          </a:solidFill>
                          <a:latin typeface="Arial"/>
                          <a:ea typeface="Arial"/>
                          <a:cs typeface="Arial"/>
                        </a:rPr>
                        <a:t>ID</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500" b="1">
                          <a:solidFill>
                            <a:srgbClr val="FFFFFF"/>
                          </a:solidFill>
                          <a:latin typeface="Arial"/>
                          <a:ea typeface="Arial"/>
                          <a:cs typeface="Arial"/>
                        </a:rPr>
                        <a:t>Context / tokens</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500" b="1">
                          <a:solidFill>
                            <a:srgbClr val="FFFFFF"/>
                          </a:solidFill>
                          <a:latin typeface="Arial"/>
                          <a:ea typeface="Arial"/>
                          <a:cs typeface="Arial"/>
                        </a:rPr>
                        <a:t>Pass / scored</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500" b="1">
                          <a:solidFill>
                            <a:srgbClr val="FFFFFF"/>
                          </a:solidFill>
                          <a:latin typeface="Arial"/>
                          <a:ea typeface="Arial"/>
                          <a:cs typeface="Arial"/>
                        </a:rPr>
                        <a:t>Missing</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500" b="1">
                          <a:solidFill>
                            <a:srgbClr val="FFFFFF"/>
                          </a:solidFill>
                          <a:latin typeface="Arial"/>
                          <a:ea typeface="Arial"/>
                          <a:cs typeface="Arial"/>
                        </a:rPr>
                        <a:t>Eligible</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500" b="1">
                          <a:solidFill>
                            <a:srgbClr val="FFFFFF"/>
                          </a:solidFill>
                          <a:latin typeface="Arial"/>
                          <a:ea typeface="Arial"/>
                          <a:cs typeface="Arial"/>
                        </a:rPr>
                        <a:t>Decision</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341313">
                <a:tc>
                  <a:txBody>
                    <a:bodyPr/>
                    <a:lstStyle/>
                    <a:p>
                      <a:r>
                        <a:rPr sz="1500" b="0">
                          <a:solidFill>
                            <a:srgbClr val="263547"/>
                          </a:solidFill>
                          <a:latin typeface="Arial"/>
                          <a:ea typeface="Arial"/>
                          <a:cs typeface="Arial"/>
                        </a:rPr>
                        <a:t>random</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64000 / 16384</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0/3</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Yes</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Selected</a:t>
                      </a:r>
                    </a:p>
                  </a:txBody>
                  <a:tcPr marL="91440" marR="91440" marT="45720" marB="45720">
                    <a:lnR w="6668">
                      <a:solidFill>
                        <a:srgbClr val="DCE4EB"/>
                      </a:solidFill>
                      <a:prstDash val="solid"/>
                    </a:lnR>
                    <a:lnB w="6668">
                      <a:solidFill>
                        <a:srgbClr val="DCE4EB"/>
                      </a:solidFill>
                      <a:prstDash val="solid"/>
                    </a:lnB>
                    <a:solidFill>
                      <a:srgbClr val="EFF3F7"/>
                    </a:solidFill>
                  </a:tcPr>
                </a:tc>
              </a:tr>
              <a:tr h="341313">
                <a:tc>
                  <a:txBody>
                    <a:bodyPr/>
                    <a:lstStyle/>
                    <a:p>
                      <a:r>
                        <a:rPr sz="1500" b="0">
                          <a:solidFill>
                            <a:srgbClr val="263547"/>
                          </a:solidFill>
                          <a:latin typeface="Arial"/>
                          <a:ea typeface="Arial"/>
                          <a:cs typeface="Arial"/>
                        </a:rPr>
                        <a:t>random</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1</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96000 / 4096</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0/3</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Yes</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a:t>
                      </a:r>
                    </a:p>
                  </a:txBody>
                  <a:tcPr marL="91440" marR="91440" marT="45720" marB="45720">
                    <a:lnR w="6668">
                      <a:solidFill>
                        <a:srgbClr val="DCE4EB"/>
                      </a:solidFill>
                      <a:prstDash val="solid"/>
                    </a:lnR>
                    <a:lnB w="6668">
                      <a:solidFill>
                        <a:srgbClr val="DCE4EB"/>
                      </a:solidFill>
                      <a:prstDash val="solid"/>
                    </a:lnB>
                    <a:solidFill>
                      <a:srgbClr val="FFFFFF"/>
                    </a:solidFill>
                  </a:tcPr>
                </a:tc>
              </a:tr>
              <a:tr h="341313">
                <a:tc>
                  <a:txBody>
                    <a:bodyPr/>
                    <a:lstStyle/>
                    <a:p>
                      <a:r>
                        <a:rPr sz="1500" b="0">
                          <a:solidFill>
                            <a:srgbClr val="263547"/>
                          </a:solidFill>
                          <a:latin typeface="Arial"/>
                          <a:ea typeface="Arial"/>
                          <a:cs typeface="Arial"/>
                        </a:rPr>
                        <a:t>random</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2</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128000 / 4096</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1/2</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1</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No</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a:t>
                      </a:r>
                    </a:p>
                  </a:txBody>
                  <a:tcPr marL="91440" marR="91440" marT="45720" marB="45720">
                    <a:lnR w="6668">
                      <a:solidFill>
                        <a:srgbClr val="DCE4EB"/>
                      </a:solidFill>
                      <a:prstDash val="solid"/>
                    </a:lnR>
                    <a:lnB w="6668">
                      <a:solidFill>
                        <a:srgbClr val="DCE4EB"/>
                      </a:solidFill>
                      <a:prstDash val="solid"/>
                    </a:lnB>
                    <a:solidFill>
                      <a:srgbClr val="EFF3F7"/>
                    </a:solidFill>
                  </a:tcPr>
                </a:tc>
              </a:tr>
              <a:tr h="341313">
                <a:tc>
                  <a:txBody>
                    <a:bodyPr/>
                    <a:lstStyle/>
                    <a:p>
                      <a:r>
                        <a:rPr sz="1500" b="0">
                          <a:solidFill>
                            <a:srgbClr val="263547"/>
                          </a:solidFill>
                          <a:latin typeface="Arial"/>
                          <a:ea typeface="Arial"/>
                          <a:cs typeface="Arial"/>
                        </a:rPr>
                        <a:t>bayesian</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128000 / 4096</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0/3</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Yes</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a:t>
                      </a:r>
                    </a:p>
                  </a:txBody>
                  <a:tcPr marL="91440" marR="91440" marT="45720" marB="45720">
                    <a:lnR w="6668">
                      <a:solidFill>
                        <a:srgbClr val="DCE4EB"/>
                      </a:solidFill>
                      <a:prstDash val="solid"/>
                    </a:lnR>
                    <a:lnB w="6668">
                      <a:solidFill>
                        <a:srgbClr val="DCE4EB"/>
                      </a:solidFill>
                      <a:prstDash val="solid"/>
                    </a:lnB>
                    <a:solidFill>
                      <a:srgbClr val="FFFFFF"/>
                    </a:solidFill>
                  </a:tcPr>
                </a:tc>
              </a:tr>
              <a:tr h="341313">
                <a:tc>
                  <a:txBody>
                    <a:bodyPr/>
                    <a:lstStyle/>
                    <a:p>
                      <a:r>
                        <a:rPr sz="1500" b="0">
                          <a:solidFill>
                            <a:srgbClr val="263547"/>
                          </a:solidFill>
                          <a:latin typeface="Arial"/>
                          <a:ea typeface="Arial"/>
                          <a:cs typeface="Arial"/>
                        </a:rPr>
                        <a:t>bayesian</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1</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128000 / 4096</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1/3</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Yes</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Selected</a:t>
                      </a:r>
                    </a:p>
                  </a:txBody>
                  <a:tcPr marL="91440" marR="91440" marT="45720" marB="45720">
                    <a:lnR w="6668">
                      <a:solidFill>
                        <a:srgbClr val="DCE4EB"/>
                      </a:solidFill>
                      <a:prstDash val="solid"/>
                    </a:lnR>
                    <a:lnB w="6668">
                      <a:solidFill>
                        <a:srgbClr val="DCE4EB"/>
                      </a:solidFill>
                      <a:prstDash val="solid"/>
                    </a:lnB>
                    <a:solidFill>
                      <a:srgbClr val="EFF3F7"/>
                    </a:solidFill>
                  </a:tcPr>
                </a:tc>
              </a:tr>
              <a:tr h="341313">
                <a:tc>
                  <a:txBody>
                    <a:bodyPr/>
                    <a:lstStyle/>
                    <a:p>
                      <a:r>
                        <a:rPr sz="1500" b="0">
                          <a:solidFill>
                            <a:srgbClr val="263547"/>
                          </a:solidFill>
                          <a:latin typeface="Arial"/>
                          <a:ea typeface="Arial"/>
                          <a:cs typeface="Arial"/>
                        </a:rPr>
                        <a:t>bayesian</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2</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128000 / 4096</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0/3</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Yes</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a:t>
                      </a:r>
                    </a:p>
                  </a:txBody>
                  <a:tcPr marL="91440" marR="91440" marT="45720" marB="45720">
                    <a:lnR w="6668">
                      <a:solidFill>
                        <a:srgbClr val="DCE4EB"/>
                      </a:solidFill>
                      <a:prstDash val="solid"/>
                    </a:lnR>
                    <a:lnB w="6668">
                      <a:solidFill>
                        <a:srgbClr val="DCE4EB"/>
                      </a:solidFill>
                      <a:prstDash val="solid"/>
                    </a:lnB>
                    <a:solidFill>
                      <a:srgbClr val="FFFFFF"/>
                    </a:solidFill>
                  </a:tcPr>
                </a:tc>
              </a:tr>
              <a:tr h="341313">
                <a:tc>
                  <a:txBody>
                    <a:bodyPr/>
                    <a:lstStyle/>
                    <a:p>
                      <a:r>
                        <a:rPr sz="1500" b="0">
                          <a:solidFill>
                            <a:srgbClr val="263547"/>
                          </a:solidFill>
                          <a:latin typeface="Arial"/>
                          <a:ea typeface="Arial"/>
                          <a:cs typeface="Arial"/>
                        </a:rPr>
                        <a:t>Multi-fidelity</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64000 / 16384</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0/3</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Yes</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Selected</a:t>
                      </a:r>
                    </a:p>
                  </a:txBody>
                  <a:tcPr marL="91440" marR="91440" marT="45720" marB="45720">
                    <a:lnR w="6668">
                      <a:solidFill>
                        <a:srgbClr val="DCE4EB"/>
                      </a:solidFill>
                      <a:prstDash val="solid"/>
                    </a:lnR>
                    <a:lnB w="6668">
                      <a:solidFill>
                        <a:srgbClr val="DCE4EB"/>
                      </a:solidFill>
                      <a:prstDash val="solid"/>
                    </a:lnB>
                    <a:solidFill>
                      <a:srgbClr val="EFF3F7"/>
                    </a:solidFill>
                  </a:tcPr>
                </a:tc>
              </a:tr>
              <a:tr h="341313">
                <a:tc>
                  <a:txBody>
                    <a:bodyPr/>
                    <a:lstStyle/>
                    <a:p>
                      <a:r>
                        <a:rPr sz="1500" b="0">
                          <a:solidFill>
                            <a:srgbClr val="263547"/>
                          </a:solidFill>
                          <a:latin typeface="Arial"/>
                          <a:ea typeface="Arial"/>
                          <a:cs typeface="Arial"/>
                        </a:rPr>
                        <a:t>Multi-fidelity</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1</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96000 / 4096</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0/2</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1</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No</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a:t>
                      </a:r>
                    </a:p>
                  </a:txBody>
                  <a:tcPr marL="91440" marR="91440" marT="45720" marB="45720">
                    <a:lnR w="6668">
                      <a:solidFill>
                        <a:srgbClr val="DCE4EB"/>
                      </a:solidFill>
                      <a:prstDash val="solid"/>
                    </a:lnR>
                    <a:lnB w="6668">
                      <a:solidFill>
                        <a:srgbClr val="DCE4EB"/>
                      </a:solidFill>
                      <a:prstDash val="solid"/>
                    </a:lnB>
                    <a:solidFill>
                      <a:srgbClr val="FFFFFF"/>
                    </a:solidFill>
                  </a:tcPr>
                </a:tc>
              </a:tr>
              <a:tr h="341313">
                <a:tc>
                  <a:txBody>
                    <a:bodyPr/>
                    <a:lstStyle/>
                    <a:p>
                      <a:r>
                        <a:rPr sz="1500" b="0">
                          <a:solidFill>
                            <a:srgbClr val="263547"/>
                          </a:solidFill>
                          <a:latin typeface="Arial"/>
                          <a:ea typeface="Arial"/>
                          <a:cs typeface="Arial"/>
                        </a:rPr>
                        <a:t>Multi-fidelity</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2</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128000 / 4096</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0/1</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No</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a:t>
                      </a:r>
                    </a:p>
                  </a:txBody>
                  <a:tcPr marL="91440" marR="91440" marT="45720" marB="45720">
                    <a:lnR w="6668">
                      <a:solidFill>
                        <a:srgbClr val="DCE4EB"/>
                      </a:solidFill>
                      <a:prstDash val="solid"/>
                    </a:lnR>
                    <a:lnB w="6668">
                      <a:solidFill>
                        <a:srgbClr val="DCE4EB"/>
                      </a:solidFill>
                      <a:prstDash val="solid"/>
                    </a:lnB>
                    <a:solidFill>
                      <a:srgbClr val="EFF3F7"/>
                    </a:solidFill>
                  </a:tcPr>
                </a:tc>
              </a:tr>
              <a:tr h="341313">
                <a:tc>
                  <a:txBody>
                    <a:bodyPr/>
                    <a:lstStyle/>
                    <a:p>
                      <a:r>
                        <a:rPr sz="1500" b="0">
                          <a:solidFill>
                            <a:srgbClr val="263547"/>
                          </a:solidFill>
                          <a:latin typeface="Arial"/>
                          <a:ea typeface="Arial"/>
                          <a:cs typeface="Arial"/>
                        </a:rPr>
                        <a:t>Multi-fidelity</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3</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128000 / 8192</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0/1</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No</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500" b="0">
                          <a:solidFill>
                            <a:srgbClr val="263547"/>
                          </a:solidFill>
                          <a:latin typeface="Arial"/>
                          <a:ea typeface="Arial"/>
                          <a:cs typeface="Arial"/>
                        </a:rPr>
                        <a:t>—</a:t>
                      </a:r>
                    </a:p>
                  </a:txBody>
                  <a:tcPr marL="91440" marR="91440" marT="45720" marB="45720">
                    <a:lnR w="6668">
                      <a:solidFill>
                        <a:srgbClr val="DCE4EB"/>
                      </a:solidFill>
                      <a:prstDash val="solid"/>
                    </a:lnR>
                    <a:lnB w="6668">
                      <a:solidFill>
                        <a:srgbClr val="DCE4EB"/>
                      </a:solidFill>
                      <a:prstDash val="solid"/>
                    </a:lnB>
                    <a:solidFill>
                      <a:srgbClr val="FFFFFF"/>
                    </a:solidFill>
                  </a:tcPr>
                </a:tc>
              </a:tr>
              <a:tr h="341313">
                <a:tc>
                  <a:txBody>
                    <a:bodyPr/>
                    <a:lstStyle/>
                    <a:p>
                      <a:r>
                        <a:rPr sz="1500" b="0">
                          <a:solidFill>
                            <a:srgbClr val="263547"/>
                          </a:solidFill>
                          <a:latin typeface="Arial"/>
                          <a:ea typeface="Arial"/>
                          <a:cs typeface="Arial"/>
                        </a:rPr>
                        <a:t>Multi-fidelity</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4</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64000 / 8192</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0/1</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No</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500" b="0">
                          <a:solidFill>
                            <a:srgbClr val="263547"/>
                          </a:solidFill>
                          <a:latin typeface="Arial"/>
                          <a:ea typeface="Arial"/>
                          <a:cs typeface="Arial"/>
                        </a:rPr>
                        <a:t>—</a:t>
                      </a:r>
                    </a:p>
                  </a:txBody>
                  <a:tcPr marL="91440" marR="91440" marT="45720" marB="45720">
                    <a:lnR w="6668">
                      <a:solidFill>
                        <a:srgbClr val="DCE4EB"/>
                      </a:solidFill>
                      <a:prstDash val="solid"/>
                    </a:lnR>
                    <a:lnB w="6668">
                      <a:solidFill>
                        <a:srgbClr val="DCE4EB"/>
                      </a:solidFill>
                      <a:prstDash val="solid"/>
                    </a:lnB>
                    <a:solidFill>
                      <a:srgbClr val="EFF3F7"/>
                    </a:solidFill>
                  </a:tcPr>
                </a:tc>
              </a:tr>
            </a:tbl>
          </a:graphicData>
        </a:graphic>
      </p:graphicFrame>
      <p:sp>
        <p:nvSpPr>
          <p:cNvPr id="6" name="">
            <a:extLst xmlns:a="http://schemas.openxmlformats.org/drawingml/2006/main">
              <a:ext uri="{FF2B5EF4-FFF2-40B4-BE49-F238E27FC236}">
                <a16:creationId xmlns:a16="http://schemas.microsoft.com/office/drawing/2014/main" id="{7FD9EF66-99E7-4403-882D-00164E9F22FE}"/>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TPE repeated one setting; these are stochastic repeats, not distinct parameter points.</a:t>
            </a:r>
          </a:p>
        </p:txBody>
      </p:sp>
    </p:spTree>
    <p:extLst>
      <p:ext uri="{BB962C8B-B14F-4D97-AF65-F5344CB8AC3E}">
        <p14:creationId xmlns:p14="http://schemas.microsoft.com/office/powerpoint/2010/main" val="49118972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73E95D-C3AC-4A3E-9908-A57894CB6BD2}"/>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Backup: all six matched-parameter contrasts</a:t>
            </a:r>
          </a:p>
        </p:txBody>
      </p:sp>
      <p:sp>
        <p:nvSpPr>
          <p:cNvPr id="2" name="">
            <a:extLst xmlns:a="http://schemas.openxmlformats.org/drawingml/2006/main">
              <a:ext uri="{FF2B5EF4-FFF2-40B4-BE49-F238E27FC236}">
                <a16:creationId xmlns:a16="http://schemas.microsoft.com/office/drawing/2014/main" id="{B3605975-0B5C-4701-A5D2-54874619BDD2}"/>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Delta = higher parameter value minus lower value; n counts valid observations</a:t>
            </a:r>
          </a:p>
        </p:txBody>
      </p:sp>
      <p:sp>
        <p:nvSpPr>
          <p:cNvPr id="3" name="">
            <a:extLst xmlns:a="http://schemas.openxmlformats.org/drawingml/2006/main">
              <a:ext uri="{FF2B5EF4-FFF2-40B4-BE49-F238E27FC236}">
                <a16:creationId xmlns:a16="http://schemas.microsoft.com/office/drawing/2014/main" id="{815AB7FB-8A64-424C-AFC7-A641E96A91DC}"/>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2B67C706-1932-4A5C-8EA7-BB388452606A}"/>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17</a:t>
            </a:r>
          </a:p>
        </p:txBody>
      </p:sp>
      <p:graphicFrame>
        <p:nvGraphicFramePr>
          <p:cNvPr id="5" name="">
            <a:extLst xmlns:a="http://schemas.openxmlformats.org/drawingml/2006/main">
              <a:ext uri="{FF2B5EF4-FFF2-40B4-BE49-F238E27FC236}">
                <a16:creationId xmlns:a16="http://schemas.microsoft.com/office/drawing/2014/main" id="{2990A5E7-8EA1-4AD5-8522-565DDB49271C}"/>
              </a:ext>
            </a:extLst>
          </p:cNvPr>
          <p:cNvGraphicFramePr/>
          <p:nvPr/>
        </p:nvGraphicFramePr>
        <p:xfrm>
          <a:off xmlns:a="http://schemas.openxmlformats.org/drawingml/2006/main" x="609600" y="1743075"/>
          <a:ext xmlns:a="http://schemas.openxmlformats.org/drawingml/2006/main" cx="10972800" cy="3457575"/>
        </p:xfrm>
        <a:graphic xmlns:a="http://schemas.openxmlformats.org/drawingml/2006/main">
          <a:graphicData uri="http://schemas.openxmlformats.org/drawingml/2006/table">
            <a:tbl>
              <a:tblPr/>
              <a:tblGrid>
                <a:gridCol w="1476375"/>
                <a:gridCol w="1428750"/>
                <a:gridCol w="1524000"/>
                <a:gridCol w="2190750"/>
                <a:gridCol w="1000125"/>
                <a:gridCol w="1571625"/>
                <a:gridCol w="1781175"/>
              </a:tblGrid>
              <a:tr h="493939">
                <a:tc>
                  <a:txBody>
                    <a:bodyPr/>
                    <a:lstStyle/>
                    <a:p>
                      <a:r>
                        <a:rPr sz="1650" b="1">
                          <a:solidFill>
                            <a:srgbClr val="FFFFFF"/>
                          </a:solidFill>
                          <a:latin typeface="Arial"/>
                          <a:ea typeface="Arial"/>
                          <a:cs typeface="Arial"/>
                        </a:rPr>
                        <a:t>Task</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650" b="1">
                          <a:solidFill>
                            <a:srgbClr val="FFFFFF"/>
                          </a:solidFill>
                          <a:latin typeface="Arial"/>
                          <a:ea typeface="Arial"/>
                          <a:cs typeface="Arial"/>
                        </a:rPr>
                        <a:t>Changed</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650" b="1">
                          <a:solidFill>
                            <a:srgbClr val="FFFFFF"/>
                          </a:solidFill>
                          <a:latin typeface="Arial"/>
                          <a:ea typeface="Arial"/>
                          <a:cs typeface="Arial"/>
                        </a:rPr>
                        <a:t>Other fixed</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650" b="1">
                          <a:solidFill>
                            <a:srgbClr val="FFFFFF"/>
                          </a:solidFill>
                          <a:latin typeface="Arial"/>
                          <a:ea typeface="Arial"/>
                          <a:cs typeface="Arial"/>
                        </a:rPr>
                        <a:t>Low → high</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650" b="1">
                          <a:solidFill>
                            <a:srgbClr val="FFFFFF"/>
                          </a:solidFill>
                          <a:latin typeface="Arial"/>
                          <a:ea typeface="Arial"/>
                          <a:cs typeface="Arial"/>
                        </a:rPr>
                        <a:t>n</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650" b="1">
                          <a:solidFill>
                            <a:srgbClr val="FFFFFF"/>
                          </a:solidFill>
                          <a:latin typeface="Arial"/>
                          <a:ea typeface="Arial"/>
                          <a:cs typeface="Arial"/>
                        </a:rPr>
                        <a:t>Success Δ</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650" b="1">
                          <a:solidFill>
                            <a:srgbClr val="FFFFFF"/>
                          </a:solidFill>
                          <a:latin typeface="Arial"/>
                          <a:ea typeface="Arial"/>
                          <a:cs typeface="Arial"/>
                        </a:rPr>
                        <a:t>USD Δ</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493939">
                <a:tc>
                  <a:txBody>
                    <a:bodyPr/>
                    <a:lstStyle/>
                    <a:p>
                      <a:r>
                        <a:rPr sz="1650" b="0">
                          <a:solidFill>
                            <a:srgbClr val="263547"/>
                          </a:solidFill>
                          <a:latin typeface="Arial"/>
                          <a:ea typeface="Arial"/>
                          <a:cs typeface="Arial"/>
                        </a:rPr>
                        <a:t>Financial</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maxTokens</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64000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8192 → 16384</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1/2</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0.0 pp</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+0.00120</a:t>
                      </a:r>
                    </a:p>
                  </a:txBody>
                  <a:tcPr marL="91440" marR="91440" marT="45720" marB="45720">
                    <a:lnR w="6668">
                      <a:solidFill>
                        <a:srgbClr val="DCE4EB"/>
                      </a:solidFill>
                      <a:prstDash val="solid"/>
                    </a:lnR>
                    <a:lnB w="6668">
                      <a:solidFill>
                        <a:srgbClr val="DCE4EB"/>
                      </a:solidFill>
                      <a:prstDash val="solid"/>
                    </a:lnB>
                    <a:solidFill>
                      <a:srgbClr val="EFF3F7"/>
                    </a:solidFill>
                  </a:tcPr>
                </a:tc>
              </a:tr>
              <a:tr h="493939">
                <a:tc>
                  <a:txBody>
                    <a:bodyPr/>
                    <a:lstStyle/>
                    <a:p>
                      <a:r>
                        <a:rPr sz="1650" b="0">
                          <a:solidFill>
                            <a:srgbClr val="263547"/>
                          </a:solidFill>
                          <a:latin typeface="Arial"/>
                          <a:ea typeface="Arial"/>
                          <a:cs typeface="Arial"/>
                        </a:rPr>
                        <a:t>Financial</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Context</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8192</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64000 → 128000</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1/1</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0.0 pp</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+0.12768</a:t>
                      </a:r>
                    </a:p>
                  </a:txBody>
                  <a:tcPr marL="91440" marR="91440" marT="45720" marB="45720">
                    <a:lnR w="6668">
                      <a:solidFill>
                        <a:srgbClr val="DCE4EB"/>
                      </a:solidFill>
                      <a:prstDash val="solid"/>
                    </a:lnR>
                    <a:lnB w="6668">
                      <a:solidFill>
                        <a:srgbClr val="DCE4EB"/>
                      </a:solidFill>
                      <a:prstDash val="solid"/>
                    </a:lnB>
                    <a:solidFill>
                      <a:srgbClr val="FFFFFF"/>
                    </a:solidFill>
                  </a:tcPr>
                </a:tc>
              </a:tr>
              <a:tr h="493939">
                <a:tc>
                  <a:txBody>
                    <a:bodyPr/>
                    <a:lstStyle/>
                    <a:p>
                      <a:r>
                        <a:rPr sz="1650" b="0">
                          <a:solidFill>
                            <a:srgbClr val="263547"/>
                          </a:solidFill>
                          <a:latin typeface="Arial"/>
                          <a:ea typeface="Arial"/>
                          <a:cs typeface="Arial"/>
                        </a:rPr>
                        <a:t>Financial</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Context</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4096</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96000 → 128000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2/5</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0.0 pp</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+0.00994</a:t>
                      </a:r>
                    </a:p>
                  </a:txBody>
                  <a:tcPr marL="91440" marR="91440" marT="45720" marB="45720">
                    <a:lnR w="6668">
                      <a:solidFill>
                        <a:srgbClr val="DCE4EB"/>
                      </a:solidFill>
                      <a:prstDash val="solid"/>
                    </a:lnR>
                    <a:lnB w="6668">
                      <a:solidFill>
                        <a:srgbClr val="DCE4EB"/>
                      </a:solidFill>
                      <a:prstDash val="solid"/>
                    </a:lnB>
                    <a:solidFill>
                      <a:srgbClr val="EFF3F7"/>
                    </a:solidFill>
                  </a:tcPr>
                </a:tc>
              </a:tr>
              <a:tr h="493939">
                <a:tc>
                  <a:txBody>
                    <a:bodyPr/>
                    <a:lstStyle/>
                    <a:p>
                      <a:r>
                        <a:rPr sz="1650" b="0">
                          <a:solidFill>
                            <a:srgbClr val="263547"/>
                          </a:solidFill>
                          <a:latin typeface="Arial"/>
                          <a:ea typeface="Arial"/>
                          <a:cs typeface="Arial"/>
                        </a:rPr>
                        <a:t>Financial</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maxTokens</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128000</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4096 → 8192</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5/1</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0.0 pp</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+0.14353</a:t>
                      </a:r>
                    </a:p>
                  </a:txBody>
                  <a:tcPr marL="91440" marR="91440" marT="45720" marB="45720">
                    <a:lnR w="6668">
                      <a:solidFill>
                        <a:srgbClr val="DCE4EB"/>
                      </a:solidFill>
                      <a:prstDash val="solid"/>
                    </a:lnR>
                    <a:lnB w="6668">
                      <a:solidFill>
                        <a:srgbClr val="DCE4EB"/>
                      </a:solidFill>
                      <a:prstDash val="solid"/>
                    </a:lnB>
                    <a:solidFill>
                      <a:srgbClr val="FFFFFF"/>
                    </a:solidFill>
                  </a:tcPr>
                </a:tc>
              </a:tr>
              <a:tr h="493939">
                <a:tc>
                  <a:txBody>
                    <a:bodyPr/>
                    <a:lstStyle/>
                    <a:p>
                      <a:r>
                        <a:rPr sz="1650" b="0">
                          <a:solidFill>
                            <a:srgbClr val="263547"/>
                          </a:solidFill>
                          <a:latin typeface="Arial"/>
                          <a:ea typeface="Arial"/>
                          <a:cs typeface="Arial"/>
                        </a:rPr>
                        <a:t>JAX</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Context</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4096</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96000 → 128000</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2/3</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33.3 pp</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650" b="0">
                          <a:solidFill>
                            <a:srgbClr val="263547"/>
                          </a:solidFill>
                          <a:latin typeface="Arial"/>
                          <a:ea typeface="Arial"/>
                          <a:cs typeface="Arial"/>
                        </a:rPr>
                        <a:t>+0.00123</a:t>
                      </a:r>
                    </a:p>
                  </a:txBody>
                  <a:tcPr marL="91440" marR="91440" marT="45720" marB="45720">
                    <a:lnR w="6668">
                      <a:solidFill>
                        <a:srgbClr val="DCE4EB"/>
                      </a:solidFill>
                      <a:prstDash val="solid"/>
                    </a:lnR>
                    <a:lnB w="6668">
                      <a:solidFill>
                        <a:srgbClr val="DCE4EB"/>
                      </a:solidFill>
                      <a:prstDash val="solid"/>
                    </a:lnB>
                    <a:solidFill>
                      <a:srgbClr val="EFF3F7"/>
                    </a:solidFill>
                  </a:tcPr>
                </a:tc>
              </a:tr>
              <a:tr h="493939">
                <a:tc>
                  <a:txBody>
                    <a:bodyPr/>
                    <a:lstStyle/>
                    <a:p>
                      <a:r>
                        <a:rPr sz="1650" b="0">
                          <a:solidFill>
                            <a:srgbClr val="263547"/>
                          </a:solidFill>
                          <a:latin typeface="Arial"/>
                          <a:ea typeface="Arial"/>
                          <a:cs typeface="Arial"/>
                        </a:rPr>
                        <a:t>Travel</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Context</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4096</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96000 → 128000</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1/4</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25.0 pp</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650" b="0">
                          <a:solidFill>
                            <a:srgbClr val="263547"/>
                          </a:solidFill>
                          <a:latin typeface="Arial"/>
                          <a:ea typeface="Arial"/>
                          <a:cs typeface="Arial"/>
                        </a:rPr>
                        <a:t>-0.05064</a:t>
                      </a:r>
                    </a:p>
                  </a:txBody>
                  <a:tcPr marL="91440" marR="91440" marT="45720" marB="45720">
                    <a:lnR w="6668">
                      <a:solidFill>
                        <a:srgbClr val="DCE4EB"/>
                      </a:solidFill>
                      <a:prstDash val="solid"/>
                    </a:lnR>
                    <a:lnB w="6668">
                      <a:solidFill>
                        <a:srgbClr val="DCE4EB"/>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5F2A339-B6F8-4D6F-9839-E6F2A702618D}"/>
              </a:ext>
            </a:extLst>
          </p:cNvPr>
          <p:cNvSpPr>
            <a:spLocks xmlns:a="http://schemas.openxmlformats.org/drawingml/2006/main" noGrp="1"/>
          </p:cNvSpPr>
          <p:nvPr/>
        </p:nvSpPr>
        <p:spPr>
          <a:xfrm xmlns:a="http://schemas.openxmlformats.org/drawingml/2006/main">
            <a:off x="666750" y="54768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7324D"/>
                </a:solidFill>
                <a:latin typeface="Arial"/>
                <a:ea typeface="Arial"/>
                <a:cs typeface="Arial"/>
              </a:defRPr>
            </a:defPPr>
            <a:lvl1pPr>
              <a:defRPr sz="1800" b="1">
                <a:solidFill>
                  <a:srgbClr val="17324D"/>
                </a:solidFill>
                <a:latin typeface="Arial"/>
                <a:ea typeface="Arial"/>
                <a:cs typeface="Arial"/>
              </a:defRPr>
            </a:lvl1pPr>
            <a:lvl2pPr>
              <a:defRPr sz="1800" b="1">
                <a:solidFill>
                  <a:srgbClr val="17324D"/>
                </a:solidFill>
                <a:latin typeface="Arial"/>
                <a:ea typeface="Arial"/>
                <a:cs typeface="Arial"/>
              </a:defRPr>
            </a:lvl2pPr>
            <a:lvl3pPr>
              <a:defRPr sz="1800" b="1">
                <a:solidFill>
                  <a:srgbClr val="17324D"/>
                </a:solidFill>
                <a:latin typeface="Arial"/>
                <a:ea typeface="Arial"/>
                <a:cs typeface="Arial"/>
              </a:defRPr>
            </a:lvl3pPr>
            <a:lvl4pPr>
              <a:defRPr sz="1800" b="1">
                <a:solidFill>
                  <a:srgbClr val="17324D"/>
                </a:solidFill>
                <a:latin typeface="Arial"/>
                <a:ea typeface="Arial"/>
                <a:cs typeface="Arial"/>
              </a:defRPr>
            </a:lvl4pPr>
            <a:lvl5pPr>
              <a:defRPr sz="1800" b="1">
                <a:solidFill>
                  <a:srgbClr val="17324D"/>
                </a:solidFill>
                <a:latin typeface="Arial"/>
                <a:ea typeface="Arial"/>
                <a:cs typeface="Arial"/>
              </a:defRPr>
            </a:lvl5pPr>
            <a:lvl6pPr>
              <a:defRPr sz="1800" b="1">
                <a:solidFill>
                  <a:srgbClr val="17324D"/>
                </a:solidFill>
                <a:latin typeface="Arial"/>
                <a:ea typeface="Arial"/>
                <a:cs typeface="Arial"/>
              </a:defRPr>
            </a:lvl6pPr>
            <a:lvl7pPr>
              <a:defRPr sz="1800" b="1">
                <a:solidFill>
                  <a:srgbClr val="17324D"/>
                </a:solidFill>
                <a:latin typeface="Arial"/>
                <a:ea typeface="Arial"/>
                <a:cs typeface="Arial"/>
              </a:defRPr>
            </a:lvl7pPr>
            <a:lvl8pPr>
              <a:defRPr sz="1800" b="1">
                <a:solidFill>
                  <a:srgbClr val="17324D"/>
                </a:solidFill>
                <a:latin typeface="Arial"/>
                <a:ea typeface="Arial"/>
                <a:cs typeface="Arial"/>
              </a:defRPr>
            </a:lvl8pPr>
            <a:lvl9pPr>
              <a:defRPr sz="1800" b="1">
                <a:solidFill>
                  <a:srgbClr val="17324D"/>
                </a:solidFill>
                <a:latin typeface="Arial"/>
                <a:ea typeface="Arial"/>
                <a:cs typeface="Arial"/>
              </a:defRPr>
            </a:lvl9pPr>
          </a:lstStyle>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Largest observed cost increase: maxTokens 4096 → 8192 at context 128k.</a:t>
            </a:r>
          </a:p>
        </p:txBody>
      </p:sp>
      <p:sp>
        <p:nvSpPr>
          <p:cNvPr id="7" name="">
            <a:extLst xmlns:a="http://schemas.openxmlformats.org/drawingml/2006/main">
              <a:ext uri="{FF2B5EF4-FFF2-40B4-BE49-F238E27FC236}">
                <a16:creationId xmlns:a16="http://schemas.microsoft.com/office/drawing/2014/main" id="{B569FDAE-2FF1-43F7-90C1-4BE72F794F87}"/>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One high-value observation; causal importance and interactions remain unknown.</a:t>
            </a:r>
          </a:p>
        </p:txBody>
      </p:sp>
    </p:spTree>
    <p:extLst>
      <p:ext uri="{BB962C8B-B14F-4D97-AF65-F5344CB8AC3E}">
        <p14:creationId xmlns:p14="http://schemas.microsoft.com/office/powerpoint/2010/main" val="12722666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FE809B-3218-48D8-8E2E-04221E9C61B4}"/>
              </a:ext>
            </a:extLst>
          </p:cNvPr>
          <p:cNvSpPr>
            <a:spLocks xmlns:a="http://schemas.openxmlformats.org/drawingml/2006/main" noGrp="1"/>
          </p:cNvSpPr>
          <p:nvPr/>
        </p:nvSpPr>
        <p:spPr>
          <a:xfrm xmlns:a="http://schemas.openxmlformats.org/drawingml/2006/main">
            <a:off x="571500" y="3619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24D"/>
                </a:solidFill>
                <a:latin typeface="Arial"/>
                <a:ea typeface="Arial"/>
                <a:cs typeface="Arial"/>
              </a:defRPr>
            </a:defPPr>
            <a:lvl1pPr>
              <a:defRPr sz="3150" b="1">
                <a:solidFill>
                  <a:srgbClr val="17324D"/>
                </a:solidFill>
                <a:latin typeface="Arial"/>
                <a:ea typeface="Arial"/>
                <a:cs typeface="Arial"/>
              </a:defRPr>
            </a:lvl1pPr>
            <a:lvl2pPr>
              <a:defRPr sz="3150" b="1">
                <a:solidFill>
                  <a:srgbClr val="17324D"/>
                </a:solidFill>
                <a:latin typeface="Arial"/>
                <a:ea typeface="Arial"/>
                <a:cs typeface="Arial"/>
              </a:defRPr>
            </a:lvl2pPr>
            <a:lvl3pPr>
              <a:defRPr sz="3150" b="1">
                <a:solidFill>
                  <a:srgbClr val="17324D"/>
                </a:solidFill>
                <a:latin typeface="Arial"/>
                <a:ea typeface="Arial"/>
                <a:cs typeface="Arial"/>
              </a:defRPr>
            </a:lvl3pPr>
            <a:lvl4pPr>
              <a:defRPr sz="3150" b="1">
                <a:solidFill>
                  <a:srgbClr val="17324D"/>
                </a:solidFill>
                <a:latin typeface="Arial"/>
                <a:ea typeface="Arial"/>
                <a:cs typeface="Arial"/>
              </a:defRPr>
            </a:lvl4pPr>
            <a:lvl5pPr>
              <a:defRPr sz="3150" b="1">
                <a:solidFill>
                  <a:srgbClr val="17324D"/>
                </a:solidFill>
                <a:latin typeface="Arial"/>
                <a:ea typeface="Arial"/>
                <a:cs typeface="Arial"/>
              </a:defRPr>
            </a:lvl5pPr>
            <a:lvl6pPr>
              <a:defRPr sz="3150" b="1">
                <a:solidFill>
                  <a:srgbClr val="17324D"/>
                </a:solidFill>
                <a:latin typeface="Arial"/>
                <a:ea typeface="Arial"/>
                <a:cs typeface="Arial"/>
              </a:defRPr>
            </a:lvl6pPr>
            <a:lvl7pPr>
              <a:defRPr sz="3150" b="1">
                <a:solidFill>
                  <a:srgbClr val="17324D"/>
                </a:solidFill>
                <a:latin typeface="Arial"/>
                <a:ea typeface="Arial"/>
                <a:cs typeface="Arial"/>
              </a:defRPr>
            </a:lvl7pPr>
            <a:lvl8pPr>
              <a:defRPr sz="3150" b="1">
                <a:solidFill>
                  <a:srgbClr val="17324D"/>
                </a:solidFill>
                <a:latin typeface="Arial"/>
                <a:ea typeface="Arial"/>
                <a:cs typeface="Arial"/>
              </a:defRPr>
            </a:lvl8pPr>
            <a:lvl9pPr>
              <a:defRPr sz="3150" b="1">
                <a:solidFill>
                  <a:srgbClr val="17324D"/>
                </a:solidFill>
                <a:latin typeface="Arial"/>
                <a:ea typeface="Arial"/>
                <a:cs typeface="Arial"/>
              </a:defRPr>
            </a:lvl9pPr>
          </a:lstStyle>
          <a:p xmlns:a="http://schemas.openxmlformats.org/drawingml/2006/main">
            <a:pPr>
              <a:defRPr sz="3150" b="1">
                <a:solidFill>
                  <a:srgbClr val="17324D"/>
                </a:solidFill>
                <a:latin typeface="Arial"/>
                <a:ea typeface="Arial"/>
                <a:cs typeface="Arial"/>
              </a:defRPr>
            </a:pPr>
            <a:r>
              <a:rPr sz="3150" b="1">
                <a:solidFill>
                  <a:srgbClr val="17324D"/>
                </a:solidFill>
                <a:latin typeface="Arial"/>
                <a:ea typeface="Arial"/>
                <a:cs typeface="Arial"/>
              </a:rPr>
              <a:t>Backup: protocol amendment and evidence trail</a:t>
            </a:r>
          </a:p>
        </p:txBody>
      </p:sp>
      <p:sp>
        <p:nvSpPr>
          <p:cNvPr id="2" name="">
            <a:extLst xmlns:a="http://schemas.openxmlformats.org/drawingml/2006/main">
              <a:ext uri="{FF2B5EF4-FFF2-40B4-BE49-F238E27FC236}">
                <a16:creationId xmlns:a16="http://schemas.microsoft.com/office/drawing/2014/main" id="{D0322A24-335F-433C-ADB0-10CD3DC0A3E0}"/>
              </a:ext>
            </a:extLst>
          </p:cNvPr>
          <p:cNvSpPr>
            <a:spLocks xmlns:a="http://schemas.openxmlformats.org/drawingml/2006/main" noGrp="1"/>
          </p:cNvSpPr>
          <p:nvPr/>
        </p:nvSpPr>
        <p:spPr>
          <a:xfrm xmlns:a="http://schemas.openxmlformats.org/drawingml/2006/main">
            <a:off x="609600" y="10668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779"/>
                </a:solidFill>
                <a:latin typeface="Arial"/>
                <a:ea typeface="Arial"/>
                <a:cs typeface="Arial"/>
              </a:defRPr>
            </a:defPPr>
            <a:lvl1pPr>
              <a:defRPr sz="1725" b="0">
                <a:solidFill>
                  <a:srgbClr val="586779"/>
                </a:solidFill>
                <a:latin typeface="Arial"/>
                <a:ea typeface="Arial"/>
                <a:cs typeface="Arial"/>
              </a:defRPr>
            </a:lvl1pPr>
            <a:lvl2pPr>
              <a:defRPr sz="1725" b="0">
                <a:solidFill>
                  <a:srgbClr val="586779"/>
                </a:solidFill>
                <a:latin typeface="Arial"/>
                <a:ea typeface="Arial"/>
                <a:cs typeface="Arial"/>
              </a:defRPr>
            </a:lvl2pPr>
            <a:lvl3pPr>
              <a:defRPr sz="1725" b="0">
                <a:solidFill>
                  <a:srgbClr val="586779"/>
                </a:solidFill>
                <a:latin typeface="Arial"/>
                <a:ea typeface="Arial"/>
                <a:cs typeface="Arial"/>
              </a:defRPr>
            </a:lvl3pPr>
            <a:lvl4pPr>
              <a:defRPr sz="1725" b="0">
                <a:solidFill>
                  <a:srgbClr val="586779"/>
                </a:solidFill>
                <a:latin typeface="Arial"/>
                <a:ea typeface="Arial"/>
                <a:cs typeface="Arial"/>
              </a:defRPr>
            </a:lvl4pPr>
            <a:lvl5pPr>
              <a:defRPr sz="1725" b="0">
                <a:solidFill>
                  <a:srgbClr val="586779"/>
                </a:solidFill>
                <a:latin typeface="Arial"/>
                <a:ea typeface="Arial"/>
                <a:cs typeface="Arial"/>
              </a:defRPr>
            </a:lvl5pPr>
            <a:lvl6pPr>
              <a:defRPr sz="1725" b="0">
                <a:solidFill>
                  <a:srgbClr val="586779"/>
                </a:solidFill>
                <a:latin typeface="Arial"/>
                <a:ea typeface="Arial"/>
                <a:cs typeface="Arial"/>
              </a:defRPr>
            </a:lvl6pPr>
            <a:lvl7pPr>
              <a:defRPr sz="1725" b="0">
                <a:solidFill>
                  <a:srgbClr val="586779"/>
                </a:solidFill>
                <a:latin typeface="Arial"/>
                <a:ea typeface="Arial"/>
                <a:cs typeface="Arial"/>
              </a:defRPr>
            </a:lvl7pPr>
            <a:lvl8pPr>
              <a:defRPr sz="1725" b="0">
                <a:solidFill>
                  <a:srgbClr val="586779"/>
                </a:solidFill>
                <a:latin typeface="Arial"/>
                <a:ea typeface="Arial"/>
                <a:cs typeface="Arial"/>
              </a:defRPr>
            </a:lvl8pPr>
            <a:lvl9pPr>
              <a:defRPr sz="1725" b="0">
                <a:solidFill>
                  <a:srgbClr val="586779"/>
                </a:solidFill>
                <a:latin typeface="Arial"/>
                <a:ea typeface="Arial"/>
                <a:cs typeface="Arial"/>
              </a:defRPr>
            </a:lvl9pPr>
          </a:lstStyle>
          <a:p xmlns:a="http://schemas.openxmlformats.org/drawingml/2006/main">
            <a:pPr>
              <a:defRPr sz="1725" b="0">
                <a:solidFill>
                  <a:srgbClr val="586779"/>
                </a:solidFill>
                <a:latin typeface="Arial"/>
                <a:ea typeface="Arial"/>
                <a:cs typeface="Arial"/>
              </a:defRPr>
            </a:pPr>
            <a:r>
              <a:rPr sz="1725" b="0">
                <a:solidFill>
                  <a:srgbClr val="586779"/>
                </a:solidFill>
                <a:latin typeface="Arial"/>
                <a:ea typeface="Arial"/>
                <a:cs typeface="Arial"/>
              </a:rPr>
              <a:t>Primary outcomes, supplementary attempts and historical baseline costs stay distinct</a:t>
            </a:r>
          </a:p>
        </p:txBody>
      </p:sp>
      <p:sp>
        <p:nvSpPr>
          <p:cNvPr id="3" name="">
            <a:extLst xmlns:a="http://schemas.openxmlformats.org/drawingml/2006/main">
              <a:ext uri="{FF2B5EF4-FFF2-40B4-BE49-F238E27FC236}">
                <a16:creationId xmlns:a16="http://schemas.microsoft.com/office/drawing/2014/main" id="{3D56FDC3-150C-4C17-A9F3-B15C3AADEAE6}"/>
              </a:ext>
            </a:extLst>
          </p:cNvPr>
          <p:cNvSpPr>
            <a:spLocks xmlns:a="http://schemas.openxmlformats.org/drawingml/2006/main" noGrp="1"/>
          </p:cNvSpPr>
          <p:nvPr/>
        </p:nvSpPr>
        <p:spPr>
          <a:xfrm xmlns:a="http://schemas.openxmlformats.org/drawingml/2006/main">
            <a:off x="609600" y="64865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PE6203  |  PI Agent on SkillsBench</a:t>
            </a:r>
          </a:p>
        </p:txBody>
      </p:sp>
      <p:sp>
        <p:nvSpPr>
          <p:cNvPr id="4" name="">
            <a:extLst xmlns:a="http://schemas.openxmlformats.org/drawingml/2006/main">
              <a:ext uri="{FF2B5EF4-FFF2-40B4-BE49-F238E27FC236}">
                <a16:creationId xmlns:a16="http://schemas.microsoft.com/office/drawing/2014/main" id="{AE8C5B13-E7D2-4CD9-8B28-24DD38BB95ED}"/>
              </a:ext>
            </a:extLst>
          </p:cNvPr>
          <p:cNvSpPr>
            <a:spLocks xmlns:a="http://schemas.openxmlformats.org/drawingml/2006/main" noGrp="1"/>
          </p:cNvSpPr>
          <p:nvPr/>
        </p:nvSpPr>
        <p:spPr>
          <a:xfrm xmlns:a="http://schemas.openxmlformats.org/drawingml/2006/main">
            <a:off x="10953750" y="6486525"/>
            <a:ext cx="61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779"/>
                </a:solidFill>
                <a:latin typeface="Arial"/>
                <a:ea typeface="Arial"/>
                <a:cs typeface="Arial"/>
              </a:defRPr>
            </a:defPPr>
            <a:lvl1pPr>
              <a:defRPr sz="1125" b="0">
                <a:solidFill>
                  <a:srgbClr val="586779"/>
                </a:solidFill>
                <a:latin typeface="Arial"/>
                <a:ea typeface="Arial"/>
                <a:cs typeface="Arial"/>
              </a:defRPr>
            </a:lvl1pPr>
            <a:lvl2pPr>
              <a:defRPr sz="1125" b="0">
                <a:solidFill>
                  <a:srgbClr val="586779"/>
                </a:solidFill>
                <a:latin typeface="Arial"/>
                <a:ea typeface="Arial"/>
                <a:cs typeface="Arial"/>
              </a:defRPr>
            </a:lvl2pPr>
            <a:lvl3pPr>
              <a:defRPr sz="1125" b="0">
                <a:solidFill>
                  <a:srgbClr val="586779"/>
                </a:solidFill>
                <a:latin typeface="Arial"/>
                <a:ea typeface="Arial"/>
                <a:cs typeface="Arial"/>
              </a:defRPr>
            </a:lvl3pPr>
            <a:lvl4pPr>
              <a:defRPr sz="1125" b="0">
                <a:solidFill>
                  <a:srgbClr val="586779"/>
                </a:solidFill>
                <a:latin typeface="Arial"/>
                <a:ea typeface="Arial"/>
                <a:cs typeface="Arial"/>
              </a:defRPr>
            </a:lvl4pPr>
            <a:lvl5pPr>
              <a:defRPr sz="1125" b="0">
                <a:solidFill>
                  <a:srgbClr val="586779"/>
                </a:solidFill>
                <a:latin typeface="Arial"/>
                <a:ea typeface="Arial"/>
                <a:cs typeface="Arial"/>
              </a:defRPr>
            </a:lvl5pPr>
            <a:lvl6pPr>
              <a:defRPr sz="1125" b="0">
                <a:solidFill>
                  <a:srgbClr val="586779"/>
                </a:solidFill>
                <a:latin typeface="Arial"/>
                <a:ea typeface="Arial"/>
                <a:cs typeface="Arial"/>
              </a:defRPr>
            </a:lvl6pPr>
            <a:lvl7pPr>
              <a:defRPr sz="1125" b="0">
                <a:solidFill>
                  <a:srgbClr val="586779"/>
                </a:solidFill>
                <a:latin typeface="Arial"/>
                <a:ea typeface="Arial"/>
                <a:cs typeface="Arial"/>
              </a:defRPr>
            </a:lvl7pPr>
            <a:lvl8pPr>
              <a:defRPr sz="1125" b="0">
                <a:solidFill>
                  <a:srgbClr val="586779"/>
                </a:solidFill>
                <a:latin typeface="Arial"/>
                <a:ea typeface="Arial"/>
                <a:cs typeface="Arial"/>
              </a:defRPr>
            </a:lvl8pPr>
            <a:lvl9pPr>
              <a:defRPr sz="1125" b="0">
                <a:solidFill>
                  <a:srgbClr val="586779"/>
                </a:solidFill>
                <a:latin typeface="Arial"/>
                <a:ea typeface="Arial"/>
                <a:cs typeface="Arial"/>
              </a:defRPr>
            </a:lvl9pPr>
          </a:lstStyle>
          <a:p xmlns:a="http://schemas.openxmlformats.org/drawingml/2006/main">
            <a:pPr>
              <a:defRPr sz="1125" b="0">
                <a:solidFill>
                  <a:srgbClr val="586779"/>
                </a:solidFill>
                <a:latin typeface="Arial"/>
                <a:ea typeface="Arial"/>
                <a:cs typeface="Arial"/>
              </a:defRPr>
            </a:pPr>
            <a:r>
              <a:rPr sz="1125" b="0">
                <a:solidFill>
                  <a:srgbClr val="586779"/>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BA3A5F91-6033-4A11-A814-E93075FD545F}"/>
              </a:ext>
            </a:extLst>
          </p:cNvPr>
          <p:cNvGraphicFramePr/>
          <p:nvPr/>
        </p:nvGraphicFramePr>
        <p:xfrm>
          <a:off xmlns:a="http://schemas.openxmlformats.org/drawingml/2006/main" x="609600" y="1752600"/>
          <a:ext xmlns:a="http://schemas.openxmlformats.org/drawingml/2006/main" cx="10972800" cy="2219325"/>
        </p:xfrm>
        <a:graphic xmlns:a="http://schemas.openxmlformats.org/drawingml/2006/main">
          <a:graphicData uri="http://schemas.openxmlformats.org/drawingml/2006/table">
            <a:tbl>
              <a:tblPr/>
              <a:tblGrid>
                <a:gridCol w="3143250"/>
                <a:gridCol w="5715000"/>
                <a:gridCol w="2114550"/>
              </a:tblGrid>
              <a:tr h="554831">
                <a:tc>
                  <a:txBody>
                    <a:bodyPr/>
                    <a:lstStyle/>
                    <a:p>
                      <a:r>
                        <a:rPr sz="1800" b="1">
                          <a:solidFill>
                            <a:srgbClr val="FFFFFF"/>
                          </a:solidFill>
                          <a:latin typeface="Arial"/>
                          <a:ea typeface="Arial"/>
                          <a:cs typeface="Arial"/>
                        </a:rPr>
                        <a:t>Phase</a:t>
                      </a:r>
                    </a:p>
                  </a:txBody>
                  <a:tcPr marL="91440" marR="91440" marT="45720" marB="45720">
                    <a:lnL w="6668">
                      <a:solidFill>
                        <a:srgbClr val="DCE4EB"/>
                      </a:solidFill>
                      <a:prstDash val="solid"/>
                    </a:lnL>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00" b="1">
                          <a:solidFill>
                            <a:srgbClr val="FFFFFF"/>
                          </a:solidFill>
                          <a:latin typeface="Arial"/>
                          <a:ea typeface="Arial"/>
                          <a:cs typeface="Arial"/>
                        </a:rPr>
                        <a:t>Outcome</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c>
                  <a:txBody>
                    <a:bodyPr/>
                    <a:lstStyle/>
                    <a:p>
                      <a:r>
                        <a:rPr sz="1800" b="1">
                          <a:solidFill>
                            <a:srgbClr val="FFFFFF"/>
                          </a:solidFill>
                          <a:latin typeface="Arial"/>
                          <a:ea typeface="Arial"/>
                          <a:cs typeface="Arial"/>
                        </a:rPr>
                        <a:t>Observed USD</a:t>
                      </a:r>
                    </a:p>
                  </a:txBody>
                  <a:tcPr marL="91440" marR="91440" marT="45720" marB="45720">
                    <a:lnR w="6668">
                      <a:solidFill>
                        <a:srgbClr val="DCE4EB"/>
                      </a:solidFill>
                      <a:prstDash val="solid"/>
                    </a:lnR>
                    <a:lnT w="6668">
                      <a:solidFill>
                        <a:srgbClr val="DCE4EB"/>
                      </a:solidFill>
                      <a:prstDash val="solid"/>
                    </a:lnT>
                    <a:lnB w="6668">
                      <a:solidFill>
                        <a:srgbClr val="DCE4EB"/>
                      </a:solidFill>
                      <a:prstDash val="solid"/>
                    </a:lnB>
                    <a:solidFill>
                      <a:srgbClr val="17324D"/>
                    </a:solidFill>
                  </a:tcPr>
                </a:tc>
              </a:tr>
              <a:tr h="554831">
                <a:tc>
                  <a:txBody>
                    <a:bodyPr/>
                    <a:lstStyle/>
                    <a:p>
                      <a:r>
                        <a:rPr sz="1800" b="0">
                          <a:solidFill>
                            <a:srgbClr val="263547"/>
                          </a:solidFill>
                          <a:latin typeface="Arial"/>
                          <a:ea typeface="Arial"/>
                          <a:cs typeface="Arial"/>
                        </a:rPr>
                        <a:t>Original held-out phase</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10 scored zeros; 2 missing</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0.31901342</a:t>
                      </a:r>
                    </a:p>
                  </a:txBody>
                  <a:tcPr marL="91440" marR="91440" marT="45720" marB="45720">
                    <a:lnR w="6668">
                      <a:solidFill>
                        <a:srgbClr val="DCE4EB"/>
                      </a:solidFill>
                      <a:prstDash val="solid"/>
                    </a:lnR>
                    <a:lnB w="6668">
                      <a:solidFill>
                        <a:srgbClr val="DCE4EB"/>
                      </a:solidFill>
                      <a:prstDash val="solid"/>
                    </a:lnB>
                    <a:solidFill>
                      <a:srgbClr val="EFF3F7"/>
                    </a:solidFill>
                  </a:tcPr>
                </a:tc>
              </a:tr>
              <a:tr h="554831">
                <a:tc>
                  <a:txBody>
                    <a:bodyPr/>
                    <a:lstStyle/>
                    <a:p>
                      <a:r>
                        <a:rPr sz="1800" b="0">
                          <a:solidFill>
                            <a:srgbClr val="263547"/>
                          </a:solidFill>
                          <a:latin typeface="Arial"/>
                          <a:ea typeface="Arial"/>
                          <a:cs typeface="Arial"/>
                        </a:rPr>
                        <a:t>Supplementary Scala phase</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2 scored zeros; no further retry</a:t>
                      </a:r>
                    </a:p>
                  </a:txBody>
                  <a:tcPr marL="91440" marR="91440" marT="45720" marB="45720">
                    <a:lnR w="6668">
                      <a:solidFill>
                        <a:srgbClr val="DCE4EB"/>
                      </a:solidFill>
                      <a:prstDash val="solid"/>
                    </a:lnR>
                    <a:lnB w="6668">
                      <a:solidFill>
                        <a:srgbClr val="DCE4EB"/>
                      </a:solidFill>
                      <a:prstDash val="solid"/>
                    </a:lnB>
                    <a:solidFill>
                      <a:srgbClr val="FFFFFF"/>
                    </a:solidFill>
                  </a:tcPr>
                </a:tc>
                <a:tc>
                  <a:txBody>
                    <a:bodyPr/>
                    <a:lstStyle/>
                    <a:p>
                      <a:r>
                        <a:rPr sz="1800" b="0">
                          <a:solidFill>
                            <a:srgbClr val="263547"/>
                          </a:solidFill>
                          <a:latin typeface="Arial"/>
                          <a:ea typeface="Arial"/>
                          <a:cs typeface="Arial"/>
                        </a:rPr>
                        <a:t>0.02054630</a:t>
                      </a:r>
                    </a:p>
                  </a:txBody>
                  <a:tcPr marL="91440" marR="91440" marT="45720" marB="45720">
                    <a:lnR w="6668">
                      <a:solidFill>
                        <a:srgbClr val="DCE4EB"/>
                      </a:solidFill>
                      <a:prstDash val="solid"/>
                    </a:lnR>
                    <a:lnB w="6668">
                      <a:solidFill>
                        <a:srgbClr val="DCE4EB"/>
                      </a:solidFill>
                      <a:prstDash val="solid"/>
                    </a:lnB>
                    <a:solidFill>
                      <a:srgbClr val="FFFFFF"/>
                    </a:solidFill>
                  </a:tcPr>
                </a:tc>
              </a:tr>
              <a:tr h="554831">
                <a:tc>
                  <a:txBody>
                    <a:bodyPr/>
                    <a:lstStyle/>
                    <a:p>
                      <a:r>
                        <a:rPr sz="1800" b="0">
                          <a:solidFill>
                            <a:srgbClr val="263547"/>
                          </a:solidFill>
                          <a:latin typeface="Arial"/>
                          <a:ea typeface="Arial"/>
                          <a:cs typeface="Arial"/>
                        </a:rPr>
                        <a:t>Original + supplements</a:t>
                      </a:r>
                    </a:p>
                  </a:txBody>
                  <a:tcPr marL="91440" marR="91440" marT="45720" marB="45720">
                    <a:lnL w="6668">
                      <a:solidFill>
                        <a:srgbClr val="DCE4EB"/>
                      </a:solidFill>
                      <a:prstDash val="solid"/>
                    </a:lnL>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12 filled task estimates, all zero</a:t>
                      </a:r>
                    </a:p>
                  </a:txBody>
                  <a:tcPr marL="91440" marR="91440" marT="45720" marB="45720">
                    <a:lnR w="6668">
                      <a:solidFill>
                        <a:srgbClr val="DCE4EB"/>
                      </a:solidFill>
                      <a:prstDash val="solid"/>
                    </a:lnR>
                    <a:lnB w="6668">
                      <a:solidFill>
                        <a:srgbClr val="DCE4EB"/>
                      </a:solidFill>
                      <a:prstDash val="solid"/>
                    </a:lnB>
                    <a:solidFill>
                      <a:srgbClr val="EFF3F7"/>
                    </a:solidFill>
                  </a:tcPr>
                </a:tc>
                <a:tc>
                  <a:txBody>
                    <a:bodyPr/>
                    <a:lstStyle/>
                    <a:p>
                      <a:r>
                        <a:rPr sz="1800" b="0">
                          <a:solidFill>
                            <a:srgbClr val="263547"/>
                          </a:solidFill>
                          <a:latin typeface="Arial"/>
                          <a:ea typeface="Arial"/>
                          <a:cs typeface="Arial"/>
                        </a:rPr>
                        <a:t>0.33955972</a:t>
                      </a:r>
                    </a:p>
                  </a:txBody>
                  <a:tcPr marL="91440" marR="91440" marT="45720" marB="45720">
                    <a:lnR w="6668">
                      <a:solidFill>
                        <a:srgbClr val="DCE4EB"/>
                      </a:solidFill>
                      <a:prstDash val="solid"/>
                    </a:lnR>
                    <a:lnB w="6668">
                      <a:solidFill>
                        <a:srgbClr val="DCE4EB"/>
                      </a:solidFill>
                      <a:prstDash val="solid"/>
                    </a:lnB>
                    <a:solidFill>
                      <a:srgbClr val="EFF3F7"/>
                    </a:solidFill>
                  </a:tcPr>
                </a:tc>
              </a:tr>
            </a:tbl>
          </a:graphicData>
        </a:graphic>
      </p:graphicFrame>
      <p:sp>
        <p:nvSpPr>
          <p:cNvPr id="6" name="">
            <a:extLst xmlns:a="http://schemas.openxmlformats.org/drawingml/2006/main">
              <a:ext uri="{FF2B5EF4-FFF2-40B4-BE49-F238E27FC236}">
                <a16:creationId xmlns:a16="http://schemas.microsoft.com/office/drawing/2014/main" id="{D1F02949-BF92-442C-A3DE-06DB0224BB9E}"/>
              </a:ext>
            </a:extLst>
          </p:cNvPr>
          <p:cNvSpPr>
            <a:spLocks xmlns:a="http://schemas.openxmlformats.org/drawingml/2006/main" noGrp="1"/>
          </p:cNvSpPr>
          <p:nvPr/>
        </p:nvSpPr>
        <p:spPr>
          <a:xfrm xmlns:a="http://schemas.openxmlformats.org/drawingml/2006/main">
            <a:off x="647700" y="438150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Reproduction artifacts</a:t>
            </a:r>
          </a:p>
        </p:txBody>
      </p:sp>
      <p:sp>
        <p:nvSpPr>
          <p:cNvPr id="7" name="">
            <a:extLst xmlns:a="http://schemas.openxmlformats.org/drawingml/2006/main">
              <a:ext uri="{FF2B5EF4-FFF2-40B4-BE49-F238E27FC236}">
                <a16:creationId xmlns:a16="http://schemas.microsoft.com/office/drawing/2014/main" id="{63704C1E-48F5-4E5D-A044-27FD09EC29EB}"/>
              </a:ext>
            </a:extLst>
          </p:cNvPr>
          <p:cNvSpPr>
            <a:spLocks xmlns:a="http://schemas.openxmlformats.org/drawingml/2006/main" noGrp="1"/>
          </p:cNvSpPr>
          <p:nvPr/>
        </p:nvSpPr>
        <p:spPr>
          <a:xfrm xmlns:a="http://schemas.openxmlformats.org/drawingml/2006/main">
            <a:off x="647700" y="4800600"/>
            <a:ext cx="5286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547"/>
                </a:solidFill>
                <a:latin typeface="Arial"/>
                <a:ea typeface="Arial"/>
                <a:cs typeface="Arial"/>
              </a:defRPr>
            </a:defPPr>
            <a:lvl1pPr>
              <a:defRPr sz="1725" b="0">
                <a:solidFill>
                  <a:srgbClr val="263547"/>
                </a:solidFill>
                <a:latin typeface="Arial"/>
                <a:ea typeface="Arial"/>
                <a:cs typeface="Arial"/>
              </a:defRPr>
            </a:lvl1pPr>
            <a:lvl2pPr>
              <a:defRPr sz="1725" b="0">
                <a:solidFill>
                  <a:srgbClr val="263547"/>
                </a:solidFill>
                <a:latin typeface="Arial"/>
                <a:ea typeface="Arial"/>
                <a:cs typeface="Arial"/>
              </a:defRPr>
            </a:lvl2pPr>
            <a:lvl3pPr>
              <a:defRPr sz="1725" b="0">
                <a:solidFill>
                  <a:srgbClr val="263547"/>
                </a:solidFill>
                <a:latin typeface="Arial"/>
                <a:ea typeface="Arial"/>
                <a:cs typeface="Arial"/>
              </a:defRPr>
            </a:lvl3pPr>
            <a:lvl4pPr>
              <a:defRPr sz="1725" b="0">
                <a:solidFill>
                  <a:srgbClr val="263547"/>
                </a:solidFill>
                <a:latin typeface="Arial"/>
                <a:ea typeface="Arial"/>
                <a:cs typeface="Arial"/>
              </a:defRPr>
            </a:lvl4pPr>
            <a:lvl5pPr>
              <a:defRPr sz="1725" b="0">
                <a:solidFill>
                  <a:srgbClr val="263547"/>
                </a:solidFill>
                <a:latin typeface="Arial"/>
                <a:ea typeface="Arial"/>
                <a:cs typeface="Arial"/>
              </a:defRPr>
            </a:lvl5pPr>
            <a:lvl6pPr>
              <a:defRPr sz="1725" b="0">
                <a:solidFill>
                  <a:srgbClr val="263547"/>
                </a:solidFill>
                <a:latin typeface="Arial"/>
                <a:ea typeface="Arial"/>
                <a:cs typeface="Arial"/>
              </a:defRPr>
            </a:lvl6pPr>
            <a:lvl7pPr>
              <a:defRPr sz="1725" b="0">
                <a:solidFill>
                  <a:srgbClr val="263547"/>
                </a:solidFill>
                <a:latin typeface="Arial"/>
                <a:ea typeface="Arial"/>
                <a:cs typeface="Arial"/>
              </a:defRPr>
            </a:lvl7pPr>
            <a:lvl8pPr>
              <a:defRPr sz="1725" b="0">
                <a:solidFill>
                  <a:srgbClr val="263547"/>
                </a:solidFill>
                <a:latin typeface="Arial"/>
                <a:ea typeface="Arial"/>
                <a:cs typeface="Arial"/>
              </a:defRPr>
            </a:lvl8pPr>
            <a:lvl9pPr>
              <a:defRPr sz="1725" b="0">
                <a:solidFill>
                  <a:srgbClr val="263547"/>
                </a:solidFill>
                <a:latin typeface="Arial"/>
                <a:ea typeface="Arial"/>
                <a:cs typeface="Arial"/>
              </a:defRPr>
            </a:lvl9pPr>
          </a:lstStyle>
          <a:p xmlns:a="http://schemas.openxmlformats.org/drawingml/2006/main">
            <a:pPr>
              <a:defRPr sz="1725" b="0">
                <a:solidFill>
                  <a:srgbClr val="263547"/>
                </a:solidFill>
                <a:latin typeface="Arial"/>
                <a:ea typeface="Arial"/>
                <a:cs typeface="Arial"/>
              </a:defRPr>
            </a:pPr>
            <a:r>
              <a:rPr sz="1725" b="0">
                <a:solidFill>
                  <a:srgbClr val="263547"/>
                </a:solidFill>
                <a:latin typeface="Arial"/>
                <a:ea typeface="Arial"/>
                <a:cs typeface="Arial"/>
              </a:rPr>
              <a:t>protocol.json; final_test_protocol.json</a:t>
            </a:r>
          </a:p>
          <a:p xmlns:a="http://schemas.openxmlformats.org/drawingml/2006/main">
            <a:pPr>
              <a:defRPr sz="1725" b="0">
                <a:solidFill>
                  <a:srgbClr val="263547"/>
                </a:solidFill>
                <a:latin typeface="Arial"/>
                <a:ea typeface="Arial"/>
                <a:cs typeface="Arial"/>
              </a:defRPr>
            </a:pPr>
            <a:r>
              <a:rPr sz="1725" b="0">
                <a:solidFill>
                  <a:srgbClr val="263547"/>
                </a:solidFill>
                <a:latin typeface="Arial"/>
                <a:ea typeface="Arial"/>
                <a:cs typeface="Arial"/>
              </a:rPr>
              <a:t>run_search.py; run_test.py</a:t>
            </a:r>
          </a:p>
          <a:p xmlns:a="http://schemas.openxmlformats.org/drawingml/2006/main">
            <a:pPr>
              <a:defRPr sz="1725" b="0">
                <a:solidFill>
                  <a:srgbClr val="263547"/>
                </a:solidFill>
                <a:latin typeface="Arial"/>
                <a:ea typeface="Arial"/>
                <a:cs typeface="Arial"/>
              </a:defRPr>
            </a:pPr>
            <a:r>
              <a:rPr sz="1725" b="0">
                <a:solidFill>
                  <a:srgbClr val="263547"/>
                </a:solidFill>
                <a:latin typeface="Arial"/>
                <a:ea typeface="Arial"/>
                <a:cs typeface="Arial"/>
              </a:rPr>
              <a:t>summarize_final_test.py; validation_summary.py</a:t>
            </a:r>
          </a:p>
        </p:txBody>
      </p:sp>
      <p:sp>
        <p:nvSpPr>
          <p:cNvPr id="8" name="">
            <a:extLst xmlns:a="http://schemas.openxmlformats.org/drawingml/2006/main">
              <a:ext uri="{FF2B5EF4-FFF2-40B4-BE49-F238E27FC236}">
                <a16:creationId xmlns:a16="http://schemas.microsoft.com/office/drawing/2014/main" id="{96381A7C-035D-49CE-9A23-9DE4ADE48FE8}"/>
              </a:ext>
            </a:extLst>
          </p:cNvPr>
          <p:cNvSpPr>
            <a:spLocks xmlns:a="http://schemas.openxmlformats.org/drawingml/2006/main" noGrp="1"/>
          </p:cNvSpPr>
          <p:nvPr/>
        </p:nvSpPr>
        <p:spPr>
          <a:xfrm xmlns:a="http://schemas.openxmlformats.org/drawingml/2006/main">
            <a:off x="6429375" y="438150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Evidence provenance</a:t>
            </a:r>
          </a:p>
        </p:txBody>
      </p:sp>
      <p:sp>
        <p:nvSpPr>
          <p:cNvPr id="9" name="">
            <a:extLst xmlns:a="http://schemas.openxmlformats.org/drawingml/2006/main">
              <a:ext uri="{FF2B5EF4-FFF2-40B4-BE49-F238E27FC236}">
                <a16:creationId xmlns:a16="http://schemas.microsoft.com/office/drawing/2014/main" id="{71997293-ECC9-4A45-921C-119067C41462}"/>
              </a:ext>
            </a:extLst>
          </p:cNvPr>
          <p:cNvSpPr>
            <a:spLocks xmlns:a="http://schemas.openxmlformats.org/drawingml/2006/main" noGrp="1"/>
          </p:cNvSpPr>
          <p:nvPr/>
        </p:nvSpPr>
        <p:spPr>
          <a:xfrm xmlns:a="http://schemas.openxmlformats.org/drawingml/2006/main">
            <a:off x="6429375" y="4800600"/>
            <a:ext cx="5095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63547"/>
                </a:solidFill>
                <a:latin typeface="Arial"/>
                <a:ea typeface="Arial"/>
                <a:cs typeface="Arial"/>
              </a:defRPr>
            </a:defPPr>
            <a:lvl1pPr>
              <a:defRPr sz="1725" b="0">
                <a:solidFill>
                  <a:srgbClr val="263547"/>
                </a:solidFill>
                <a:latin typeface="Arial"/>
                <a:ea typeface="Arial"/>
                <a:cs typeface="Arial"/>
              </a:defRPr>
            </a:lvl1pPr>
            <a:lvl2pPr>
              <a:defRPr sz="1725" b="0">
                <a:solidFill>
                  <a:srgbClr val="263547"/>
                </a:solidFill>
                <a:latin typeface="Arial"/>
                <a:ea typeface="Arial"/>
                <a:cs typeface="Arial"/>
              </a:defRPr>
            </a:lvl2pPr>
            <a:lvl3pPr>
              <a:defRPr sz="1725" b="0">
                <a:solidFill>
                  <a:srgbClr val="263547"/>
                </a:solidFill>
                <a:latin typeface="Arial"/>
                <a:ea typeface="Arial"/>
                <a:cs typeface="Arial"/>
              </a:defRPr>
            </a:lvl3pPr>
            <a:lvl4pPr>
              <a:defRPr sz="1725" b="0">
                <a:solidFill>
                  <a:srgbClr val="263547"/>
                </a:solidFill>
                <a:latin typeface="Arial"/>
                <a:ea typeface="Arial"/>
                <a:cs typeface="Arial"/>
              </a:defRPr>
            </a:lvl4pPr>
            <a:lvl5pPr>
              <a:defRPr sz="1725" b="0">
                <a:solidFill>
                  <a:srgbClr val="263547"/>
                </a:solidFill>
                <a:latin typeface="Arial"/>
                <a:ea typeface="Arial"/>
                <a:cs typeface="Arial"/>
              </a:defRPr>
            </a:lvl5pPr>
            <a:lvl6pPr>
              <a:defRPr sz="1725" b="0">
                <a:solidFill>
                  <a:srgbClr val="263547"/>
                </a:solidFill>
                <a:latin typeface="Arial"/>
                <a:ea typeface="Arial"/>
                <a:cs typeface="Arial"/>
              </a:defRPr>
            </a:lvl6pPr>
            <a:lvl7pPr>
              <a:defRPr sz="1725" b="0">
                <a:solidFill>
                  <a:srgbClr val="263547"/>
                </a:solidFill>
                <a:latin typeface="Arial"/>
                <a:ea typeface="Arial"/>
                <a:cs typeface="Arial"/>
              </a:defRPr>
            </a:lvl7pPr>
            <a:lvl8pPr>
              <a:defRPr sz="1725" b="0">
                <a:solidFill>
                  <a:srgbClr val="263547"/>
                </a:solidFill>
                <a:latin typeface="Arial"/>
                <a:ea typeface="Arial"/>
                <a:cs typeface="Arial"/>
              </a:defRPr>
            </a:lvl8pPr>
            <a:lvl9pPr>
              <a:defRPr sz="1725" b="0">
                <a:solidFill>
                  <a:srgbClr val="263547"/>
                </a:solidFill>
                <a:latin typeface="Arial"/>
                <a:ea typeface="Arial"/>
                <a:cs typeface="Arial"/>
              </a:defRPr>
            </a:lvl9pPr>
          </a:lstStyle>
          <a:p xmlns:a="http://schemas.openxmlformats.org/drawingml/2006/main">
            <a:pPr>
              <a:defRPr sz="1725" b="0">
                <a:solidFill>
                  <a:srgbClr val="263547"/>
                </a:solidFill>
                <a:latin typeface="Arial"/>
                <a:ea typeface="Arial"/>
                <a:cs typeface="Arial"/>
              </a:defRPr>
            </a:pPr>
            <a:r>
              <a:rPr sz="1725" b="0">
                <a:solidFill>
                  <a:srgbClr val="263547"/>
                </a:solidFill>
                <a:latin typeface="Arial"/>
                <a:ea typeface="Arial"/>
                <a:cs typeface="Arial"/>
              </a:rPr>
              <a:t>Original and supplementary log archives</a:t>
            </a:r>
          </a:p>
          <a:p xmlns:a="http://schemas.openxmlformats.org/drawingml/2006/main">
            <a:pPr>
              <a:defRPr sz="1725" b="0">
                <a:solidFill>
                  <a:srgbClr val="263547"/>
                </a:solidFill>
                <a:latin typeface="Arial"/>
                <a:ea typeface="Arial"/>
                <a:cs typeface="Arial"/>
              </a:defRPr>
            </a:pPr>
            <a:r>
              <a:rPr sz="1725" b="0">
                <a:solidFill>
                  <a:srgbClr val="263547"/>
                </a:solidFill>
                <a:latin typeface="Arial"/>
                <a:ea typeface="Arial"/>
                <a:cs typeface="Arial"/>
              </a:rPr>
              <a:t>SHA-256 indexed results and verifier logs</a:t>
            </a:r>
          </a:p>
          <a:p xmlns:a="http://schemas.openxmlformats.org/drawingml/2006/main">
            <a:pPr>
              <a:defRPr sz="1725" b="0">
                <a:solidFill>
                  <a:srgbClr val="263547"/>
                </a:solidFill>
                <a:latin typeface="Arial"/>
                <a:ea typeface="Arial"/>
                <a:cs typeface="Arial"/>
              </a:defRPr>
            </a:pPr>
            <a:r>
              <a:rPr sz="1725" b="0">
                <a:solidFill>
                  <a:srgbClr val="263547"/>
                </a:solidFill>
                <a:latin typeface="Arial"/>
                <a:ea typeface="Arial"/>
                <a:cs typeface="Arial"/>
              </a:rPr>
              <a:t>Historical Default baseline summaries copied</a:t>
            </a:r>
          </a:p>
        </p:txBody>
      </p:sp>
      <p:sp>
        <p:nvSpPr>
          <p:cNvPr id="10" name="">
            <a:extLst xmlns:a="http://schemas.openxmlformats.org/drawingml/2006/main">
              <a:ext uri="{FF2B5EF4-FFF2-40B4-BE49-F238E27FC236}">
                <a16:creationId xmlns:a16="http://schemas.microsoft.com/office/drawing/2014/main" id="{060092D6-5F72-4CA6-96E3-7E557E6AA244}"/>
              </a:ext>
            </a:extLst>
          </p:cNvPr>
          <p:cNvSpPr>
            <a:spLocks xmlns:a="http://schemas.openxmlformats.org/drawingml/2006/main" noGrp="1"/>
          </p:cNvSpPr>
          <p:nvPr/>
        </p:nvSpPr>
        <p:spPr>
          <a:xfrm xmlns:a="http://schemas.openxmlformats.org/drawingml/2006/main">
            <a:off x="609600" y="5924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Known limitations and protocol deviations are part of the reported result, not omitted exceptions.</a:t>
            </a:r>
          </a:p>
        </p:txBody>
      </p:sp>
    </p:spTree>
    <p:extLst>
      <p:ext uri="{BB962C8B-B14F-4D97-AF65-F5344CB8AC3E}">
        <p14:creationId xmlns:p14="http://schemas.microsoft.com/office/powerpoint/2010/main" val="20968773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2026-10-30T05:21:21.7570000Z</dcterms:created>
  <dcterms:modified xsi:type="dcterms:W3CDTF">2026-10-30T05:21:21.7570000Z</dcterms:modified>
</coreProperties>
</file>